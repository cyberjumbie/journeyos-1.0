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 id="2147483699" r:id="rId3"/>
    <p:sldMasterId id="2147483758" r:id="rId4"/>
    <p:sldMasterId id="2147483783" r:id="rId5"/>
    <p:sldMasterId id="2147483796" r:id="rId6"/>
  </p:sldMasterIdLst>
  <p:notesMasterIdLst>
    <p:notesMasterId r:id="rId64"/>
  </p:notesMasterIdLst>
  <p:handoutMasterIdLst>
    <p:handoutMasterId r:id="rId65"/>
  </p:handoutMasterIdLst>
  <p:sldIdLst>
    <p:sldId id="396" r:id="rId7"/>
    <p:sldId id="256" r:id="rId8"/>
    <p:sldId id="400" r:id="rId9"/>
    <p:sldId id="410" r:id="rId10"/>
    <p:sldId id="261" r:id="rId11"/>
    <p:sldId id="262" r:id="rId12"/>
    <p:sldId id="374" r:id="rId13"/>
    <p:sldId id="265" r:id="rId14"/>
    <p:sldId id="401" r:id="rId15"/>
    <p:sldId id="343" r:id="rId16"/>
    <p:sldId id="346" r:id="rId17"/>
    <p:sldId id="342" r:id="rId18"/>
    <p:sldId id="384" r:id="rId19"/>
    <p:sldId id="345" r:id="rId20"/>
    <p:sldId id="381" r:id="rId21"/>
    <p:sldId id="269" r:id="rId22"/>
    <p:sldId id="270" r:id="rId23"/>
    <p:sldId id="271" r:id="rId24"/>
    <p:sldId id="377" r:id="rId25"/>
    <p:sldId id="402" r:id="rId26"/>
    <p:sldId id="317" r:id="rId27"/>
    <p:sldId id="405" r:id="rId28"/>
    <p:sldId id="398" r:id="rId29"/>
    <p:sldId id="350" r:id="rId30"/>
    <p:sldId id="412" r:id="rId31"/>
    <p:sldId id="397" r:id="rId32"/>
    <p:sldId id="316" r:id="rId33"/>
    <p:sldId id="390" r:id="rId34"/>
    <p:sldId id="328" r:id="rId35"/>
    <p:sldId id="404" r:id="rId36"/>
    <p:sldId id="325" r:id="rId37"/>
    <p:sldId id="348" r:id="rId38"/>
    <p:sldId id="408" r:id="rId39"/>
    <p:sldId id="409" r:id="rId40"/>
    <p:sldId id="411" r:id="rId41"/>
    <p:sldId id="352" r:id="rId42"/>
    <p:sldId id="275" r:id="rId43"/>
    <p:sldId id="327" r:id="rId44"/>
    <p:sldId id="399" r:id="rId45"/>
    <p:sldId id="387" r:id="rId46"/>
    <p:sldId id="407" r:id="rId47"/>
    <p:sldId id="385" r:id="rId48"/>
    <p:sldId id="394" r:id="rId49"/>
    <p:sldId id="395" r:id="rId50"/>
    <p:sldId id="291" r:id="rId51"/>
    <p:sldId id="362" r:id="rId52"/>
    <p:sldId id="292" r:id="rId53"/>
    <p:sldId id="369" r:id="rId54"/>
    <p:sldId id="296" r:id="rId55"/>
    <p:sldId id="297" r:id="rId56"/>
    <p:sldId id="393" r:id="rId57"/>
    <p:sldId id="322" r:id="rId58"/>
    <p:sldId id="323" r:id="rId59"/>
    <p:sldId id="307" r:id="rId60"/>
    <p:sldId id="308" r:id="rId61"/>
    <p:sldId id="309" r:id="rId62"/>
    <p:sldId id="313" r:id="rId63"/>
  </p:sldIdLst>
  <p:sldSz cx="9144000" cy="6858000" type="screen4x3"/>
  <p:notesSz cx="6858000" cy="9144000"/>
  <p:defaultTextStyle>
    <a:defPPr>
      <a:defRPr lang="en-US"/>
    </a:defPPr>
    <a:lvl1pPr algn="l" rtl="0" fontAlgn="base">
      <a:spcBef>
        <a:spcPct val="0"/>
      </a:spcBef>
      <a:spcAft>
        <a:spcPct val="0"/>
      </a:spcAft>
      <a:defRPr kern="1200">
        <a:solidFill>
          <a:srgbClr val="FFFFFF"/>
        </a:solidFill>
        <a:latin typeface="Times New Roman" pitchFamily="18" charset="0"/>
        <a:ea typeface="+mn-ea"/>
        <a:cs typeface="+mn-cs"/>
      </a:defRPr>
    </a:lvl1pPr>
    <a:lvl2pPr marL="457200" algn="l" rtl="0" fontAlgn="base">
      <a:spcBef>
        <a:spcPct val="0"/>
      </a:spcBef>
      <a:spcAft>
        <a:spcPct val="0"/>
      </a:spcAft>
      <a:defRPr kern="1200">
        <a:solidFill>
          <a:srgbClr val="FFFFFF"/>
        </a:solidFill>
        <a:latin typeface="Times New Roman" pitchFamily="18" charset="0"/>
        <a:ea typeface="+mn-ea"/>
        <a:cs typeface="+mn-cs"/>
      </a:defRPr>
    </a:lvl2pPr>
    <a:lvl3pPr marL="914400" algn="l" rtl="0" fontAlgn="base">
      <a:spcBef>
        <a:spcPct val="0"/>
      </a:spcBef>
      <a:spcAft>
        <a:spcPct val="0"/>
      </a:spcAft>
      <a:defRPr kern="1200">
        <a:solidFill>
          <a:srgbClr val="FFFFFF"/>
        </a:solidFill>
        <a:latin typeface="Times New Roman" pitchFamily="18" charset="0"/>
        <a:ea typeface="+mn-ea"/>
        <a:cs typeface="+mn-cs"/>
      </a:defRPr>
    </a:lvl3pPr>
    <a:lvl4pPr marL="1371600" algn="l" rtl="0" fontAlgn="base">
      <a:spcBef>
        <a:spcPct val="0"/>
      </a:spcBef>
      <a:spcAft>
        <a:spcPct val="0"/>
      </a:spcAft>
      <a:defRPr kern="1200">
        <a:solidFill>
          <a:srgbClr val="FFFFFF"/>
        </a:solidFill>
        <a:latin typeface="Times New Roman" pitchFamily="18" charset="0"/>
        <a:ea typeface="+mn-ea"/>
        <a:cs typeface="+mn-cs"/>
      </a:defRPr>
    </a:lvl4pPr>
    <a:lvl5pPr marL="1828800" algn="l" rtl="0" fontAlgn="base">
      <a:spcBef>
        <a:spcPct val="0"/>
      </a:spcBef>
      <a:spcAft>
        <a:spcPct val="0"/>
      </a:spcAft>
      <a:defRPr kern="1200">
        <a:solidFill>
          <a:srgbClr val="FFFFFF"/>
        </a:solidFill>
        <a:latin typeface="Times New Roman" pitchFamily="18" charset="0"/>
        <a:ea typeface="+mn-ea"/>
        <a:cs typeface="+mn-cs"/>
      </a:defRPr>
    </a:lvl5pPr>
    <a:lvl6pPr marL="2286000" algn="l" defTabSz="914400" rtl="0" eaLnBrk="1" latinLnBrk="0" hangingPunct="1">
      <a:defRPr kern="1200">
        <a:solidFill>
          <a:srgbClr val="FFFFFF"/>
        </a:solidFill>
        <a:latin typeface="Times New Roman" pitchFamily="18" charset="0"/>
        <a:ea typeface="+mn-ea"/>
        <a:cs typeface="+mn-cs"/>
      </a:defRPr>
    </a:lvl6pPr>
    <a:lvl7pPr marL="2743200" algn="l" defTabSz="914400" rtl="0" eaLnBrk="1" latinLnBrk="0" hangingPunct="1">
      <a:defRPr kern="1200">
        <a:solidFill>
          <a:srgbClr val="FFFFFF"/>
        </a:solidFill>
        <a:latin typeface="Times New Roman" pitchFamily="18" charset="0"/>
        <a:ea typeface="+mn-ea"/>
        <a:cs typeface="+mn-cs"/>
      </a:defRPr>
    </a:lvl7pPr>
    <a:lvl8pPr marL="3200400" algn="l" defTabSz="914400" rtl="0" eaLnBrk="1" latinLnBrk="0" hangingPunct="1">
      <a:defRPr kern="1200">
        <a:solidFill>
          <a:srgbClr val="FFFFFF"/>
        </a:solidFill>
        <a:latin typeface="Times New Roman" pitchFamily="18" charset="0"/>
        <a:ea typeface="+mn-ea"/>
        <a:cs typeface="+mn-cs"/>
      </a:defRPr>
    </a:lvl8pPr>
    <a:lvl9pPr marL="3657600" algn="l" defTabSz="914400" rtl="0" eaLnBrk="1" latinLnBrk="0" hangingPunct="1">
      <a:defRPr kern="1200">
        <a:solidFill>
          <a:srgbClr val="FFFFFF"/>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4" autoAdjust="0"/>
    <p:restoredTop sz="94765" autoAdjust="0"/>
  </p:normalViewPr>
  <p:slideViewPr>
    <p:cSldViewPr>
      <p:cViewPr varScale="1">
        <p:scale>
          <a:sx n="111" d="100"/>
          <a:sy n="111" d="100"/>
        </p:scale>
        <p:origin x="173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312F2D-9858-4889-BF61-B66FE34DD922}"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558C2AC6-2A51-408E-B493-9D891E584329}">
      <dgm:prSet/>
      <dgm:spPr/>
      <dgm:t>
        <a:bodyPr/>
        <a:lstStyle/>
        <a:p>
          <a:r>
            <a:rPr lang="en-US" dirty="0">
              <a:solidFill>
                <a:schemeClr val="bg2"/>
              </a:solidFill>
            </a:rPr>
            <a:t>Maintenance of permeability; barrier for molecules, cells, or pathogens </a:t>
          </a:r>
        </a:p>
      </dgm:t>
    </dgm:pt>
    <dgm:pt modelId="{F90517E8-B6F1-46FC-BF71-832BA41ECFA1}" type="parTrans" cxnId="{6505A42E-11FF-4A8E-AB00-4B0FCD82F2E8}">
      <dgm:prSet/>
      <dgm:spPr/>
      <dgm:t>
        <a:bodyPr/>
        <a:lstStyle/>
        <a:p>
          <a:endParaRPr lang="en-US"/>
        </a:p>
      </dgm:t>
    </dgm:pt>
    <dgm:pt modelId="{535767FE-BFDE-48B1-81DE-E2C0942EB70F}" type="sibTrans" cxnId="{6505A42E-11FF-4A8E-AB00-4B0FCD82F2E8}">
      <dgm:prSet/>
      <dgm:spPr/>
      <dgm:t>
        <a:bodyPr/>
        <a:lstStyle/>
        <a:p>
          <a:endParaRPr lang="en-US"/>
        </a:p>
      </dgm:t>
    </dgm:pt>
    <dgm:pt modelId="{F4579D35-69EF-4268-893B-92DCDB45D6E4}">
      <dgm:prSet/>
      <dgm:spPr/>
      <dgm:t>
        <a:bodyPr/>
        <a:lstStyle/>
        <a:p>
          <a:r>
            <a:rPr lang="en-US" dirty="0">
              <a:solidFill>
                <a:schemeClr val="bg2"/>
              </a:solidFill>
            </a:rPr>
            <a:t>Extracellular matrix production</a:t>
          </a:r>
        </a:p>
      </dgm:t>
    </dgm:pt>
    <dgm:pt modelId="{A7F2FD41-B431-4F36-9A2A-A1BDE50454BC}" type="parTrans" cxnId="{43C6B82B-7987-4B9B-824E-EE0D051C8852}">
      <dgm:prSet/>
      <dgm:spPr/>
      <dgm:t>
        <a:bodyPr/>
        <a:lstStyle/>
        <a:p>
          <a:endParaRPr lang="en-US"/>
        </a:p>
      </dgm:t>
    </dgm:pt>
    <dgm:pt modelId="{53295FB8-6773-4D62-BBCF-8F8855C44EDE}" type="sibTrans" cxnId="{43C6B82B-7987-4B9B-824E-EE0D051C8852}">
      <dgm:prSet/>
      <dgm:spPr/>
      <dgm:t>
        <a:bodyPr/>
        <a:lstStyle/>
        <a:p>
          <a:endParaRPr lang="en-US"/>
        </a:p>
      </dgm:t>
    </dgm:pt>
    <dgm:pt modelId="{E3329B24-BE57-4E22-9253-14ADB2EA719B}">
      <dgm:prSet/>
      <dgm:spPr/>
      <dgm:t>
        <a:bodyPr/>
        <a:lstStyle/>
        <a:p>
          <a:r>
            <a:rPr lang="en-US" dirty="0">
              <a:solidFill>
                <a:schemeClr val="bg2"/>
              </a:solidFill>
            </a:rPr>
            <a:t>Elaboration of anticoagulant </a:t>
          </a:r>
        </a:p>
      </dgm:t>
    </dgm:pt>
    <dgm:pt modelId="{FB808B8D-4350-43F5-8626-EF5B9A102862}" type="parTrans" cxnId="{A72ED9E1-7B79-4902-8A82-748895DAFCD3}">
      <dgm:prSet/>
      <dgm:spPr/>
      <dgm:t>
        <a:bodyPr/>
        <a:lstStyle/>
        <a:p>
          <a:endParaRPr lang="en-US"/>
        </a:p>
      </dgm:t>
    </dgm:pt>
    <dgm:pt modelId="{8E141B23-8B1F-4348-BC29-029DF43C7CC3}" type="sibTrans" cxnId="{A72ED9E1-7B79-4902-8A82-748895DAFCD3}">
      <dgm:prSet/>
      <dgm:spPr/>
      <dgm:t>
        <a:bodyPr/>
        <a:lstStyle/>
        <a:p>
          <a:endParaRPr lang="en-US"/>
        </a:p>
      </dgm:t>
    </dgm:pt>
    <dgm:pt modelId="{16307288-91F6-4479-87A8-1B139E1B9D8A}">
      <dgm:prSet/>
      <dgm:spPr/>
      <dgm:t>
        <a:bodyPr/>
        <a:lstStyle/>
        <a:p>
          <a:r>
            <a:rPr lang="en-US" dirty="0">
              <a:solidFill>
                <a:schemeClr val="bg2"/>
              </a:solidFill>
            </a:rPr>
            <a:t>Antithrombotic molecules</a:t>
          </a:r>
        </a:p>
      </dgm:t>
    </dgm:pt>
    <dgm:pt modelId="{A054BF37-63D8-4A80-9F9E-3527B6E3BE96}" type="parTrans" cxnId="{18FC6C4D-E0B9-49C5-AD32-0C3C4D32964D}">
      <dgm:prSet/>
      <dgm:spPr/>
      <dgm:t>
        <a:bodyPr/>
        <a:lstStyle/>
        <a:p>
          <a:endParaRPr lang="en-US"/>
        </a:p>
      </dgm:t>
    </dgm:pt>
    <dgm:pt modelId="{9FBEB201-2CA9-41C9-8F9E-054F838C08D5}" type="sibTrans" cxnId="{18FC6C4D-E0B9-49C5-AD32-0C3C4D32964D}">
      <dgm:prSet/>
      <dgm:spPr/>
      <dgm:t>
        <a:bodyPr/>
        <a:lstStyle/>
        <a:p>
          <a:endParaRPr lang="en-US"/>
        </a:p>
      </dgm:t>
    </dgm:pt>
    <dgm:pt modelId="{8B45CE8D-C3D5-468E-98A0-C44FDFA2171E}">
      <dgm:prSet/>
      <dgm:spPr/>
      <dgm:t>
        <a:bodyPr/>
        <a:lstStyle/>
        <a:p>
          <a:r>
            <a:rPr lang="en-US" dirty="0">
              <a:solidFill>
                <a:schemeClr val="bg2"/>
              </a:solidFill>
            </a:rPr>
            <a:t>Elaboration of antiplatelet molecules</a:t>
          </a:r>
        </a:p>
      </dgm:t>
    </dgm:pt>
    <dgm:pt modelId="{49A6B5F4-CB30-46C9-AF3D-4B9501BD4A65}" type="parTrans" cxnId="{E4F8AFE1-E70F-4018-8393-6625D4319BB6}">
      <dgm:prSet/>
      <dgm:spPr/>
      <dgm:t>
        <a:bodyPr/>
        <a:lstStyle/>
        <a:p>
          <a:endParaRPr lang="en-US"/>
        </a:p>
      </dgm:t>
    </dgm:pt>
    <dgm:pt modelId="{19A3EB56-2E53-43B9-B56F-6FE1B1B5AD9F}" type="sibTrans" cxnId="{E4F8AFE1-E70F-4018-8393-6625D4319BB6}">
      <dgm:prSet/>
      <dgm:spPr/>
      <dgm:t>
        <a:bodyPr/>
        <a:lstStyle/>
        <a:p>
          <a:endParaRPr lang="en-US"/>
        </a:p>
      </dgm:t>
    </dgm:pt>
    <dgm:pt modelId="{104DFE41-DB13-4576-AD13-CA5B2BC6034A}">
      <dgm:prSet/>
      <dgm:spPr/>
      <dgm:t>
        <a:bodyPr/>
        <a:lstStyle/>
        <a:p>
          <a:r>
            <a:rPr lang="en-US" dirty="0">
              <a:solidFill>
                <a:schemeClr val="bg2"/>
              </a:solidFill>
            </a:rPr>
            <a:t>Modulation of blood flow</a:t>
          </a:r>
        </a:p>
      </dgm:t>
    </dgm:pt>
    <dgm:pt modelId="{0F62BF9C-B7BF-4A3D-8DBB-BBF00E6EA380}" type="parTrans" cxnId="{798D22FD-932A-4DC4-B036-D518679F2DE9}">
      <dgm:prSet/>
      <dgm:spPr/>
      <dgm:t>
        <a:bodyPr/>
        <a:lstStyle/>
        <a:p>
          <a:endParaRPr lang="en-US"/>
        </a:p>
      </dgm:t>
    </dgm:pt>
    <dgm:pt modelId="{275F5F08-82FE-402B-9F82-FA86E87A5433}" type="sibTrans" cxnId="{798D22FD-932A-4DC4-B036-D518679F2DE9}">
      <dgm:prSet/>
      <dgm:spPr/>
      <dgm:t>
        <a:bodyPr/>
        <a:lstStyle/>
        <a:p>
          <a:endParaRPr lang="en-US"/>
        </a:p>
      </dgm:t>
    </dgm:pt>
    <dgm:pt modelId="{3E1DC455-6541-44CB-B9BF-7AF1474CEFE1}" type="pres">
      <dgm:prSet presAssocID="{59312F2D-9858-4889-BF61-B66FE34DD922}" presName="linear" presStyleCnt="0">
        <dgm:presLayoutVars>
          <dgm:animLvl val="lvl"/>
          <dgm:resizeHandles val="exact"/>
        </dgm:presLayoutVars>
      </dgm:prSet>
      <dgm:spPr/>
    </dgm:pt>
    <dgm:pt modelId="{BF99BB80-031E-49E7-A3E3-FE6954696CA0}" type="pres">
      <dgm:prSet presAssocID="{558C2AC6-2A51-408E-B493-9D891E584329}" presName="parentText" presStyleLbl="node1" presStyleIdx="0" presStyleCnt="6">
        <dgm:presLayoutVars>
          <dgm:chMax val="0"/>
          <dgm:bulletEnabled val="1"/>
        </dgm:presLayoutVars>
      </dgm:prSet>
      <dgm:spPr/>
    </dgm:pt>
    <dgm:pt modelId="{16BB99C1-8FD7-40D2-A56A-ADC25461047F}" type="pres">
      <dgm:prSet presAssocID="{535767FE-BFDE-48B1-81DE-E2C0942EB70F}" presName="spacer" presStyleCnt="0"/>
      <dgm:spPr/>
    </dgm:pt>
    <dgm:pt modelId="{D8EB3AFB-543F-4325-BA58-A0F1A63891B7}" type="pres">
      <dgm:prSet presAssocID="{F4579D35-69EF-4268-893B-92DCDB45D6E4}" presName="parentText" presStyleLbl="node1" presStyleIdx="1" presStyleCnt="6">
        <dgm:presLayoutVars>
          <dgm:chMax val="0"/>
          <dgm:bulletEnabled val="1"/>
        </dgm:presLayoutVars>
      </dgm:prSet>
      <dgm:spPr/>
    </dgm:pt>
    <dgm:pt modelId="{F55E011E-FC1C-480F-9C23-3F5D4F89C383}" type="pres">
      <dgm:prSet presAssocID="{53295FB8-6773-4D62-BBCF-8F8855C44EDE}" presName="spacer" presStyleCnt="0"/>
      <dgm:spPr/>
    </dgm:pt>
    <dgm:pt modelId="{475E461B-872E-4EF5-AB7B-95BF3583F521}" type="pres">
      <dgm:prSet presAssocID="{E3329B24-BE57-4E22-9253-14ADB2EA719B}" presName="parentText" presStyleLbl="node1" presStyleIdx="2" presStyleCnt="6" custLinFactNeighborY="67647">
        <dgm:presLayoutVars>
          <dgm:chMax val="0"/>
          <dgm:bulletEnabled val="1"/>
        </dgm:presLayoutVars>
      </dgm:prSet>
      <dgm:spPr/>
    </dgm:pt>
    <dgm:pt modelId="{3B8B8F31-1FC4-4E94-9A3A-64A3715B3E07}" type="pres">
      <dgm:prSet presAssocID="{8E141B23-8B1F-4348-BC29-029DF43C7CC3}" presName="spacer" presStyleCnt="0"/>
      <dgm:spPr/>
    </dgm:pt>
    <dgm:pt modelId="{4A41868A-6A97-4B40-BF4B-B1EE67117FE2}" type="pres">
      <dgm:prSet presAssocID="{16307288-91F6-4479-87A8-1B139E1B9D8A}" presName="parentText" presStyleLbl="node1" presStyleIdx="3" presStyleCnt="6">
        <dgm:presLayoutVars>
          <dgm:chMax val="0"/>
          <dgm:bulletEnabled val="1"/>
        </dgm:presLayoutVars>
      </dgm:prSet>
      <dgm:spPr/>
    </dgm:pt>
    <dgm:pt modelId="{08CE9759-1ACF-4B4D-BBEA-07CD40B2F80B}" type="pres">
      <dgm:prSet presAssocID="{9FBEB201-2CA9-41C9-8F9E-054F838C08D5}" presName="spacer" presStyleCnt="0"/>
      <dgm:spPr/>
    </dgm:pt>
    <dgm:pt modelId="{E0EAEB33-6458-4414-835D-33C2120F7C7B}" type="pres">
      <dgm:prSet presAssocID="{8B45CE8D-C3D5-468E-98A0-C44FDFA2171E}" presName="parentText" presStyleLbl="node1" presStyleIdx="4" presStyleCnt="6">
        <dgm:presLayoutVars>
          <dgm:chMax val="0"/>
          <dgm:bulletEnabled val="1"/>
        </dgm:presLayoutVars>
      </dgm:prSet>
      <dgm:spPr/>
    </dgm:pt>
    <dgm:pt modelId="{F3F7F379-379F-488E-A40A-766790176335}" type="pres">
      <dgm:prSet presAssocID="{19A3EB56-2E53-43B9-B56F-6FE1B1B5AD9F}" presName="spacer" presStyleCnt="0"/>
      <dgm:spPr/>
    </dgm:pt>
    <dgm:pt modelId="{38BA616B-91E4-4405-A864-9E7729A2B525}" type="pres">
      <dgm:prSet presAssocID="{104DFE41-DB13-4576-AD13-CA5B2BC6034A}" presName="parentText" presStyleLbl="node1" presStyleIdx="5" presStyleCnt="6">
        <dgm:presLayoutVars>
          <dgm:chMax val="0"/>
          <dgm:bulletEnabled val="1"/>
        </dgm:presLayoutVars>
      </dgm:prSet>
      <dgm:spPr/>
    </dgm:pt>
  </dgm:ptLst>
  <dgm:cxnLst>
    <dgm:cxn modelId="{43C6B82B-7987-4B9B-824E-EE0D051C8852}" srcId="{59312F2D-9858-4889-BF61-B66FE34DD922}" destId="{F4579D35-69EF-4268-893B-92DCDB45D6E4}" srcOrd="1" destOrd="0" parTransId="{A7F2FD41-B431-4F36-9A2A-A1BDE50454BC}" sibTransId="{53295FB8-6773-4D62-BBCF-8F8855C44EDE}"/>
    <dgm:cxn modelId="{1F16F22D-60EA-45C1-A23A-2551C5EE78B4}" type="presOf" srcId="{8B45CE8D-C3D5-468E-98A0-C44FDFA2171E}" destId="{E0EAEB33-6458-4414-835D-33C2120F7C7B}" srcOrd="0" destOrd="0" presId="urn:microsoft.com/office/officeart/2005/8/layout/vList2"/>
    <dgm:cxn modelId="{6505A42E-11FF-4A8E-AB00-4B0FCD82F2E8}" srcId="{59312F2D-9858-4889-BF61-B66FE34DD922}" destId="{558C2AC6-2A51-408E-B493-9D891E584329}" srcOrd="0" destOrd="0" parTransId="{F90517E8-B6F1-46FC-BF71-832BA41ECFA1}" sibTransId="{535767FE-BFDE-48B1-81DE-E2C0942EB70F}"/>
    <dgm:cxn modelId="{18FC6C4D-E0B9-49C5-AD32-0C3C4D32964D}" srcId="{59312F2D-9858-4889-BF61-B66FE34DD922}" destId="{16307288-91F6-4479-87A8-1B139E1B9D8A}" srcOrd="3" destOrd="0" parTransId="{A054BF37-63D8-4A80-9F9E-3527B6E3BE96}" sibTransId="{9FBEB201-2CA9-41C9-8F9E-054F838C08D5}"/>
    <dgm:cxn modelId="{76950D54-D69C-4EA9-9E11-C6E04F4E6A66}" type="presOf" srcId="{F4579D35-69EF-4268-893B-92DCDB45D6E4}" destId="{D8EB3AFB-543F-4325-BA58-A0F1A63891B7}" srcOrd="0" destOrd="0" presId="urn:microsoft.com/office/officeart/2005/8/layout/vList2"/>
    <dgm:cxn modelId="{B5712D59-A2EB-48FF-8419-6087244F02EB}" type="presOf" srcId="{16307288-91F6-4479-87A8-1B139E1B9D8A}" destId="{4A41868A-6A97-4B40-BF4B-B1EE67117FE2}" srcOrd="0" destOrd="0" presId="urn:microsoft.com/office/officeart/2005/8/layout/vList2"/>
    <dgm:cxn modelId="{71B2B690-D994-4CDA-9679-5FCC0FEB1A46}" type="presOf" srcId="{59312F2D-9858-4889-BF61-B66FE34DD922}" destId="{3E1DC455-6541-44CB-B9BF-7AF1474CEFE1}" srcOrd="0" destOrd="0" presId="urn:microsoft.com/office/officeart/2005/8/layout/vList2"/>
    <dgm:cxn modelId="{49AB61C5-D5EA-4F49-8C64-BB65FBE7F0ED}" type="presOf" srcId="{E3329B24-BE57-4E22-9253-14ADB2EA719B}" destId="{475E461B-872E-4EF5-AB7B-95BF3583F521}" srcOrd="0" destOrd="0" presId="urn:microsoft.com/office/officeart/2005/8/layout/vList2"/>
    <dgm:cxn modelId="{FBC8A0CD-809A-4107-BDA6-35090E69B68D}" type="presOf" srcId="{104DFE41-DB13-4576-AD13-CA5B2BC6034A}" destId="{38BA616B-91E4-4405-A864-9E7729A2B525}" srcOrd="0" destOrd="0" presId="urn:microsoft.com/office/officeart/2005/8/layout/vList2"/>
    <dgm:cxn modelId="{8DB49FD0-0BEF-4290-B8C7-415EF991017E}" type="presOf" srcId="{558C2AC6-2A51-408E-B493-9D891E584329}" destId="{BF99BB80-031E-49E7-A3E3-FE6954696CA0}" srcOrd="0" destOrd="0" presId="urn:microsoft.com/office/officeart/2005/8/layout/vList2"/>
    <dgm:cxn modelId="{E4F8AFE1-E70F-4018-8393-6625D4319BB6}" srcId="{59312F2D-9858-4889-BF61-B66FE34DD922}" destId="{8B45CE8D-C3D5-468E-98A0-C44FDFA2171E}" srcOrd="4" destOrd="0" parTransId="{49A6B5F4-CB30-46C9-AF3D-4B9501BD4A65}" sibTransId="{19A3EB56-2E53-43B9-B56F-6FE1B1B5AD9F}"/>
    <dgm:cxn modelId="{A72ED9E1-7B79-4902-8A82-748895DAFCD3}" srcId="{59312F2D-9858-4889-BF61-B66FE34DD922}" destId="{E3329B24-BE57-4E22-9253-14ADB2EA719B}" srcOrd="2" destOrd="0" parTransId="{FB808B8D-4350-43F5-8626-EF5B9A102862}" sibTransId="{8E141B23-8B1F-4348-BC29-029DF43C7CC3}"/>
    <dgm:cxn modelId="{798D22FD-932A-4DC4-B036-D518679F2DE9}" srcId="{59312F2D-9858-4889-BF61-B66FE34DD922}" destId="{104DFE41-DB13-4576-AD13-CA5B2BC6034A}" srcOrd="5" destOrd="0" parTransId="{0F62BF9C-B7BF-4A3D-8DBB-BBF00E6EA380}" sibTransId="{275F5F08-82FE-402B-9F82-FA86E87A5433}"/>
    <dgm:cxn modelId="{E595828A-3C26-43BD-9122-9ECA57A054E9}" type="presParOf" srcId="{3E1DC455-6541-44CB-B9BF-7AF1474CEFE1}" destId="{BF99BB80-031E-49E7-A3E3-FE6954696CA0}" srcOrd="0" destOrd="0" presId="urn:microsoft.com/office/officeart/2005/8/layout/vList2"/>
    <dgm:cxn modelId="{99B9620A-6DAF-4C6E-8836-C2D3F3879DC5}" type="presParOf" srcId="{3E1DC455-6541-44CB-B9BF-7AF1474CEFE1}" destId="{16BB99C1-8FD7-40D2-A56A-ADC25461047F}" srcOrd="1" destOrd="0" presId="urn:microsoft.com/office/officeart/2005/8/layout/vList2"/>
    <dgm:cxn modelId="{4A9F7717-124D-4DFD-A9D6-0AF1EE43E366}" type="presParOf" srcId="{3E1DC455-6541-44CB-B9BF-7AF1474CEFE1}" destId="{D8EB3AFB-543F-4325-BA58-A0F1A63891B7}" srcOrd="2" destOrd="0" presId="urn:microsoft.com/office/officeart/2005/8/layout/vList2"/>
    <dgm:cxn modelId="{D5AB75FE-363F-4220-BA24-F23757C4345F}" type="presParOf" srcId="{3E1DC455-6541-44CB-B9BF-7AF1474CEFE1}" destId="{F55E011E-FC1C-480F-9C23-3F5D4F89C383}" srcOrd="3" destOrd="0" presId="urn:microsoft.com/office/officeart/2005/8/layout/vList2"/>
    <dgm:cxn modelId="{8D926D0F-A1A3-4913-8607-FEC4DFF599A2}" type="presParOf" srcId="{3E1DC455-6541-44CB-B9BF-7AF1474CEFE1}" destId="{475E461B-872E-4EF5-AB7B-95BF3583F521}" srcOrd="4" destOrd="0" presId="urn:microsoft.com/office/officeart/2005/8/layout/vList2"/>
    <dgm:cxn modelId="{9B834D20-17AA-45A3-A02D-7855EB567882}" type="presParOf" srcId="{3E1DC455-6541-44CB-B9BF-7AF1474CEFE1}" destId="{3B8B8F31-1FC4-4E94-9A3A-64A3715B3E07}" srcOrd="5" destOrd="0" presId="urn:microsoft.com/office/officeart/2005/8/layout/vList2"/>
    <dgm:cxn modelId="{3B670264-A3C9-4F87-B2EA-15B9C738C0E9}" type="presParOf" srcId="{3E1DC455-6541-44CB-B9BF-7AF1474CEFE1}" destId="{4A41868A-6A97-4B40-BF4B-B1EE67117FE2}" srcOrd="6" destOrd="0" presId="urn:microsoft.com/office/officeart/2005/8/layout/vList2"/>
    <dgm:cxn modelId="{DF387870-E24D-47FC-9880-FA0A3AE5243D}" type="presParOf" srcId="{3E1DC455-6541-44CB-B9BF-7AF1474CEFE1}" destId="{08CE9759-1ACF-4B4D-BBEA-07CD40B2F80B}" srcOrd="7" destOrd="0" presId="urn:microsoft.com/office/officeart/2005/8/layout/vList2"/>
    <dgm:cxn modelId="{D902A37A-F9EC-40B0-B0CB-51A24C28E956}" type="presParOf" srcId="{3E1DC455-6541-44CB-B9BF-7AF1474CEFE1}" destId="{E0EAEB33-6458-4414-835D-33C2120F7C7B}" srcOrd="8" destOrd="0" presId="urn:microsoft.com/office/officeart/2005/8/layout/vList2"/>
    <dgm:cxn modelId="{B08F3699-347E-4E90-B262-E80C9B84C64D}" type="presParOf" srcId="{3E1DC455-6541-44CB-B9BF-7AF1474CEFE1}" destId="{F3F7F379-379F-488E-A40A-766790176335}" srcOrd="9" destOrd="0" presId="urn:microsoft.com/office/officeart/2005/8/layout/vList2"/>
    <dgm:cxn modelId="{52D58767-69BF-4326-85F1-FABB458BD81D}" type="presParOf" srcId="{3E1DC455-6541-44CB-B9BF-7AF1474CEFE1}" destId="{38BA616B-91E4-4405-A864-9E7729A2B525}"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9BB80-031E-49E7-A3E3-FE6954696CA0}">
      <dsp:nvSpPr>
        <dsp:cNvPr id="0" name=""/>
        <dsp:cNvSpPr/>
      </dsp:nvSpPr>
      <dsp:spPr>
        <a:xfrm>
          <a:off x="0" y="161152"/>
          <a:ext cx="7886700" cy="4446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Maintenance of permeability; barrier for molecules, cells, or pathogens </a:t>
          </a:r>
        </a:p>
      </dsp:txBody>
      <dsp:txXfrm>
        <a:off x="21704" y="182856"/>
        <a:ext cx="7843292" cy="401192"/>
      </dsp:txXfrm>
    </dsp:sp>
    <dsp:sp modelId="{D8EB3AFB-543F-4325-BA58-A0F1A63891B7}">
      <dsp:nvSpPr>
        <dsp:cNvPr id="0" name=""/>
        <dsp:cNvSpPr/>
      </dsp:nvSpPr>
      <dsp:spPr>
        <a:xfrm>
          <a:off x="0" y="660472"/>
          <a:ext cx="7886700" cy="444600"/>
        </a:xfrm>
        <a:prstGeom prst="roundRect">
          <a:avLst/>
        </a:prstGeom>
        <a:solidFill>
          <a:schemeClr val="accent2">
            <a:hueOff val="1440000"/>
            <a:satOff val="-15362"/>
            <a:lumOff val="7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Extracellular matrix production</a:t>
          </a:r>
        </a:p>
      </dsp:txBody>
      <dsp:txXfrm>
        <a:off x="21704" y="682176"/>
        <a:ext cx="7843292" cy="401192"/>
      </dsp:txXfrm>
    </dsp:sp>
    <dsp:sp modelId="{475E461B-872E-4EF5-AB7B-95BF3583F521}">
      <dsp:nvSpPr>
        <dsp:cNvPr id="0" name=""/>
        <dsp:cNvSpPr/>
      </dsp:nvSpPr>
      <dsp:spPr>
        <a:xfrm>
          <a:off x="0" y="1196808"/>
          <a:ext cx="7886700" cy="444600"/>
        </a:xfrm>
        <a:prstGeom prst="roundRect">
          <a:avLst/>
        </a:prstGeom>
        <a:solidFill>
          <a:schemeClr val="accent2">
            <a:hueOff val="2880000"/>
            <a:satOff val="-30725"/>
            <a:lumOff val="1537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Elaboration of anticoagulant </a:t>
          </a:r>
        </a:p>
      </dsp:txBody>
      <dsp:txXfrm>
        <a:off x="21704" y="1218512"/>
        <a:ext cx="7843292" cy="401192"/>
      </dsp:txXfrm>
    </dsp:sp>
    <dsp:sp modelId="{4A41868A-6A97-4B40-BF4B-B1EE67117FE2}">
      <dsp:nvSpPr>
        <dsp:cNvPr id="0" name=""/>
        <dsp:cNvSpPr/>
      </dsp:nvSpPr>
      <dsp:spPr>
        <a:xfrm>
          <a:off x="0" y="1659112"/>
          <a:ext cx="7886700" cy="444600"/>
        </a:xfrm>
        <a:prstGeom prst="roundRect">
          <a:avLst/>
        </a:prstGeom>
        <a:solidFill>
          <a:schemeClr val="accent2">
            <a:hueOff val="4320000"/>
            <a:satOff val="-46087"/>
            <a:lumOff val="230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Antithrombotic molecules</a:t>
          </a:r>
        </a:p>
      </dsp:txBody>
      <dsp:txXfrm>
        <a:off x="21704" y="1680816"/>
        <a:ext cx="7843292" cy="401192"/>
      </dsp:txXfrm>
    </dsp:sp>
    <dsp:sp modelId="{E0EAEB33-6458-4414-835D-33C2120F7C7B}">
      <dsp:nvSpPr>
        <dsp:cNvPr id="0" name=""/>
        <dsp:cNvSpPr/>
      </dsp:nvSpPr>
      <dsp:spPr>
        <a:xfrm>
          <a:off x="0" y="2158432"/>
          <a:ext cx="7886700" cy="444600"/>
        </a:xfrm>
        <a:prstGeom prst="roundRect">
          <a:avLst/>
        </a:prstGeom>
        <a:solidFill>
          <a:schemeClr val="accent2">
            <a:hueOff val="5760000"/>
            <a:satOff val="-61450"/>
            <a:lumOff val="30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Elaboration of antiplatelet molecules</a:t>
          </a:r>
        </a:p>
      </dsp:txBody>
      <dsp:txXfrm>
        <a:off x="21704" y="2180136"/>
        <a:ext cx="7843292" cy="401192"/>
      </dsp:txXfrm>
    </dsp:sp>
    <dsp:sp modelId="{38BA616B-91E4-4405-A864-9E7729A2B525}">
      <dsp:nvSpPr>
        <dsp:cNvPr id="0" name=""/>
        <dsp:cNvSpPr/>
      </dsp:nvSpPr>
      <dsp:spPr>
        <a:xfrm>
          <a:off x="0" y="2657752"/>
          <a:ext cx="7886700" cy="444600"/>
        </a:xfrm>
        <a:prstGeom prst="roundRect">
          <a:avLst/>
        </a:prstGeom>
        <a:solidFill>
          <a:schemeClr val="accent2">
            <a:hueOff val="7200000"/>
            <a:satOff val="-76812"/>
            <a:lumOff val="3843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2"/>
              </a:solidFill>
            </a:rPr>
            <a:t>Modulation of blood flow</a:t>
          </a:r>
        </a:p>
      </dsp:txBody>
      <dsp:txXfrm>
        <a:off x="21704" y="2679456"/>
        <a:ext cx="7843292" cy="4011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xfrm>
            <a:off x="1" y="1"/>
            <a:ext cx="2971800" cy="508001"/>
          </a:xfrm>
          <a:prstGeom prst="rect">
            <a:avLst/>
          </a:prstGeom>
          <a:noFill/>
          <a:ln w="9525">
            <a:noFill/>
            <a:miter lim="800000"/>
            <a:headEnd/>
            <a:tailEnd/>
          </a:ln>
          <a:effectLst/>
        </p:spPr>
        <p:txBody>
          <a:bodyPr vert="horz" wrap="square" lIns="92104" tIns="46053" rIns="92104" bIns="46053"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81923" name="Rectangle 3"/>
          <p:cNvSpPr>
            <a:spLocks noGrp="1" noChangeArrowheads="1"/>
          </p:cNvSpPr>
          <p:nvPr>
            <p:ph type="dt" sz="quarter" idx="1"/>
          </p:nvPr>
        </p:nvSpPr>
        <p:spPr bwMode="auto">
          <a:xfrm>
            <a:off x="3886200" y="1"/>
            <a:ext cx="2971800" cy="508001"/>
          </a:xfrm>
          <a:prstGeom prst="rect">
            <a:avLst/>
          </a:prstGeom>
          <a:noFill/>
          <a:ln w="9525">
            <a:noFill/>
            <a:miter lim="800000"/>
            <a:headEnd/>
            <a:tailEnd/>
          </a:ln>
          <a:effectLst/>
        </p:spPr>
        <p:txBody>
          <a:bodyPr vert="horz" wrap="square" lIns="92104" tIns="46053" rIns="92104" bIns="46053"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81924" name="Rectangle 4"/>
          <p:cNvSpPr>
            <a:spLocks noGrp="1" noChangeArrowheads="1"/>
          </p:cNvSpPr>
          <p:nvPr>
            <p:ph type="ftr" sz="quarter" idx="2"/>
          </p:nvPr>
        </p:nvSpPr>
        <p:spPr bwMode="auto">
          <a:xfrm>
            <a:off x="1" y="8636000"/>
            <a:ext cx="2971800" cy="508001"/>
          </a:xfrm>
          <a:prstGeom prst="rect">
            <a:avLst/>
          </a:prstGeom>
          <a:noFill/>
          <a:ln w="9525">
            <a:noFill/>
            <a:miter lim="800000"/>
            <a:headEnd/>
            <a:tailEnd/>
          </a:ln>
          <a:effectLst/>
        </p:spPr>
        <p:txBody>
          <a:bodyPr vert="horz" wrap="square" lIns="92104" tIns="46053" rIns="92104" bIns="46053"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81925" name="Rectangle 5"/>
          <p:cNvSpPr>
            <a:spLocks noGrp="1" noChangeArrowheads="1"/>
          </p:cNvSpPr>
          <p:nvPr>
            <p:ph type="sldNum" sz="quarter" idx="3"/>
          </p:nvPr>
        </p:nvSpPr>
        <p:spPr bwMode="auto">
          <a:xfrm>
            <a:off x="3886200" y="8636000"/>
            <a:ext cx="2971800" cy="508001"/>
          </a:xfrm>
          <a:prstGeom prst="rect">
            <a:avLst/>
          </a:prstGeom>
          <a:noFill/>
          <a:ln w="9525">
            <a:noFill/>
            <a:miter lim="800000"/>
            <a:headEnd/>
            <a:tailEnd/>
          </a:ln>
          <a:effectLst/>
        </p:spPr>
        <p:txBody>
          <a:bodyPr vert="horz" wrap="square" lIns="92104" tIns="46053" rIns="92104" bIns="46053" numCol="1" anchor="b" anchorCtr="0" compatLnSpc="1">
            <a:prstTxWarp prst="textNoShape">
              <a:avLst/>
            </a:prstTxWarp>
          </a:bodyPr>
          <a:lstStyle>
            <a:lvl1pPr algn="r">
              <a:defRPr sz="1200" smtClean="0">
                <a:latin typeface="Times New Roman" charset="0"/>
              </a:defRPr>
            </a:lvl1pPr>
          </a:lstStyle>
          <a:p>
            <a:pPr>
              <a:defRPr/>
            </a:pPr>
            <a:fld id="{AD358539-33D1-41DE-BD7A-E55A8D181C77}" type="slidenum">
              <a:rPr lang="en-US"/>
              <a:pPr>
                <a:defRPr/>
              </a:pPr>
              <a:t>‹#›</a:t>
            </a:fld>
            <a:endParaRPr lang="en-US"/>
          </a:p>
        </p:txBody>
      </p:sp>
    </p:spTree>
    <p:extLst>
      <p:ext uri="{BB962C8B-B14F-4D97-AF65-F5344CB8AC3E}">
        <p14:creationId xmlns:p14="http://schemas.microsoft.com/office/powerpoint/2010/main" val="2853353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1" y="1"/>
            <a:ext cx="2971800" cy="508001"/>
          </a:xfrm>
          <a:prstGeom prst="rect">
            <a:avLst/>
          </a:prstGeom>
          <a:noFill/>
          <a:ln w="9525">
            <a:noFill/>
            <a:miter lim="800000"/>
            <a:headEnd/>
            <a:tailEnd/>
          </a:ln>
          <a:effectLst/>
        </p:spPr>
        <p:txBody>
          <a:bodyPr vert="horz" wrap="square" lIns="92104" tIns="46053" rIns="92104" bIns="46053" numCol="1" anchor="t" anchorCtr="0" compatLnSpc="1">
            <a:prstTxWarp prst="textNoShape">
              <a:avLst/>
            </a:prstTxWarp>
          </a:bodyPr>
          <a:lstStyle>
            <a:lvl1pPr>
              <a:defRPr sz="1200" smtClean="0">
                <a:latin typeface="Times New Roman" charset="0"/>
              </a:defRPr>
            </a:lvl1pPr>
          </a:lstStyle>
          <a:p>
            <a:pPr>
              <a:defRPr/>
            </a:pPr>
            <a:endParaRPr lang="en-US"/>
          </a:p>
        </p:txBody>
      </p:sp>
      <p:sp>
        <p:nvSpPr>
          <p:cNvPr id="84995" name="Rectangle 3"/>
          <p:cNvSpPr>
            <a:spLocks noGrp="1" noChangeArrowheads="1"/>
          </p:cNvSpPr>
          <p:nvPr>
            <p:ph type="dt" idx="1"/>
          </p:nvPr>
        </p:nvSpPr>
        <p:spPr bwMode="auto">
          <a:xfrm>
            <a:off x="3886200" y="1"/>
            <a:ext cx="2971800" cy="508001"/>
          </a:xfrm>
          <a:prstGeom prst="rect">
            <a:avLst/>
          </a:prstGeom>
          <a:noFill/>
          <a:ln w="9525">
            <a:noFill/>
            <a:miter lim="800000"/>
            <a:headEnd/>
            <a:tailEnd/>
          </a:ln>
          <a:effectLst/>
        </p:spPr>
        <p:txBody>
          <a:bodyPr vert="horz" wrap="square" lIns="92104" tIns="46053" rIns="92104" bIns="46053" numCol="1" anchor="t" anchorCtr="0" compatLnSpc="1">
            <a:prstTxWarp prst="textNoShape">
              <a:avLst/>
            </a:prstTxWarp>
          </a:bodyPr>
          <a:lstStyle>
            <a:lvl1pPr algn="r">
              <a:defRPr sz="1200" smtClean="0">
                <a:latin typeface="Times New Roman"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25538" y="709613"/>
            <a:ext cx="4606925" cy="3455987"/>
          </a:xfrm>
          <a:prstGeom prst="rect">
            <a:avLst/>
          </a:prstGeom>
          <a:noFill/>
          <a:ln w="9525">
            <a:solidFill>
              <a:srgbClr val="000000"/>
            </a:solidFill>
            <a:miter lim="800000"/>
            <a:headEnd/>
            <a:tailEnd/>
          </a:ln>
        </p:spPr>
      </p:sp>
      <p:sp>
        <p:nvSpPr>
          <p:cNvPr id="84997" name="Rectangle 5"/>
          <p:cNvSpPr>
            <a:spLocks noGrp="1" noChangeArrowheads="1"/>
          </p:cNvSpPr>
          <p:nvPr>
            <p:ph type="body" sz="quarter" idx="3"/>
          </p:nvPr>
        </p:nvSpPr>
        <p:spPr bwMode="auto">
          <a:xfrm>
            <a:off x="914401" y="4368801"/>
            <a:ext cx="5029200" cy="4063999"/>
          </a:xfrm>
          <a:prstGeom prst="rect">
            <a:avLst/>
          </a:prstGeom>
          <a:noFill/>
          <a:ln w="9525">
            <a:noFill/>
            <a:miter lim="800000"/>
            <a:headEnd/>
            <a:tailEnd/>
          </a:ln>
          <a:effectLst/>
        </p:spPr>
        <p:txBody>
          <a:bodyPr vert="horz" wrap="square" lIns="92104" tIns="46053" rIns="92104" bIns="4605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4998" name="Rectangle 6"/>
          <p:cNvSpPr>
            <a:spLocks noGrp="1" noChangeArrowheads="1"/>
          </p:cNvSpPr>
          <p:nvPr>
            <p:ph type="ftr" sz="quarter" idx="4"/>
          </p:nvPr>
        </p:nvSpPr>
        <p:spPr bwMode="auto">
          <a:xfrm>
            <a:off x="1" y="8636000"/>
            <a:ext cx="2971800" cy="508001"/>
          </a:xfrm>
          <a:prstGeom prst="rect">
            <a:avLst/>
          </a:prstGeom>
          <a:noFill/>
          <a:ln w="9525">
            <a:noFill/>
            <a:miter lim="800000"/>
            <a:headEnd/>
            <a:tailEnd/>
          </a:ln>
          <a:effectLst/>
        </p:spPr>
        <p:txBody>
          <a:bodyPr vert="horz" wrap="square" lIns="92104" tIns="46053" rIns="92104" bIns="46053" numCol="1" anchor="b" anchorCtr="0" compatLnSpc="1">
            <a:prstTxWarp prst="textNoShape">
              <a:avLst/>
            </a:prstTxWarp>
          </a:bodyPr>
          <a:lstStyle>
            <a:lvl1pPr>
              <a:defRPr sz="1200" smtClean="0">
                <a:latin typeface="Times New Roman" charset="0"/>
              </a:defRPr>
            </a:lvl1pPr>
          </a:lstStyle>
          <a:p>
            <a:pPr>
              <a:defRPr/>
            </a:pPr>
            <a:endParaRPr lang="en-US"/>
          </a:p>
        </p:txBody>
      </p:sp>
      <p:sp>
        <p:nvSpPr>
          <p:cNvPr id="84999" name="Rectangle 7"/>
          <p:cNvSpPr>
            <a:spLocks noGrp="1" noChangeArrowheads="1"/>
          </p:cNvSpPr>
          <p:nvPr>
            <p:ph type="sldNum" sz="quarter" idx="5"/>
          </p:nvPr>
        </p:nvSpPr>
        <p:spPr bwMode="auto">
          <a:xfrm>
            <a:off x="3886200" y="8636000"/>
            <a:ext cx="2971800" cy="508001"/>
          </a:xfrm>
          <a:prstGeom prst="rect">
            <a:avLst/>
          </a:prstGeom>
          <a:noFill/>
          <a:ln w="9525">
            <a:noFill/>
            <a:miter lim="800000"/>
            <a:headEnd/>
            <a:tailEnd/>
          </a:ln>
          <a:effectLst/>
        </p:spPr>
        <p:txBody>
          <a:bodyPr vert="horz" wrap="square" lIns="92104" tIns="46053" rIns="92104" bIns="46053" numCol="1" anchor="b" anchorCtr="0" compatLnSpc="1">
            <a:prstTxWarp prst="textNoShape">
              <a:avLst/>
            </a:prstTxWarp>
          </a:bodyPr>
          <a:lstStyle>
            <a:lvl1pPr algn="r">
              <a:defRPr sz="1200" smtClean="0">
                <a:latin typeface="Times New Roman" charset="0"/>
              </a:defRPr>
            </a:lvl1pPr>
          </a:lstStyle>
          <a:p>
            <a:pPr>
              <a:defRPr/>
            </a:pPr>
            <a:fld id="{13D3BCF7-6FA5-4AC8-A353-502F7E10706F}" type="slidenum">
              <a:rPr lang="en-US"/>
              <a:pPr>
                <a:defRPr/>
              </a:pPr>
              <a:t>‹#›</a:t>
            </a:fld>
            <a:endParaRPr lang="en-US"/>
          </a:p>
        </p:txBody>
      </p:sp>
    </p:spTree>
    <p:extLst>
      <p:ext uri="{BB962C8B-B14F-4D97-AF65-F5344CB8AC3E}">
        <p14:creationId xmlns:p14="http://schemas.microsoft.com/office/powerpoint/2010/main" val="40786945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C633FFA-C7F3-431C-AA5B-90553AB4B6DB}" type="slidenum">
              <a:rPr kumimoji="0" lang="en-GB" altLang="en-GB" sz="1200" b="0" i="0" u="none" strike="noStrike" kern="1200" cap="none" spc="0" normalizeH="0" baseline="0" noProof="0">
                <a:ln>
                  <a:noFill/>
                </a:ln>
                <a:solidFill>
                  <a:srgbClr val="FFFFFF"/>
                </a:solidFill>
                <a:effectLst/>
                <a:uLnTx/>
                <a:uFillTx/>
                <a:latin typeface="Times New Roman"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GB" altLang="en-GB" sz="1200" b="0" i="0" u="none" strike="noStrike" kern="1200" cap="none" spc="0" normalizeH="0" baseline="0" noProof="0" dirty="0">
              <a:ln>
                <a:noFill/>
              </a:ln>
              <a:solidFill>
                <a:srgbClr val="FFFFFF"/>
              </a:solidFill>
              <a:effectLst/>
              <a:uLnTx/>
              <a:uFillTx/>
              <a:latin typeface="Times New Roman" charset="0"/>
              <a:ea typeface="+mn-ea"/>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a:ln/>
        </p:spPr>
        <p:txBody>
          <a:bodyPr/>
          <a:lstStyle/>
          <a:p>
            <a:pPr eaLnBrk="1" hangingPunct="1"/>
            <a:r>
              <a:rPr lang="en-GB" altLang="en-GB" b="1" dirty="0"/>
              <a:t>Figure 11</a:t>
            </a:r>
            <a:r>
              <a:rPr lang="en-GB" altLang="en-GB" dirty="0"/>
              <a:t> The growing fatty streak eventually forms the lipid core, which becomes isolated by the progressive formation of a fibrous cap. The fibrous cap contains collagen, </a:t>
            </a:r>
            <a:r>
              <a:rPr lang="en-GB" altLang="en-GB" dirty="0" err="1"/>
              <a:t>proteoglycans</a:t>
            </a:r>
            <a:r>
              <a:rPr lang="en-GB" altLang="en-GB" dirty="0"/>
              <a:t> and activated smooth muscle cells. The sturdier the cap, the less likelihood there is of plaque rupture. </a:t>
            </a:r>
          </a:p>
          <a:p>
            <a:pPr eaLnBrk="1" hangingPunct="1"/>
            <a:endParaRPr lang="en-GB" altLang="en-GB" dirty="0"/>
          </a:p>
          <a:p>
            <a:pPr eaLnBrk="1" hangingPunct="1"/>
            <a:r>
              <a:rPr lang="en-GB" altLang="en-GB" dirty="0"/>
              <a:t>KW: artery, arterial wall, </a:t>
            </a:r>
            <a:r>
              <a:rPr lang="en-GB" altLang="en-GB" dirty="0" err="1"/>
              <a:t>atherogenesis</a:t>
            </a:r>
            <a:r>
              <a:rPr lang="en-GB" altLang="en-GB" dirty="0"/>
              <a:t>, foam cell, fatty streak, plaque, macrophage, modified LDL, fibrous cap, collagen</a:t>
            </a:r>
          </a:p>
          <a:p>
            <a:pPr eaLnBrk="1" hangingPunct="1"/>
            <a:endParaRPr lang="en-GB" alt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E6692EC-5855-424B-AC2D-5FF32225295B}" type="slidenum">
              <a:rPr kumimoji="0" lang="en-US" sz="1200" b="0" i="0" u="none" strike="noStrike" kern="1200" cap="none" spc="0" normalizeH="0" baseline="0" noProof="0">
                <a:ln>
                  <a:noFill/>
                </a:ln>
                <a:solidFill>
                  <a:srgbClr val="FFFFFF"/>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7B863E7E-6EE4-4048-BCB1-B48D6454E391}" type="slidenum">
              <a:rPr lang="en-US">
                <a:latin typeface="Times New Roman" pitchFamily="18" charset="0"/>
              </a:rPr>
              <a:pPr/>
              <a:t>5</a:t>
            </a:fld>
            <a:endParaRPr 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9332AC57-7646-4C0E-8C42-6436C27AA049}" type="slidenum">
              <a:rPr lang="en-US">
                <a:latin typeface="Times New Roman" pitchFamily="18" charset="0"/>
              </a:rPr>
              <a:pPr/>
              <a:t>6</a:t>
            </a:fld>
            <a:endParaRPr lang="en-US">
              <a:latin typeface="Times New Roman" pitchFamily="18" charset="0"/>
            </a:endParaRPr>
          </a:p>
        </p:txBody>
      </p:sp>
      <p:sp>
        <p:nvSpPr>
          <p:cNvPr id="64515" name="Rectangle 1026"/>
          <p:cNvSpPr>
            <a:spLocks noGrp="1" noRot="1" noChangeAspect="1" noChangeArrowheads="1" noTextEdit="1"/>
          </p:cNvSpPr>
          <p:nvPr>
            <p:ph type="sldImg"/>
          </p:nvPr>
        </p:nvSpPr>
        <p:spPr>
          <a:ln/>
        </p:spPr>
      </p:sp>
      <p:sp>
        <p:nvSpPr>
          <p:cNvPr id="64516" name="Rectangle 1027"/>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D75DB80E-B8B7-48DC-B0FA-2DC24331BAC5}" type="slidenum">
              <a:rPr lang="en-US">
                <a:latin typeface="Times New Roman" pitchFamily="18" charset="0"/>
              </a:rPr>
              <a:pPr/>
              <a:t>8</a:t>
            </a:fld>
            <a:endParaRPr lang="en-US">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BB6C5A76-B5D2-4D05-AB8E-E349B6BA9521}" type="slidenum">
              <a:rPr lang="en-US">
                <a:latin typeface="Times New Roman" pitchFamily="18" charset="0"/>
              </a:rPr>
              <a:pPr/>
              <a:t>10</a:t>
            </a:fld>
            <a:endParaRPr 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844123-91EC-4C24-B761-A667F0698117}" type="slidenum">
              <a:rPr lang="en-US"/>
              <a:pPr/>
              <a:t>11</a:t>
            </a:fld>
            <a:endParaRPr lang="en-US"/>
          </a:p>
        </p:txBody>
      </p:sp>
      <p:sp>
        <p:nvSpPr>
          <p:cNvPr id="190466" name="Rectangle 2"/>
          <p:cNvSpPr>
            <a:spLocks noGrp="1" noRot="1" noChangeAspect="1" noChangeArrowheads="1" noTextEdit="1"/>
          </p:cNvSpPr>
          <p:nvPr>
            <p:ph type="sldImg"/>
          </p:nvPr>
        </p:nvSpPr>
        <p:spPr>
          <a:ln/>
        </p:spPr>
      </p:sp>
      <p:sp>
        <p:nvSpPr>
          <p:cNvPr id="190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3D3BCF7-6FA5-4AC8-A353-502F7E10706F}" type="slidenum">
              <a:rPr lang="en-US" smtClean="0"/>
              <a:pPr>
                <a:defRPr/>
              </a:pPr>
              <a:t>12</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13D3BCF7-6FA5-4AC8-A353-502F7E10706F}" type="slidenum">
              <a:rPr lang="en-US" smtClean="0"/>
              <a:pPr>
                <a:defRPr/>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71719808-99DC-4F9C-BA8B-140F8F9508FE}" type="slidenum">
              <a:rPr lang="en-US">
                <a:latin typeface="Times New Roman" pitchFamily="18" charset="0"/>
              </a:rPr>
              <a:pPr/>
              <a:t>16</a:t>
            </a:fld>
            <a:endParaRPr 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pPr defTabSz="903870">
              <a:defRPr/>
            </a:pPr>
            <a:fld id="{E2526D3B-0F2A-49CC-9F43-CA7DB7FC3D42}" type="slidenum">
              <a:rPr lang="en-US">
                <a:latin typeface="Times New Roman" pitchFamily="18" charset="0"/>
              </a:rPr>
              <a:pPr defTabSz="903870">
                <a:defRPr/>
              </a:pPr>
              <a:t>17</a:t>
            </a:fld>
            <a:endParaRPr 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6573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167EE13D-DE24-4637-BE9D-1372FF61E09E}" type="slidenum">
              <a:rPr lang="en-US">
                <a:latin typeface="Times New Roman" pitchFamily="18" charset="0"/>
              </a:rPr>
              <a:pPr/>
              <a:t>18</a:t>
            </a:fld>
            <a:endParaRPr lang="en-US">
              <a:latin typeface="Times New Roman"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DB0CFB85-8987-4805-BA1C-072D0648633B}" type="slidenum">
              <a:rPr lang="en-US">
                <a:latin typeface="Times New Roman" pitchFamily="18" charset="0"/>
              </a:rPr>
              <a:pPr/>
              <a:t>21</a:t>
            </a:fld>
            <a:endParaRPr lang="en-US">
              <a:latin typeface="Times New Roman"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7B80E-189E-0498-95DE-D9B844D46495}"/>
            </a:ext>
          </a:extLst>
        </p:cNvPr>
        <p:cNvGrpSpPr/>
        <p:nvPr/>
      </p:nvGrpSpPr>
      <p:grpSpPr>
        <a:xfrm>
          <a:off x="0" y="0"/>
          <a:ext cx="0" cy="0"/>
          <a:chOff x="0" y="0"/>
          <a:chExt cx="0" cy="0"/>
        </a:xfrm>
      </p:grpSpPr>
      <p:sp>
        <p:nvSpPr>
          <p:cNvPr id="87042" name="Rectangle 7">
            <a:extLst>
              <a:ext uri="{FF2B5EF4-FFF2-40B4-BE49-F238E27FC236}">
                <a16:creationId xmlns:a16="http://schemas.microsoft.com/office/drawing/2014/main" id="{508F68B5-CDCD-FE9E-A647-EB38DC16E773}"/>
              </a:ext>
            </a:extLst>
          </p:cNvPr>
          <p:cNvSpPr>
            <a:spLocks noGrp="1" noChangeArrowheads="1"/>
          </p:cNvSpPr>
          <p:nvPr>
            <p:ph type="sldNum" sz="quarter" idx="5"/>
          </p:nvPr>
        </p:nvSpPr>
        <p:spPr>
          <a:noFill/>
        </p:spPr>
        <p:txBody>
          <a:bodyPr/>
          <a:lstStyle/>
          <a:p>
            <a:fld id="{DB0CFB85-8987-4805-BA1C-072D0648633B}" type="slidenum">
              <a:rPr lang="en-US">
                <a:latin typeface="Times New Roman" pitchFamily="18" charset="0"/>
              </a:rPr>
              <a:pPr/>
              <a:t>25</a:t>
            </a:fld>
            <a:endParaRPr lang="en-US">
              <a:latin typeface="Times New Roman" pitchFamily="18" charset="0"/>
            </a:endParaRPr>
          </a:p>
        </p:txBody>
      </p:sp>
      <p:sp>
        <p:nvSpPr>
          <p:cNvPr id="87043" name="Rectangle 2">
            <a:extLst>
              <a:ext uri="{FF2B5EF4-FFF2-40B4-BE49-F238E27FC236}">
                <a16:creationId xmlns:a16="http://schemas.microsoft.com/office/drawing/2014/main" id="{EDF88302-B2F9-CFEB-2D18-AE79E80C7DFE}"/>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A33EEE0D-EFA9-684F-98D5-B491C677ABE2}"/>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329030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2AF0D9D5-DCBE-4C30-8596-E53FD77B462C}" type="slidenum">
              <a:rPr lang="en-US">
                <a:latin typeface="Times New Roman" pitchFamily="18" charset="0"/>
              </a:rPr>
              <a:pPr/>
              <a:t>27</a:t>
            </a:fld>
            <a:endParaRPr lang="en-US">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B609F967-6C68-4846-BAF5-67AF7CF541E6}" type="slidenum">
              <a:rPr lang="en-US">
                <a:latin typeface="Times New Roman" pitchFamily="18" charset="0"/>
              </a:rPr>
              <a:pPr/>
              <a:t>29</a:t>
            </a:fld>
            <a:endParaRPr lang="en-US">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81427CF1-FFB2-4296-8017-869FD7DD8B84}" type="slidenum">
              <a:rPr lang="en-US">
                <a:latin typeface="Times New Roman" pitchFamily="18" charset="0"/>
              </a:rPr>
              <a:pPr/>
              <a:t>31</a:t>
            </a:fld>
            <a:endParaRPr lang="en-US">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FUTURE RESEARCH</a:t>
            </a:r>
          </a:p>
        </p:txBody>
      </p:sp>
      <p:sp>
        <p:nvSpPr>
          <p:cNvPr id="7" name="Rectangle 7"/>
          <p:cNvSpPr>
            <a:spLocks noGrp="1" noChangeArrowheads="1"/>
          </p:cNvSpPr>
          <p:nvPr>
            <p:ph type="sldNum" sz="quarter" idx="5"/>
          </p:nvPr>
        </p:nvSpPr>
        <p:spPr>
          <a:ln/>
        </p:spPr>
        <p:txBody>
          <a:bodyPr/>
          <a:lstStyle/>
          <a:p>
            <a:fld id="{FF54CADF-A4B6-4729-A256-ED61C6041E1E}" type="slidenum">
              <a:rPr lang="en-US"/>
              <a:pPr/>
              <a:t>32</a:t>
            </a:fld>
            <a:endParaRPr lang="en-US"/>
          </a:p>
        </p:txBody>
      </p:sp>
      <p:sp>
        <p:nvSpPr>
          <p:cNvPr id="1299458" name="Rectangle 1026"/>
          <p:cNvSpPr>
            <a:spLocks noGrp="1" noRot="1" noChangeAspect="1" noChangeArrowheads="1" noTextEdit="1"/>
          </p:cNvSpPr>
          <p:nvPr>
            <p:ph type="sldImg"/>
          </p:nvPr>
        </p:nvSpPr>
        <p:spPr>
          <a:ln/>
        </p:spPr>
      </p:sp>
      <p:sp>
        <p:nvSpPr>
          <p:cNvPr id="1299459"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F01EF6E6-620C-4EB3-9169-E4B63203285E}" type="slidenum">
              <a:rPr lang="en-US">
                <a:latin typeface="Times New Roman" pitchFamily="18" charset="0"/>
              </a:rPr>
              <a:pPr/>
              <a:t>37</a:t>
            </a:fld>
            <a:endParaRPr lang="en-US">
              <a:latin typeface="Times New Roman"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45676832-D9E1-4475-A889-C2ABEA1BCD4E}" type="slidenum">
              <a:rPr lang="en-US">
                <a:latin typeface="Times New Roman" pitchFamily="18" charset="0"/>
              </a:rPr>
              <a:pPr/>
              <a:t>38</a:t>
            </a:fld>
            <a:endParaRPr 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4737" indent="-84737" defTabSz="451934" eaLnBrk="1">
              <a:lnSpc>
                <a:spcPct val="93000"/>
              </a:lnSpc>
              <a:spcBef>
                <a:spcPct val="0"/>
              </a:spcBef>
              <a:buClr>
                <a:srgbClr val="000000"/>
              </a:buClr>
              <a:buSzPct val="45000"/>
              <a:tabLst>
                <a:tab pos="715563" algn="l"/>
                <a:tab pos="1431127" algn="l"/>
                <a:tab pos="2146690" algn="l"/>
                <a:tab pos="2862252" algn="l"/>
                <a:tab pos="3577816" algn="l"/>
                <a:tab pos="4293379" algn="l"/>
                <a:tab pos="5008942" algn="l"/>
              </a:tabLst>
              <a:defRPr/>
            </a:pPr>
            <a:r>
              <a:rPr lang="en-GB" altLang="en-US" sz="1400" b="1" dirty="0">
                <a:solidFill>
                  <a:srgbClr val="000000"/>
                </a:solidFill>
                <a:latin typeface="Arial" panose="020B0604020202020204" pitchFamily="34" charset="0"/>
                <a:cs typeface="msgothic" charset="0"/>
              </a:rPr>
              <a:t>Vascular endothelial cells and the development of early atherosclerotic lesions.</a:t>
            </a:r>
            <a:r>
              <a:rPr lang="en-GB" altLang="en-US" dirty="0">
                <a:solidFill>
                  <a:srgbClr val="000000"/>
                </a:solidFill>
                <a:latin typeface="Arial" panose="020B0604020202020204" pitchFamily="34" charset="0"/>
                <a:cs typeface="msgothic" charset="0"/>
              </a:rPr>
              <a:t> Early lesions of atherosclerosis in the human carotid artery develop in the area of a major curvature (carotid sinus) exposed to low time-average shear stress, a high oscillatory shear index, and steep temporal and spatial gradients. Endothelial cells at this site display an atheroprone phenotype, which promotes a proinflammatory milieu driven by the priming of the NF-</a:t>
            </a:r>
            <a:r>
              <a:rPr lang="en-GB" altLang="en-US" dirty="0" err="1">
                <a:solidFill>
                  <a:srgbClr val="000000"/>
                </a:solidFill>
                <a:latin typeface="Arial" panose="020B0604020202020204" pitchFamily="34" charset="0"/>
                <a:cs typeface="msgothic" charset="0"/>
              </a:rPr>
              <a:t>κB</a:t>
            </a:r>
            <a:r>
              <a:rPr lang="en-GB" altLang="en-US" dirty="0">
                <a:solidFill>
                  <a:srgbClr val="000000"/>
                </a:solidFill>
                <a:latin typeface="Arial" panose="020B0604020202020204" pitchFamily="34" charset="0"/>
                <a:cs typeface="msgothic" charset="0"/>
              </a:rPr>
              <a:t> </a:t>
            </a:r>
            <a:r>
              <a:rPr lang="en-GB" altLang="en-US" dirty="0" err="1">
                <a:solidFill>
                  <a:srgbClr val="000000"/>
                </a:solidFill>
                <a:latin typeface="Arial" panose="020B0604020202020204" pitchFamily="34" charset="0"/>
                <a:cs typeface="msgothic" charset="0"/>
              </a:rPr>
              <a:t>signaling</a:t>
            </a:r>
            <a:r>
              <a:rPr lang="en-GB" altLang="en-US" dirty="0">
                <a:solidFill>
                  <a:srgbClr val="000000"/>
                </a:solidFill>
                <a:latin typeface="Arial" panose="020B0604020202020204" pitchFamily="34" charset="0"/>
                <a:cs typeface="msgothic" charset="0"/>
              </a:rPr>
              <a:t> pathway, which is then perpetuated in response to subendothelial </a:t>
            </a:r>
            <a:r>
              <a:rPr lang="en-GB" altLang="en-US" dirty="0" err="1">
                <a:solidFill>
                  <a:srgbClr val="000000"/>
                </a:solidFill>
                <a:latin typeface="Arial" panose="020B0604020202020204" pitchFamily="34" charset="0"/>
                <a:cs typeface="msgothic" charset="0"/>
              </a:rPr>
              <a:t>apoB</a:t>
            </a:r>
            <a:r>
              <a:rPr lang="en-GB" altLang="en-US" dirty="0">
                <a:solidFill>
                  <a:srgbClr val="000000"/>
                </a:solidFill>
                <a:latin typeface="Arial" panose="020B0604020202020204" pitchFamily="34" charset="0"/>
                <a:cs typeface="msgothic" charset="0"/>
              </a:rPr>
              <a:t> LPs. NF-</a:t>
            </a:r>
            <a:r>
              <a:rPr lang="en-GB" altLang="en-US" dirty="0" err="1">
                <a:solidFill>
                  <a:srgbClr val="000000"/>
                </a:solidFill>
                <a:latin typeface="Arial" panose="020B0604020202020204" pitchFamily="34" charset="0"/>
                <a:cs typeface="msgothic" charset="0"/>
              </a:rPr>
              <a:t>κB</a:t>
            </a:r>
            <a:r>
              <a:rPr lang="en-GB" altLang="en-US" dirty="0">
                <a:solidFill>
                  <a:srgbClr val="000000"/>
                </a:solidFill>
                <a:latin typeface="Arial" panose="020B0604020202020204" pitchFamily="34" charset="0"/>
                <a:cs typeface="msgothic" charset="0"/>
              </a:rPr>
              <a:t> activation promotes the entry of blood-borne monocytes (blue cells) through the junctions of endothelial cells (orange cells) into the intima, and there, monocytes differentiate into macrophages (red cells). In contrast, arterial geometries that are exposed to uniform laminar flow evoke an </a:t>
            </a:r>
            <a:r>
              <a:rPr lang="en-GB" altLang="en-US" dirty="0" err="1">
                <a:solidFill>
                  <a:srgbClr val="000000"/>
                </a:solidFill>
                <a:latin typeface="Arial" panose="020B0604020202020204" pitchFamily="34" charset="0"/>
                <a:cs typeface="msgothic" charset="0"/>
              </a:rPr>
              <a:t>atheroprotective</a:t>
            </a:r>
            <a:r>
              <a:rPr lang="en-GB" altLang="en-US" dirty="0">
                <a:solidFill>
                  <a:srgbClr val="000000"/>
                </a:solidFill>
                <a:latin typeface="Arial" panose="020B0604020202020204" pitchFamily="34" charset="0"/>
                <a:cs typeface="msgothic" charset="0"/>
              </a:rPr>
              <a:t> endothelial cell phenotype driven by the transcriptional integrators KLF2 and KLF4. This </a:t>
            </a:r>
            <a:r>
              <a:rPr lang="en-GB" altLang="en-US" dirty="0" err="1">
                <a:solidFill>
                  <a:srgbClr val="000000"/>
                </a:solidFill>
                <a:latin typeface="Arial" panose="020B0604020202020204" pitchFamily="34" charset="0"/>
                <a:cs typeface="msgothic" charset="0"/>
              </a:rPr>
              <a:t>atheroprotective</a:t>
            </a:r>
            <a:r>
              <a:rPr lang="en-GB" altLang="en-US" dirty="0">
                <a:solidFill>
                  <a:srgbClr val="000000"/>
                </a:solidFill>
                <a:latin typeface="Arial" panose="020B0604020202020204" pitchFamily="34" charset="0"/>
                <a:cs typeface="msgothic" charset="0"/>
              </a:rPr>
              <a:t> endothelial phenotype, together with a decrease in LP retention, promotes an </a:t>
            </a:r>
            <a:r>
              <a:rPr lang="en-GB" altLang="en-US" dirty="0" err="1">
                <a:solidFill>
                  <a:srgbClr val="000000"/>
                </a:solidFill>
                <a:latin typeface="Arial" panose="020B0604020202020204" pitchFamily="34" charset="0"/>
                <a:cs typeface="msgothic" charset="0"/>
              </a:rPr>
              <a:t>antiinflammatory</a:t>
            </a:r>
            <a:r>
              <a:rPr lang="en-GB" altLang="en-US" dirty="0">
                <a:solidFill>
                  <a:srgbClr val="000000"/>
                </a:solidFill>
                <a:latin typeface="Arial" panose="020B0604020202020204" pitchFamily="34" charset="0"/>
                <a:cs typeface="msgothic" charset="0"/>
              </a:rPr>
              <a:t> and antithrombotic environment that affords relative protection from atherosclerotic lesion development.</a:t>
            </a:r>
          </a:p>
          <a:p>
            <a:endParaRPr lang="en-US" dirty="0"/>
          </a:p>
        </p:txBody>
      </p:sp>
      <p:sp>
        <p:nvSpPr>
          <p:cNvPr id="4" name="Slide Number Placeholder 3"/>
          <p:cNvSpPr>
            <a:spLocks noGrp="1"/>
          </p:cNvSpPr>
          <p:nvPr>
            <p:ph type="sldNum" sz="quarter" idx="5"/>
          </p:nvPr>
        </p:nvSpPr>
        <p:spPr/>
        <p:txBody>
          <a:bodyPr/>
          <a:lstStyle/>
          <a:p>
            <a:pPr defTabSz="903870">
              <a:defRPr/>
            </a:pPr>
            <a:fld id="{13D3BCF7-6FA5-4AC8-A353-502F7E10706F}" type="slidenum">
              <a:rPr lang="en-US"/>
              <a:pPr defTabSz="903870">
                <a:defRPr/>
              </a:pPr>
              <a:t>40</a:t>
            </a:fld>
            <a:endParaRPr lang="en-US"/>
          </a:p>
        </p:txBody>
      </p:sp>
    </p:spTree>
    <p:extLst>
      <p:ext uri="{BB962C8B-B14F-4D97-AF65-F5344CB8AC3E}">
        <p14:creationId xmlns:p14="http://schemas.microsoft.com/office/powerpoint/2010/main" val="2527889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B3A07321-02D6-48BC-9A3C-5EF432689037}" type="slidenum">
              <a:rPr lang="en-US">
                <a:latin typeface="Times New Roman" pitchFamily="18" charset="0"/>
              </a:rPr>
              <a:pPr/>
              <a:t>45</a:t>
            </a:fld>
            <a:endParaRPr lang="en-US">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A9B889DE-D5AC-46FF-85A0-ED9BA3E8C457}" type="slidenum">
              <a:rPr lang="en-US">
                <a:latin typeface="Times New Roman" pitchFamily="18" charset="0"/>
              </a:rPr>
              <a:pPr/>
              <a:t>47</a:t>
            </a:fld>
            <a:endParaRPr lang="en-US">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6EBFC5EA-A76A-4F6E-A64C-5C66A222B1F4}" type="slidenum">
              <a:rPr lang="en-US">
                <a:latin typeface="Times New Roman" pitchFamily="18" charset="0"/>
              </a:rPr>
              <a:pPr/>
              <a:t>49</a:t>
            </a:fld>
            <a:endParaRPr 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2A1828AA-EDFC-4AE4-9A40-D823033C11F5}" type="slidenum">
              <a:rPr lang="en-US">
                <a:latin typeface="Times New Roman" pitchFamily="18" charset="0"/>
              </a:rPr>
              <a:pPr/>
              <a:t>50</a:t>
            </a:fld>
            <a:endParaRPr lang="en-US">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9C236353-ADDF-406F-B950-B806A9C06D9F}" type="slidenum">
              <a:rPr lang="en-US">
                <a:latin typeface="Times New Roman" pitchFamily="18" charset="0"/>
              </a:rPr>
              <a:pPr/>
              <a:t>52</a:t>
            </a:fld>
            <a:endParaRPr lang="en-US">
              <a:latin typeface="Times New Roman"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E3D519A6-3EA8-4AEC-BCC3-990CA8A6F496}" type="slidenum">
              <a:rPr lang="en-US">
                <a:latin typeface="Times New Roman" pitchFamily="18" charset="0"/>
              </a:rPr>
              <a:pPr/>
              <a:t>53</a:t>
            </a:fld>
            <a:endParaRPr lang="en-US">
              <a:latin typeface="Times New Roman"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3BD5FB10-2349-4B69-B92B-EC45742EAD77}" type="slidenum">
              <a:rPr lang="en-US">
                <a:latin typeface="Times New Roman" pitchFamily="18" charset="0"/>
              </a:rPr>
              <a:pPr/>
              <a:t>54</a:t>
            </a:fld>
            <a:endParaRPr lang="en-US">
              <a:latin typeface="Times New Roman"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8C1296E0-E04E-46D0-A304-01B60AFBDE67}" type="slidenum">
              <a:rPr lang="en-US">
                <a:latin typeface="Times New Roman" pitchFamily="18" charset="0"/>
              </a:rPr>
              <a:pPr/>
              <a:t>55</a:t>
            </a:fld>
            <a:endParaRPr lang="en-US">
              <a:latin typeface="Times New Roman"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98BED796-3374-4EF6-B5EC-0368BFB39694}" type="slidenum">
              <a:rPr lang="en-US">
                <a:latin typeface="Times New Roman" pitchFamily="18" charset="0"/>
              </a:rPr>
              <a:pPr/>
              <a:t>56</a:t>
            </a:fld>
            <a:endParaRPr lang="en-US">
              <a:latin typeface="Times New Roman" pitchFamily="18"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4230F6E3-0FEF-4D3A-AEDA-7542AD924D52}" type="slidenum">
              <a:rPr lang="en-US">
                <a:latin typeface="Times New Roman" pitchFamily="18" charset="0"/>
              </a:rPr>
              <a:pPr/>
              <a:t>57</a:t>
            </a:fld>
            <a:endParaRPr lang="en-US">
              <a:latin typeface="Times New Roman"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1.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7D372F-59F0-461C-900B-52D7CD7F13E4}"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FAA2455-5DB6-49DF-8015-052BCC7A5CA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D53D9F-2AC2-4E70-AEF6-71D61C97BF8F}"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A9E8657-1D25-4427-BEB5-1CA85B03BD3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5CD1B0A-B2BC-4378-B561-1AABB3915B15}"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E561941-4F23-4AEB-A016-875D4D707A3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59DA6C3-7610-435C-BDEE-AE8BE0815BE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1CBCA3-CEE3-40E2-9DEE-B37F042B415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285B269-C888-4CF0-B518-9259E278F9A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4CDC490-6BCD-4161-854D-77C3BBA627D9}"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7E9E088-304B-4E33-A46E-87E4653B146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122" name="Group 2"/>
          <p:cNvGrpSpPr>
            <a:grpSpLocks/>
          </p:cNvGrpSpPr>
          <p:nvPr/>
        </p:nvGrpSpPr>
        <p:grpSpPr bwMode="auto">
          <a:xfrm>
            <a:off x="4716463" y="5345113"/>
            <a:ext cx="4427537" cy="1512887"/>
            <a:chOff x="2971" y="3367"/>
            <a:chExt cx="2789" cy="953"/>
          </a:xfrm>
        </p:grpSpPr>
        <p:sp>
          <p:nvSpPr>
            <p:cNvPr id="5123" name="Freeform 3"/>
            <p:cNvSpPr>
              <a:spLocks/>
            </p:cNvSpPr>
            <p:nvPr/>
          </p:nvSpPr>
          <p:spPr bwMode="ltGray">
            <a:xfrm>
              <a:off x="2971" y="3367"/>
              <a:ext cx="2789" cy="953"/>
            </a:xfrm>
            <a:custGeom>
              <a:avLst/>
              <a:gdLst>
                <a:gd name="T0" fmla="*/ 2768 w 2780"/>
                <a:gd name="T1" fmla="*/ 18 h 953"/>
                <a:gd name="T2" fmla="*/ 2678 w 2780"/>
                <a:gd name="T3" fmla="*/ 24 h 953"/>
                <a:gd name="T4" fmla="*/ 2613 w 2780"/>
                <a:gd name="T5" fmla="*/ 102 h 953"/>
                <a:gd name="T6" fmla="*/ 2511 w 2780"/>
                <a:gd name="T7" fmla="*/ 156 h 953"/>
                <a:gd name="T8" fmla="*/ 2505 w 2780"/>
                <a:gd name="T9" fmla="*/ 222 h 953"/>
                <a:gd name="T10" fmla="*/ 2487 w 2780"/>
                <a:gd name="T11" fmla="*/ 246 h 953"/>
                <a:gd name="T12" fmla="*/ 2469 w 2780"/>
                <a:gd name="T13" fmla="*/ 252 h 953"/>
                <a:gd name="T14" fmla="*/ 2397 w 2780"/>
                <a:gd name="T15" fmla="*/ 210 h 953"/>
                <a:gd name="T16" fmla="*/ 2260 w 2780"/>
                <a:gd name="T17" fmla="*/ 192 h 953"/>
                <a:gd name="T18" fmla="*/ 2236 w 2780"/>
                <a:gd name="T19" fmla="*/ 186 h 953"/>
                <a:gd name="T20" fmla="*/ 2218 w 2780"/>
                <a:gd name="T21" fmla="*/ 192 h 953"/>
                <a:gd name="T22" fmla="*/ 2146 w 2780"/>
                <a:gd name="T23" fmla="*/ 228 h 953"/>
                <a:gd name="T24" fmla="*/ 2110 w 2780"/>
                <a:gd name="T25" fmla="*/ 240 h 953"/>
                <a:gd name="T26" fmla="*/ 2086 w 2780"/>
                <a:gd name="T27" fmla="*/ 246 h 953"/>
                <a:gd name="T28" fmla="*/ 2074 w 2780"/>
                <a:gd name="T29" fmla="*/ 258 h 953"/>
                <a:gd name="T30" fmla="*/ 2074 w 2780"/>
                <a:gd name="T31" fmla="*/ 276 h 953"/>
                <a:gd name="T32" fmla="*/ 2051 w 2780"/>
                <a:gd name="T33" fmla="*/ 300 h 953"/>
                <a:gd name="T34" fmla="*/ 2033 w 2780"/>
                <a:gd name="T35" fmla="*/ 312 h 953"/>
                <a:gd name="T36" fmla="*/ 2021 w 2780"/>
                <a:gd name="T37" fmla="*/ 324 h 953"/>
                <a:gd name="T38" fmla="*/ 2009 w 2780"/>
                <a:gd name="T39" fmla="*/ 336 h 953"/>
                <a:gd name="T40" fmla="*/ 1979 w 2780"/>
                <a:gd name="T41" fmla="*/ 342 h 953"/>
                <a:gd name="T42" fmla="*/ 1913 w 2780"/>
                <a:gd name="T43" fmla="*/ 336 h 953"/>
                <a:gd name="T44" fmla="*/ 1877 w 2780"/>
                <a:gd name="T45" fmla="*/ 330 h 953"/>
                <a:gd name="T46" fmla="*/ 1865 w 2780"/>
                <a:gd name="T47" fmla="*/ 342 h 953"/>
                <a:gd name="T48" fmla="*/ 1853 w 2780"/>
                <a:gd name="T49" fmla="*/ 354 h 953"/>
                <a:gd name="T50" fmla="*/ 1823 w 2780"/>
                <a:gd name="T51" fmla="*/ 360 h 953"/>
                <a:gd name="T52" fmla="*/ 1764 w 2780"/>
                <a:gd name="T53" fmla="*/ 342 h 953"/>
                <a:gd name="T54" fmla="*/ 1740 w 2780"/>
                <a:gd name="T55" fmla="*/ 342 h 953"/>
                <a:gd name="T56" fmla="*/ 1716 w 2780"/>
                <a:gd name="T57" fmla="*/ 354 h 953"/>
                <a:gd name="T58" fmla="*/ 1656 w 2780"/>
                <a:gd name="T59" fmla="*/ 425 h 953"/>
                <a:gd name="T60" fmla="*/ 1614 w 2780"/>
                <a:gd name="T61" fmla="*/ 569 h 953"/>
                <a:gd name="T62" fmla="*/ 1614 w 2780"/>
                <a:gd name="T63" fmla="*/ 593 h 953"/>
                <a:gd name="T64" fmla="*/ 1620 w 2780"/>
                <a:gd name="T65" fmla="*/ 641 h 953"/>
                <a:gd name="T66" fmla="*/ 1638 w 2780"/>
                <a:gd name="T67" fmla="*/ 659 h 953"/>
                <a:gd name="T68" fmla="*/ 1632 w 2780"/>
                <a:gd name="T69" fmla="*/ 671 h 953"/>
                <a:gd name="T70" fmla="*/ 1620 w 2780"/>
                <a:gd name="T71" fmla="*/ 683 h 953"/>
                <a:gd name="T72" fmla="*/ 1542 w 2780"/>
                <a:gd name="T73" fmla="*/ 689 h 953"/>
                <a:gd name="T74" fmla="*/ 1465 w 2780"/>
                <a:gd name="T75" fmla="*/ 629 h 953"/>
                <a:gd name="T76" fmla="*/ 1333 w 2780"/>
                <a:gd name="T77" fmla="*/ 587 h 953"/>
                <a:gd name="T78" fmla="*/ 1184 w 2780"/>
                <a:gd name="T79" fmla="*/ 671 h 953"/>
                <a:gd name="T80" fmla="*/ 1016 w 2780"/>
                <a:gd name="T81" fmla="*/ 731 h 953"/>
                <a:gd name="T82" fmla="*/ 813 w 2780"/>
                <a:gd name="T83" fmla="*/ 743 h 953"/>
                <a:gd name="T84" fmla="*/ 628 w 2780"/>
                <a:gd name="T85" fmla="*/ 701 h 953"/>
                <a:gd name="T86" fmla="*/ 568 w 2780"/>
                <a:gd name="T87" fmla="*/ 695 h 953"/>
                <a:gd name="T88" fmla="*/ 556 w 2780"/>
                <a:gd name="T89" fmla="*/ 701 h 953"/>
                <a:gd name="T90" fmla="*/ 520 w 2780"/>
                <a:gd name="T91" fmla="*/ 731 h 953"/>
                <a:gd name="T92" fmla="*/ 436 w 2780"/>
                <a:gd name="T93" fmla="*/ 809 h 953"/>
                <a:gd name="T94" fmla="*/ 406 w 2780"/>
                <a:gd name="T95" fmla="*/ 821 h 953"/>
                <a:gd name="T96" fmla="*/ 382 w 2780"/>
                <a:gd name="T97" fmla="*/ 821 h 953"/>
                <a:gd name="T98" fmla="*/ 335 w 2780"/>
                <a:gd name="T99" fmla="*/ 827 h 953"/>
                <a:gd name="T100" fmla="*/ 209 w 2780"/>
                <a:gd name="T101" fmla="*/ 851 h 953"/>
                <a:gd name="T102" fmla="*/ 173 w 2780"/>
                <a:gd name="T103" fmla="*/ 857 h 953"/>
                <a:gd name="T104" fmla="*/ 125 w 2780"/>
                <a:gd name="T105" fmla="*/ 851 h 953"/>
                <a:gd name="T106" fmla="*/ 107 w 2780"/>
                <a:gd name="T107" fmla="*/ 857 h 953"/>
                <a:gd name="T108" fmla="*/ 101 w 2780"/>
                <a:gd name="T109" fmla="*/ 875 h 953"/>
                <a:gd name="T110" fmla="*/ 83 w 2780"/>
                <a:gd name="T111" fmla="*/ 887 h 953"/>
                <a:gd name="T112" fmla="*/ 48 w 2780"/>
                <a:gd name="T113" fmla="*/ 899 h 953"/>
                <a:gd name="T114" fmla="*/ 2780 w 2780"/>
                <a:gd name="T115" fmla="*/ 24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80" h="953">
                  <a:moveTo>
                    <a:pt x="2780" y="24"/>
                  </a:moveTo>
                  <a:lnTo>
                    <a:pt x="2774" y="24"/>
                  </a:lnTo>
                  <a:lnTo>
                    <a:pt x="2774" y="18"/>
                  </a:lnTo>
                  <a:lnTo>
                    <a:pt x="2768" y="18"/>
                  </a:lnTo>
                  <a:lnTo>
                    <a:pt x="2756" y="12"/>
                  </a:lnTo>
                  <a:lnTo>
                    <a:pt x="2738" y="6"/>
                  </a:lnTo>
                  <a:lnTo>
                    <a:pt x="2714" y="0"/>
                  </a:lnTo>
                  <a:lnTo>
                    <a:pt x="2678" y="24"/>
                  </a:lnTo>
                  <a:lnTo>
                    <a:pt x="2643" y="54"/>
                  </a:lnTo>
                  <a:lnTo>
                    <a:pt x="2619" y="90"/>
                  </a:lnTo>
                  <a:lnTo>
                    <a:pt x="2613" y="96"/>
                  </a:lnTo>
                  <a:lnTo>
                    <a:pt x="2613" y="102"/>
                  </a:lnTo>
                  <a:lnTo>
                    <a:pt x="2601" y="108"/>
                  </a:lnTo>
                  <a:lnTo>
                    <a:pt x="2583" y="120"/>
                  </a:lnTo>
                  <a:lnTo>
                    <a:pt x="2541" y="132"/>
                  </a:lnTo>
                  <a:lnTo>
                    <a:pt x="2511" y="156"/>
                  </a:lnTo>
                  <a:lnTo>
                    <a:pt x="2511" y="204"/>
                  </a:lnTo>
                  <a:lnTo>
                    <a:pt x="2511" y="210"/>
                  </a:lnTo>
                  <a:lnTo>
                    <a:pt x="2505" y="216"/>
                  </a:lnTo>
                  <a:lnTo>
                    <a:pt x="2505" y="222"/>
                  </a:lnTo>
                  <a:lnTo>
                    <a:pt x="2499" y="228"/>
                  </a:lnTo>
                  <a:lnTo>
                    <a:pt x="2499" y="240"/>
                  </a:lnTo>
                  <a:lnTo>
                    <a:pt x="2493" y="246"/>
                  </a:lnTo>
                  <a:lnTo>
                    <a:pt x="2487" y="246"/>
                  </a:lnTo>
                  <a:lnTo>
                    <a:pt x="2487" y="252"/>
                  </a:lnTo>
                  <a:lnTo>
                    <a:pt x="2481" y="252"/>
                  </a:lnTo>
                  <a:lnTo>
                    <a:pt x="2475" y="252"/>
                  </a:lnTo>
                  <a:lnTo>
                    <a:pt x="2469" y="252"/>
                  </a:lnTo>
                  <a:lnTo>
                    <a:pt x="2457" y="252"/>
                  </a:lnTo>
                  <a:lnTo>
                    <a:pt x="2439" y="258"/>
                  </a:lnTo>
                  <a:lnTo>
                    <a:pt x="2415" y="222"/>
                  </a:lnTo>
                  <a:lnTo>
                    <a:pt x="2397" y="210"/>
                  </a:lnTo>
                  <a:lnTo>
                    <a:pt x="2373" y="216"/>
                  </a:lnTo>
                  <a:lnTo>
                    <a:pt x="2332" y="216"/>
                  </a:lnTo>
                  <a:lnTo>
                    <a:pt x="2296" y="204"/>
                  </a:lnTo>
                  <a:lnTo>
                    <a:pt x="2260" y="192"/>
                  </a:lnTo>
                  <a:lnTo>
                    <a:pt x="2260" y="192"/>
                  </a:lnTo>
                  <a:lnTo>
                    <a:pt x="2248" y="186"/>
                  </a:lnTo>
                  <a:lnTo>
                    <a:pt x="2242" y="186"/>
                  </a:lnTo>
                  <a:lnTo>
                    <a:pt x="2236" y="186"/>
                  </a:lnTo>
                  <a:lnTo>
                    <a:pt x="2230" y="186"/>
                  </a:lnTo>
                  <a:lnTo>
                    <a:pt x="2224" y="192"/>
                  </a:lnTo>
                  <a:lnTo>
                    <a:pt x="2224" y="192"/>
                  </a:lnTo>
                  <a:lnTo>
                    <a:pt x="2218" y="192"/>
                  </a:lnTo>
                  <a:lnTo>
                    <a:pt x="2212" y="198"/>
                  </a:lnTo>
                  <a:lnTo>
                    <a:pt x="2194" y="204"/>
                  </a:lnTo>
                  <a:lnTo>
                    <a:pt x="2170" y="210"/>
                  </a:lnTo>
                  <a:lnTo>
                    <a:pt x="2146" y="228"/>
                  </a:lnTo>
                  <a:lnTo>
                    <a:pt x="2122" y="240"/>
                  </a:lnTo>
                  <a:lnTo>
                    <a:pt x="2116" y="240"/>
                  </a:lnTo>
                  <a:lnTo>
                    <a:pt x="2110" y="240"/>
                  </a:lnTo>
                  <a:lnTo>
                    <a:pt x="2110" y="240"/>
                  </a:lnTo>
                  <a:lnTo>
                    <a:pt x="2104" y="240"/>
                  </a:lnTo>
                  <a:lnTo>
                    <a:pt x="2098" y="246"/>
                  </a:lnTo>
                  <a:lnTo>
                    <a:pt x="2092" y="246"/>
                  </a:lnTo>
                  <a:lnTo>
                    <a:pt x="2086" y="246"/>
                  </a:lnTo>
                  <a:lnTo>
                    <a:pt x="2080" y="252"/>
                  </a:lnTo>
                  <a:lnTo>
                    <a:pt x="2080" y="258"/>
                  </a:lnTo>
                  <a:lnTo>
                    <a:pt x="2074" y="258"/>
                  </a:lnTo>
                  <a:lnTo>
                    <a:pt x="2074" y="258"/>
                  </a:lnTo>
                  <a:lnTo>
                    <a:pt x="2074" y="264"/>
                  </a:lnTo>
                  <a:lnTo>
                    <a:pt x="2074" y="264"/>
                  </a:lnTo>
                  <a:lnTo>
                    <a:pt x="2074" y="270"/>
                  </a:lnTo>
                  <a:lnTo>
                    <a:pt x="2074" y="276"/>
                  </a:lnTo>
                  <a:lnTo>
                    <a:pt x="2069" y="288"/>
                  </a:lnTo>
                  <a:lnTo>
                    <a:pt x="2057" y="300"/>
                  </a:lnTo>
                  <a:lnTo>
                    <a:pt x="2057" y="300"/>
                  </a:lnTo>
                  <a:lnTo>
                    <a:pt x="2051" y="300"/>
                  </a:lnTo>
                  <a:lnTo>
                    <a:pt x="2045" y="300"/>
                  </a:lnTo>
                  <a:lnTo>
                    <a:pt x="2039" y="306"/>
                  </a:lnTo>
                  <a:lnTo>
                    <a:pt x="2033" y="306"/>
                  </a:lnTo>
                  <a:lnTo>
                    <a:pt x="2033" y="312"/>
                  </a:lnTo>
                  <a:lnTo>
                    <a:pt x="2027" y="312"/>
                  </a:lnTo>
                  <a:lnTo>
                    <a:pt x="2027" y="318"/>
                  </a:lnTo>
                  <a:lnTo>
                    <a:pt x="2027" y="318"/>
                  </a:lnTo>
                  <a:lnTo>
                    <a:pt x="2021" y="324"/>
                  </a:lnTo>
                  <a:lnTo>
                    <a:pt x="2021" y="324"/>
                  </a:lnTo>
                  <a:lnTo>
                    <a:pt x="2015" y="330"/>
                  </a:lnTo>
                  <a:lnTo>
                    <a:pt x="2015" y="330"/>
                  </a:lnTo>
                  <a:lnTo>
                    <a:pt x="2009" y="336"/>
                  </a:lnTo>
                  <a:lnTo>
                    <a:pt x="1997" y="336"/>
                  </a:lnTo>
                  <a:lnTo>
                    <a:pt x="1991" y="342"/>
                  </a:lnTo>
                  <a:lnTo>
                    <a:pt x="1985" y="342"/>
                  </a:lnTo>
                  <a:lnTo>
                    <a:pt x="1979" y="342"/>
                  </a:lnTo>
                  <a:lnTo>
                    <a:pt x="1961" y="336"/>
                  </a:lnTo>
                  <a:lnTo>
                    <a:pt x="1925" y="336"/>
                  </a:lnTo>
                  <a:lnTo>
                    <a:pt x="1919" y="336"/>
                  </a:lnTo>
                  <a:lnTo>
                    <a:pt x="1913" y="336"/>
                  </a:lnTo>
                  <a:lnTo>
                    <a:pt x="1895" y="330"/>
                  </a:lnTo>
                  <a:lnTo>
                    <a:pt x="1889" y="330"/>
                  </a:lnTo>
                  <a:lnTo>
                    <a:pt x="1883" y="330"/>
                  </a:lnTo>
                  <a:lnTo>
                    <a:pt x="1877" y="330"/>
                  </a:lnTo>
                  <a:lnTo>
                    <a:pt x="1877" y="330"/>
                  </a:lnTo>
                  <a:lnTo>
                    <a:pt x="1871" y="336"/>
                  </a:lnTo>
                  <a:lnTo>
                    <a:pt x="1871" y="336"/>
                  </a:lnTo>
                  <a:lnTo>
                    <a:pt x="1865" y="342"/>
                  </a:lnTo>
                  <a:lnTo>
                    <a:pt x="1865" y="342"/>
                  </a:lnTo>
                  <a:lnTo>
                    <a:pt x="1859" y="348"/>
                  </a:lnTo>
                  <a:lnTo>
                    <a:pt x="1859" y="348"/>
                  </a:lnTo>
                  <a:lnTo>
                    <a:pt x="1853" y="354"/>
                  </a:lnTo>
                  <a:lnTo>
                    <a:pt x="1847" y="354"/>
                  </a:lnTo>
                  <a:lnTo>
                    <a:pt x="1835" y="360"/>
                  </a:lnTo>
                  <a:lnTo>
                    <a:pt x="1829" y="360"/>
                  </a:lnTo>
                  <a:lnTo>
                    <a:pt x="1823" y="360"/>
                  </a:lnTo>
                  <a:lnTo>
                    <a:pt x="1817" y="360"/>
                  </a:lnTo>
                  <a:lnTo>
                    <a:pt x="1776" y="342"/>
                  </a:lnTo>
                  <a:lnTo>
                    <a:pt x="1770" y="342"/>
                  </a:lnTo>
                  <a:lnTo>
                    <a:pt x="1764" y="342"/>
                  </a:lnTo>
                  <a:lnTo>
                    <a:pt x="1758" y="342"/>
                  </a:lnTo>
                  <a:lnTo>
                    <a:pt x="1746" y="342"/>
                  </a:lnTo>
                  <a:lnTo>
                    <a:pt x="1746" y="342"/>
                  </a:lnTo>
                  <a:lnTo>
                    <a:pt x="1740" y="342"/>
                  </a:lnTo>
                  <a:lnTo>
                    <a:pt x="1734" y="342"/>
                  </a:lnTo>
                  <a:lnTo>
                    <a:pt x="1728" y="348"/>
                  </a:lnTo>
                  <a:lnTo>
                    <a:pt x="1722" y="348"/>
                  </a:lnTo>
                  <a:lnTo>
                    <a:pt x="1716" y="354"/>
                  </a:lnTo>
                  <a:lnTo>
                    <a:pt x="1704" y="366"/>
                  </a:lnTo>
                  <a:lnTo>
                    <a:pt x="1698" y="378"/>
                  </a:lnTo>
                  <a:lnTo>
                    <a:pt x="1674" y="402"/>
                  </a:lnTo>
                  <a:lnTo>
                    <a:pt x="1656" y="425"/>
                  </a:lnTo>
                  <a:lnTo>
                    <a:pt x="1632" y="461"/>
                  </a:lnTo>
                  <a:lnTo>
                    <a:pt x="1614" y="509"/>
                  </a:lnTo>
                  <a:lnTo>
                    <a:pt x="1614" y="563"/>
                  </a:lnTo>
                  <a:lnTo>
                    <a:pt x="1614" y="569"/>
                  </a:lnTo>
                  <a:lnTo>
                    <a:pt x="1614" y="575"/>
                  </a:lnTo>
                  <a:lnTo>
                    <a:pt x="1614" y="581"/>
                  </a:lnTo>
                  <a:lnTo>
                    <a:pt x="1614" y="587"/>
                  </a:lnTo>
                  <a:lnTo>
                    <a:pt x="1614" y="593"/>
                  </a:lnTo>
                  <a:lnTo>
                    <a:pt x="1614" y="599"/>
                  </a:lnTo>
                  <a:lnTo>
                    <a:pt x="1614" y="605"/>
                  </a:lnTo>
                  <a:lnTo>
                    <a:pt x="1614" y="617"/>
                  </a:lnTo>
                  <a:lnTo>
                    <a:pt x="1620" y="641"/>
                  </a:lnTo>
                  <a:lnTo>
                    <a:pt x="1626" y="641"/>
                  </a:lnTo>
                  <a:lnTo>
                    <a:pt x="1632" y="647"/>
                  </a:lnTo>
                  <a:lnTo>
                    <a:pt x="1632" y="659"/>
                  </a:lnTo>
                  <a:lnTo>
                    <a:pt x="1638" y="659"/>
                  </a:lnTo>
                  <a:lnTo>
                    <a:pt x="1638" y="665"/>
                  </a:lnTo>
                  <a:lnTo>
                    <a:pt x="1638" y="665"/>
                  </a:lnTo>
                  <a:lnTo>
                    <a:pt x="1638" y="671"/>
                  </a:lnTo>
                  <a:lnTo>
                    <a:pt x="1632" y="671"/>
                  </a:lnTo>
                  <a:lnTo>
                    <a:pt x="1632" y="677"/>
                  </a:lnTo>
                  <a:lnTo>
                    <a:pt x="1632" y="677"/>
                  </a:lnTo>
                  <a:lnTo>
                    <a:pt x="1626" y="677"/>
                  </a:lnTo>
                  <a:lnTo>
                    <a:pt x="1620" y="683"/>
                  </a:lnTo>
                  <a:lnTo>
                    <a:pt x="1596" y="689"/>
                  </a:lnTo>
                  <a:lnTo>
                    <a:pt x="1572" y="689"/>
                  </a:lnTo>
                  <a:lnTo>
                    <a:pt x="1548" y="689"/>
                  </a:lnTo>
                  <a:lnTo>
                    <a:pt x="1542" y="689"/>
                  </a:lnTo>
                  <a:lnTo>
                    <a:pt x="1536" y="689"/>
                  </a:lnTo>
                  <a:lnTo>
                    <a:pt x="1518" y="683"/>
                  </a:lnTo>
                  <a:lnTo>
                    <a:pt x="1495" y="671"/>
                  </a:lnTo>
                  <a:lnTo>
                    <a:pt x="1465" y="629"/>
                  </a:lnTo>
                  <a:lnTo>
                    <a:pt x="1435" y="599"/>
                  </a:lnTo>
                  <a:lnTo>
                    <a:pt x="1405" y="581"/>
                  </a:lnTo>
                  <a:lnTo>
                    <a:pt x="1375" y="563"/>
                  </a:lnTo>
                  <a:lnTo>
                    <a:pt x="1333" y="587"/>
                  </a:lnTo>
                  <a:lnTo>
                    <a:pt x="1303" y="653"/>
                  </a:lnTo>
                  <a:lnTo>
                    <a:pt x="1261" y="665"/>
                  </a:lnTo>
                  <a:lnTo>
                    <a:pt x="1219" y="653"/>
                  </a:lnTo>
                  <a:lnTo>
                    <a:pt x="1184" y="671"/>
                  </a:lnTo>
                  <a:lnTo>
                    <a:pt x="1136" y="671"/>
                  </a:lnTo>
                  <a:lnTo>
                    <a:pt x="1106" y="671"/>
                  </a:lnTo>
                  <a:lnTo>
                    <a:pt x="1076" y="707"/>
                  </a:lnTo>
                  <a:lnTo>
                    <a:pt x="1016" y="731"/>
                  </a:lnTo>
                  <a:lnTo>
                    <a:pt x="944" y="761"/>
                  </a:lnTo>
                  <a:lnTo>
                    <a:pt x="921" y="773"/>
                  </a:lnTo>
                  <a:lnTo>
                    <a:pt x="867" y="773"/>
                  </a:lnTo>
                  <a:lnTo>
                    <a:pt x="813" y="743"/>
                  </a:lnTo>
                  <a:lnTo>
                    <a:pt x="783" y="719"/>
                  </a:lnTo>
                  <a:lnTo>
                    <a:pt x="741" y="713"/>
                  </a:lnTo>
                  <a:lnTo>
                    <a:pt x="693" y="701"/>
                  </a:lnTo>
                  <a:lnTo>
                    <a:pt x="628" y="701"/>
                  </a:lnTo>
                  <a:lnTo>
                    <a:pt x="616" y="701"/>
                  </a:lnTo>
                  <a:lnTo>
                    <a:pt x="598" y="695"/>
                  </a:lnTo>
                  <a:lnTo>
                    <a:pt x="580" y="695"/>
                  </a:lnTo>
                  <a:lnTo>
                    <a:pt x="568" y="695"/>
                  </a:lnTo>
                  <a:lnTo>
                    <a:pt x="568" y="695"/>
                  </a:lnTo>
                  <a:lnTo>
                    <a:pt x="562" y="701"/>
                  </a:lnTo>
                  <a:lnTo>
                    <a:pt x="556" y="701"/>
                  </a:lnTo>
                  <a:lnTo>
                    <a:pt x="556" y="701"/>
                  </a:lnTo>
                  <a:lnTo>
                    <a:pt x="556" y="701"/>
                  </a:lnTo>
                  <a:lnTo>
                    <a:pt x="550" y="707"/>
                  </a:lnTo>
                  <a:lnTo>
                    <a:pt x="544" y="713"/>
                  </a:lnTo>
                  <a:lnTo>
                    <a:pt x="520" y="731"/>
                  </a:lnTo>
                  <a:lnTo>
                    <a:pt x="496" y="749"/>
                  </a:lnTo>
                  <a:lnTo>
                    <a:pt x="460" y="785"/>
                  </a:lnTo>
                  <a:lnTo>
                    <a:pt x="454" y="791"/>
                  </a:lnTo>
                  <a:lnTo>
                    <a:pt x="436" y="809"/>
                  </a:lnTo>
                  <a:lnTo>
                    <a:pt x="424" y="815"/>
                  </a:lnTo>
                  <a:lnTo>
                    <a:pt x="418" y="821"/>
                  </a:lnTo>
                  <a:lnTo>
                    <a:pt x="412" y="821"/>
                  </a:lnTo>
                  <a:lnTo>
                    <a:pt x="406" y="821"/>
                  </a:lnTo>
                  <a:lnTo>
                    <a:pt x="400" y="821"/>
                  </a:lnTo>
                  <a:lnTo>
                    <a:pt x="394" y="821"/>
                  </a:lnTo>
                  <a:lnTo>
                    <a:pt x="388" y="821"/>
                  </a:lnTo>
                  <a:lnTo>
                    <a:pt x="382" y="821"/>
                  </a:lnTo>
                  <a:lnTo>
                    <a:pt x="370" y="821"/>
                  </a:lnTo>
                  <a:lnTo>
                    <a:pt x="358" y="821"/>
                  </a:lnTo>
                  <a:lnTo>
                    <a:pt x="352" y="821"/>
                  </a:lnTo>
                  <a:lnTo>
                    <a:pt x="335" y="827"/>
                  </a:lnTo>
                  <a:lnTo>
                    <a:pt x="329" y="827"/>
                  </a:lnTo>
                  <a:lnTo>
                    <a:pt x="233" y="839"/>
                  </a:lnTo>
                  <a:lnTo>
                    <a:pt x="227" y="845"/>
                  </a:lnTo>
                  <a:lnTo>
                    <a:pt x="209" y="851"/>
                  </a:lnTo>
                  <a:lnTo>
                    <a:pt x="197" y="851"/>
                  </a:lnTo>
                  <a:lnTo>
                    <a:pt x="185" y="857"/>
                  </a:lnTo>
                  <a:lnTo>
                    <a:pt x="179" y="857"/>
                  </a:lnTo>
                  <a:lnTo>
                    <a:pt x="173" y="857"/>
                  </a:lnTo>
                  <a:lnTo>
                    <a:pt x="167" y="857"/>
                  </a:lnTo>
                  <a:lnTo>
                    <a:pt x="149" y="851"/>
                  </a:lnTo>
                  <a:lnTo>
                    <a:pt x="137" y="851"/>
                  </a:lnTo>
                  <a:lnTo>
                    <a:pt x="125" y="851"/>
                  </a:lnTo>
                  <a:lnTo>
                    <a:pt x="119" y="857"/>
                  </a:lnTo>
                  <a:lnTo>
                    <a:pt x="113" y="857"/>
                  </a:lnTo>
                  <a:lnTo>
                    <a:pt x="107" y="857"/>
                  </a:lnTo>
                  <a:lnTo>
                    <a:pt x="107" y="857"/>
                  </a:lnTo>
                  <a:lnTo>
                    <a:pt x="101" y="863"/>
                  </a:lnTo>
                  <a:lnTo>
                    <a:pt x="101" y="863"/>
                  </a:lnTo>
                  <a:lnTo>
                    <a:pt x="101" y="869"/>
                  </a:lnTo>
                  <a:lnTo>
                    <a:pt x="101" y="875"/>
                  </a:lnTo>
                  <a:lnTo>
                    <a:pt x="95" y="875"/>
                  </a:lnTo>
                  <a:lnTo>
                    <a:pt x="95" y="881"/>
                  </a:lnTo>
                  <a:lnTo>
                    <a:pt x="89" y="881"/>
                  </a:lnTo>
                  <a:lnTo>
                    <a:pt x="83" y="887"/>
                  </a:lnTo>
                  <a:lnTo>
                    <a:pt x="77" y="887"/>
                  </a:lnTo>
                  <a:lnTo>
                    <a:pt x="60" y="893"/>
                  </a:lnTo>
                  <a:lnTo>
                    <a:pt x="54" y="899"/>
                  </a:lnTo>
                  <a:lnTo>
                    <a:pt x="48" y="899"/>
                  </a:lnTo>
                  <a:lnTo>
                    <a:pt x="48" y="905"/>
                  </a:lnTo>
                  <a:lnTo>
                    <a:pt x="0" y="953"/>
                  </a:lnTo>
                  <a:lnTo>
                    <a:pt x="2780" y="953"/>
                  </a:lnTo>
                  <a:lnTo>
                    <a:pt x="2780" y="24"/>
                  </a:lnTo>
                  <a:lnTo>
                    <a:pt x="2780" y="24"/>
                  </a:lnTo>
                  <a:lnTo>
                    <a:pt x="2780" y="24"/>
                  </a:lnTo>
                </a:path>
              </a:pathLst>
            </a:custGeom>
            <a:gradFill rotWithShape="0">
              <a:gsLst>
                <a:gs pos="0">
                  <a:schemeClr val="bg1"/>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4" name="Freeform 4"/>
            <p:cNvSpPr>
              <a:spLocks/>
            </p:cNvSpPr>
            <p:nvPr/>
          </p:nvSpPr>
          <p:spPr bwMode="ltGray">
            <a:xfrm>
              <a:off x="4602" y="4014"/>
              <a:ext cx="12" cy="18"/>
            </a:xfrm>
            <a:custGeom>
              <a:avLst/>
              <a:gdLst>
                <a:gd name="T0" fmla="*/ 12 w 12"/>
                <a:gd name="T1" fmla="*/ 18 h 18"/>
                <a:gd name="T2" fmla="*/ 12 w 12"/>
                <a:gd name="T3" fmla="*/ 12 h 18"/>
                <a:gd name="T4" fmla="*/ 6 w 12"/>
                <a:gd name="T5" fmla="*/ 6 h 18"/>
                <a:gd name="T6" fmla="*/ 6 w 12"/>
                <a:gd name="T7" fmla="*/ 6 h 18"/>
                <a:gd name="T8" fmla="*/ 0 w 12"/>
                <a:gd name="T9" fmla="*/ 0 h 18"/>
                <a:gd name="T10" fmla="*/ 12 w 12"/>
                <a:gd name="T11" fmla="*/ 18 h 18"/>
                <a:gd name="T12" fmla="*/ 12 w 12"/>
                <a:gd name="T13" fmla="*/ 18 h 18"/>
                <a:gd name="T14" fmla="*/ 12 w 12"/>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8">
                  <a:moveTo>
                    <a:pt x="12" y="18"/>
                  </a:moveTo>
                  <a:lnTo>
                    <a:pt x="12" y="12"/>
                  </a:lnTo>
                  <a:lnTo>
                    <a:pt x="6" y="6"/>
                  </a:lnTo>
                  <a:lnTo>
                    <a:pt x="6" y="6"/>
                  </a:lnTo>
                  <a:lnTo>
                    <a:pt x="0" y="0"/>
                  </a:lnTo>
                  <a:lnTo>
                    <a:pt x="12" y="18"/>
                  </a:lnTo>
                  <a:lnTo>
                    <a:pt x="12" y="18"/>
                  </a:lnTo>
                  <a:lnTo>
                    <a:pt x="12" y="18"/>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5" name="Freeform 5"/>
            <p:cNvSpPr>
              <a:spLocks/>
            </p:cNvSpPr>
            <p:nvPr/>
          </p:nvSpPr>
          <p:spPr bwMode="ltGray">
            <a:xfrm>
              <a:off x="4596" y="3996"/>
              <a:ext cx="6" cy="18"/>
            </a:xfrm>
            <a:custGeom>
              <a:avLst/>
              <a:gdLst>
                <a:gd name="T0" fmla="*/ 0 w 6"/>
                <a:gd name="T1" fmla="*/ 12 h 18"/>
                <a:gd name="T2" fmla="*/ 6 w 6"/>
                <a:gd name="T3" fmla="*/ 18 h 18"/>
                <a:gd name="T4" fmla="*/ 0 w 6"/>
                <a:gd name="T5" fmla="*/ 0 h 18"/>
                <a:gd name="T6" fmla="*/ 0 w 6"/>
                <a:gd name="T7" fmla="*/ 12 h 18"/>
                <a:gd name="T8" fmla="*/ 0 w 6"/>
                <a:gd name="T9" fmla="*/ 12 h 18"/>
                <a:gd name="T10" fmla="*/ 0 w 6"/>
                <a:gd name="T11" fmla="*/ 12 h 18"/>
              </a:gdLst>
              <a:ahLst/>
              <a:cxnLst>
                <a:cxn ang="0">
                  <a:pos x="T0" y="T1"/>
                </a:cxn>
                <a:cxn ang="0">
                  <a:pos x="T2" y="T3"/>
                </a:cxn>
                <a:cxn ang="0">
                  <a:pos x="T4" y="T5"/>
                </a:cxn>
                <a:cxn ang="0">
                  <a:pos x="T6" y="T7"/>
                </a:cxn>
                <a:cxn ang="0">
                  <a:pos x="T8" y="T9"/>
                </a:cxn>
                <a:cxn ang="0">
                  <a:pos x="T10" y="T11"/>
                </a:cxn>
              </a:cxnLst>
              <a:rect l="0" t="0" r="r" b="b"/>
              <a:pathLst>
                <a:path w="6" h="18">
                  <a:moveTo>
                    <a:pt x="0" y="12"/>
                  </a:moveTo>
                  <a:lnTo>
                    <a:pt x="6" y="18"/>
                  </a:lnTo>
                  <a:lnTo>
                    <a:pt x="0" y="0"/>
                  </a:lnTo>
                  <a:lnTo>
                    <a:pt x="0" y="12"/>
                  </a:lnTo>
                  <a:lnTo>
                    <a:pt x="0" y="12"/>
                  </a:lnTo>
                  <a:lnTo>
                    <a:pt x="0"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6" name="Freeform 6"/>
            <p:cNvSpPr>
              <a:spLocks/>
            </p:cNvSpPr>
            <p:nvPr/>
          </p:nvSpPr>
          <p:spPr bwMode="ltGray">
            <a:xfrm>
              <a:off x="5180" y="3577"/>
              <a:ext cx="304" cy="741"/>
            </a:xfrm>
            <a:custGeom>
              <a:avLst/>
              <a:gdLst>
                <a:gd name="T0" fmla="*/ 280 w 304"/>
                <a:gd name="T1" fmla="*/ 42 h 741"/>
                <a:gd name="T2" fmla="*/ 274 w 304"/>
                <a:gd name="T3" fmla="*/ 42 h 741"/>
                <a:gd name="T4" fmla="*/ 268 w 304"/>
                <a:gd name="T5" fmla="*/ 42 h 741"/>
                <a:gd name="T6" fmla="*/ 256 w 304"/>
                <a:gd name="T7" fmla="*/ 42 h 741"/>
                <a:gd name="T8" fmla="*/ 238 w 304"/>
                <a:gd name="T9" fmla="*/ 48 h 741"/>
                <a:gd name="T10" fmla="*/ 214 w 304"/>
                <a:gd name="T11" fmla="*/ 12 h 741"/>
                <a:gd name="T12" fmla="*/ 196 w 304"/>
                <a:gd name="T13" fmla="*/ 0 h 741"/>
                <a:gd name="T14" fmla="*/ 196 w 304"/>
                <a:gd name="T15" fmla="*/ 0 h 741"/>
                <a:gd name="T16" fmla="*/ 164 w 304"/>
                <a:gd name="T17" fmla="*/ 167 h 741"/>
                <a:gd name="T18" fmla="*/ 144 w 304"/>
                <a:gd name="T19" fmla="*/ 217 h 741"/>
                <a:gd name="T20" fmla="*/ 110 w 304"/>
                <a:gd name="T21" fmla="*/ 281 h 741"/>
                <a:gd name="T22" fmla="*/ 96 w 304"/>
                <a:gd name="T23" fmla="*/ 327 h 741"/>
                <a:gd name="T24" fmla="*/ 124 w 304"/>
                <a:gd name="T25" fmla="*/ 405 h 741"/>
                <a:gd name="T26" fmla="*/ 100 w 304"/>
                <a:gd name="T27" fmla="*/ 463 h 741"/>
                <a:gd name="T28" fmla="*/ 68 w 304"/>
                <a:gd name="T29" fmla="*/ 503 h 741"/>
                <a:gd name="T30" fmla="*/ 30 w 304"/>
                <a:gd name="T31" fmla="*/ 539 h 741"/>
                <a:gd name="T32" fmla="*/ 24 w 304"/>
                <a:gd name="T33" fmla="*/ 613 h 741"/>
                <a:gd name="T34" fmla="*/ 0 w 304"/>
                <a:gd name="T35" fmla="*/ 741 h 741"/>
                <a:gd name="T36" fmla="*/ 202 w 304"/>
                <a:gd name="T37" fmla="*/ 741 h 741"/>
                <a:gd name="T38" fmla="*/ 180 w 304"/>
                <a:gd name="T39" fmla="*/ 639 h 741"/>
                <a:gd name="T40" fmla="*/ 192 w 304"/>
                <a:gd name="T41" fmla="*/ 589 h 741"/>
                <a:gd name="T42" fmla="*/ 178 w 304"/>
                <a:gd name="T43" fmla="*/ 539 h 741"/>
                <a:gd name="T44" fmla="*/ 190 w 304"/>
                <a:gd name="T45" fmla="*/ 499 h 741"/>
                <a:gd name="T46" fmla="*/ 184 w 304"/>
                <a:gd name="T47" fmla="*/ 465 h 741"/>
                <a:gd name="T48" fmla="*/ 192 w 304"/>
                <a:gd name="T49" fmla="*/ 391 h 741"/>
                <a:gd name="T50" fmla="*/ 216 w 304"/>
                <a:gd name="T51" fmla="*/ 313 h 741"/>
                <a:gd name="T52" fmla="*/ 238 w 304"/>
                <a:gd name="T53" fmla="*/ 249 h 741"/>
                <a:gd name="T54" fmla="*/ 268 w 304"/>
                <a:gd name="T55" fmla="*/ 185 h 741"/>
                <a:gd name="T56" fmla="*/ 284 w 304"/>
                <a:gd name="T57" fmla="*/ 159 h 741"/>
                <a:gd name="T58" fmla="*/ 304 w 304"/>
                <a:gd name="T59" fmla="*/ 12 h 741"/>
                <a:gd name="T60" fmla="*/ 298 w 304"/>
                <a:gd name="T61" fmla="*/ 24 h 741"/>
                <a:gd name="T62" fmla="*/ 292 w 304"/>
                <a:gd name="T63" fmla="*/ 30 h 741"/>
                <a:gd name="T64" fmla="*/ 292 w 304"/>
                <a:gd name="T65" fmla="*/ 36 h 741"/>
                <a:gd name="T66" fmla="*/ 286 w 304"/>
                <a:gd name="T67" fmla="*/ 36 h 741"/>
                <a:gd name="T68" fmla="*/ 286 w 304"/>
                <a:gd name="T69" fmla="*/ 42 h 741"/>
                <a:gd name="T70" fmla="*/ 280 w 304"/>
                <a:gd name="T71" fmla="*/ 42 h 741"/>
                <a:gd name="T72" fmla="*/ 280 w 304"/>
                <a:gd name="T73" fmla="*/ 42 h 741"/>
                <a:gd name="T74" fmla="*/ 280 w 304"/>
                <a:gd name="T75" fmla="*/ 42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741">
                  <a:moveTo>
                    <a:pt x="280" y="42"/>
                  </a:moveTo>
                  <a:lnTo>
                    <a:pt x="274" y="42"/>
                  </a:lnTo>
                  <a:lnTo>
                    <a:pt x="268" y="42"/>
                  </a:lnTo>
                  <a:lnTo>
                    <a:pt x="256" y="42"/>
                  </a:lnTo>
                  <a:lnTo>
                    <a:pt x="238" y="48"/>
                  </a:lnTo>
                  <a:lnTo>
                    <a:pt x="214" y="12"/>
                  </a:lnTo>
                  <a:lnTo>
                    <a:pt x="196" y="0"/>
                  </a:lnTo>
                  <a:lnTo>
                    <a:pt x="196" y="0"/>
                  </a:lnTo>
                  <a:lnTo>
                    <a:pt x="164" y="167"/>
                  </a:lnTo>
                  <a:lnTo>
                    <a:pt x="144" y="217"/>
                  </a:lnTo>
                  <a:lnTo>
                    <a:pt x="110" y="281"/>
                  </a:lnTo>
                  <a:lnTo>
                    <a:pt x="96" y="327"/>
                  </a:lnTo>
                  <a:lnTo>
                    <a:pt x="124" y="405"/>
                  </a:lnTo>
                  <a:lnTo>
                    <a:pt x="100" y="463"/>
                  </a:lnTo>
                  <a:lnTo>
                    <a:pt x="68" y="503"/>
                  </a:lnTo>
                  <a:lnTo>
                    <a:pt x="30" y="539"/>
                  </a:lnTo>
                  <a:lnTo>
                    <a:pt x="24" y="613"/>
                  </a:lnTo>
                  <a:lnTo>
                    <a:pt x="0" y="741"/>
                  </a:lnTo>
                  <a:lnTo>
                    <a:pt x="202" y="741"/>
                  </a:lnTo>
                  <a:lnTo>
                    <a:pt x="180" y="639"/>
                  </a:lnTo>
                  <a:lnTo>
                    <a:pt x="192" y="589"/>
                  </a:lnTo>
                  <a:lnTo>
                    <a:pt x="178" y="539"/>
                  </a:lnTo>
                  <a:lnTo>
                    <a:pt x="190" y="499"/>
                  </a:lnTo>
                  <a:lnTo>
                    <a:pt x="184" y="465"/>
                  </a:lnTo>
                  <a:lnTo>
                    <a:pt x="192" y="391"/>
                  </a:lnTo>
                  <a:lnTo>
                    <a:pt x="216" y="313"/>
                  </a:lnTo>
                  <a:lnTo>
                    <a:pt x="238" y="249"/>
                  </a:lnTo>
                  <a:lnTo>
                    <a:pt x="268" y="185"/>
                  </a:lnTo>
                  <a:lnTo>
                    <a:pt x="284" y="159"/>
                  </a:lnTo>
                  <a:lnTo>
                    <a:pt x="304" y="12"/>
                  </a:lnTo>
                  <a:lnTo>
                    <a:pt x="298" y="24"/>
                  </a:lnTo>
                  <a:lnTo>
                    <a:pt x="292" y="30"/>
                  </a:lnTo>
                  <a:lnTo>
                    <a:pt x="292" y="36"/>
                  </a:lnTo>
                  <a:lnTo>
                    <a:pt x="286" y="36"/>
                  </a:lnTo>
                  <a:lnTo>
                    <a:pt x="286" y="42"/>
                  </a:lnTo>
                  <a:lnTo>
                    <a:pt x="280" y="42"/>
                  </a:lnTo>
                  <a:lnTo>
                    <a:pt x="280" y="42"/>
                  </a:lnTo>
                  <a:lnTo>
                    <a:pt x="280" y="4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7" name="Freeform 7"/>
            <p:cNvSpPr>
              <a:spLocks/>
            </p:cNvSpPr>
            <p:nvPr/>
          </p:nvSpPr>
          <p:spPr bwMode="ltGray">
            <a:xfrm>
              <a:off x="4918" y="3553"/>
              <a:ext cx="314" cy="767"/>
            </a:xfrm>
            <a:custGeom>
              <a:avLst/>
              <a:gdLst>
                <a:gd name="T0" fmla="*/ 284 w 314"/>
                <a:gd name="T1" fmla="*/ 6 h 767"/>
                <a:gd name="T2" fmla="*/ 278 w 314"/>
                <a:gd name="T3" fmla="*/ 6 h 767"/>
                <a:gd name="T4" fmla="*/ 272 w 314"/>
                <a:gd name="T5" fmla="*/ 12 h 767"/>
                <a:gd name="T6" fmla="*/ 254 w 314"/>
                <a:gd name="T7" fmla="*/ 18 h 767"/>
                <a:gd name="T8" fmla="*/ 230 w 314"/>
                <a:gd name="T9" fmla="*/ 24 h 767"/>
                <a:gd name="T10" fmla="*/ 206 w 314"/>
                <a:gd name="T11" fmla="*/ 42 h 767"/>
                <a:gd name="T12" fmla="*/ 188 w 314"/>
                <a:gd name="T13" fmla="*/ 48 h 767"/>
                <a:gd name="T14" fmla="*/ 176 w 314"/>
                <a:gd name="T15" fmla="*/ 54 h 767"/>
                <a:gd name="T16" fmla="*/ 170 w 314"/>
                <a:gd name="T17" fmla="*/ 54 h 767"/>
                <a:gd name="T18" fmla="*/ 150 w 314"/>
                <a:gd name="T19" fmla="*/ 169 h 767"/>
                <a:gd name="T20" fmla="*/ 110 w 314"/>
                <a:gd name="T21" fmla="*/ 225 h 767"/>
                <a:gd name="T22" fmla="*/ 54 w 314"/>
                <a:gd name="T23" fmla="*/ 383 h 767"/>
                <a:gd name="T24" fmla="*/ 82 w 314"/>
                <a:gd name="T25" fmla="*/ 555 h 767"/>
                <a:gd name="T26" fmla="*/ 40 w 314"/>
                <a:gd name="T27" fmla="*/ 679 h 767"/>
                <a:gd name="T28" fmla="*/ 0 w 314"/>
                <a:gd name="T29" fmla="*/ 767 h 767"/>
                <a:gd name="T30" fmla="*/ 108 w 314"/>
                <a:gd name="T31" fmla="*/ 767 h 767"/>
                <a:gd name="T32" fmla="*/ 120 w 314"/>
                <a:gd name="T33" fmla="*/ 611 h 767"/>
                <a:gd name="T34" fmla="*/ 148 w 314"/>
                <a:gd name="T35" fmla="*/ 499 h 767"/>
                <a:gd name="T36" fmla="*/ 160 w 314"/>
                <a:gd name="T37" fmla="*/ 367 h 767"/>
                <a:gd name="T38" fmla="*/ 218 w 314"/>
                <a:gd name="T39" fmla="*/ 327 h 767"/>
                <a:gd name="T40" fmla="*/ 238 w 314"/>
                <a:gd name="T41" fmla="*/ 221 h 767"/>
                <a:gd name="T42" fmla="*/ 296 w 314"/>
                <a:gd name="T43" fmla="*/ 135 h 767"/>
                <a:gd name="T44" fmla="*/ 314 w 314"/>
                <a:gd name="T45" fmla="*/ 0 h 767"/>
                <a:gd name="T46" fmla="*/ 302 w 314"/>
                <a:gd name="T47" fmla="*/ 0 h 767"/>
                <a:gd name="T48" fmla="*/ 296 w 314"/>
                <a:gd name="T49" fmla="*/ 0 h 767"/>
                <a:gd name="T50" fmla="*/ 290 w 314"/>
                <a:gd name="T51" fmla="*/ 0 h 767"/>
                <a:gd name="T52" fmla="*/ 284 w 314"/>
                <a:gd name="T53" fmla="*/ 6 h 767"/>
                <a:gd name="T54" fmla="*/ 284 w 314"/>
                <a:gd name="T55" fmla="*/ 6 h 767"/>
                <a:gd name="T56" fmla="*/ 284 w 314"/>
                <a:gd name="T57" fmla="*/ 6 h 767"/>
                <a:gd name="T58" fmla="*/ 284 w 314"/>
                <a:gd name="T59" fmla="*/ 6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4" h="767">
                  <a:moveTo>
                    <a:pt x="284" y="6"/>
                  </a:moveTo>
                  <a:lnTo>
                    <a:pt x="278" y="6"/>
                  </a:lnTo>
                  <a:lnTo>
                    <a:pt x="272" y="12"/>
                  </a:lnTo>
                  <a:lnTo>
                    <a:pt x="254" y="18"/>
                  </a:lnTo>
                  <a:lnTo>
                    <a:pt x="230" y="24"/>
                  </a:lnTo>
                  <a:lnTo>
                    <a:pt x="206" y="42"/>
                  </a:lnTo>
                  <a:lnTo>
                    <a:pt x="188" y="48"/>
                  </a:lnTo>
                  <a:lnTo>
                    <a:pt x="176" y="54"/>
                  </a:lnTo>
                  <a:lnTo>
                    <a:pt x="170" y="54"/>
                  </a:lnTo>
                  <a:lnTo>
                    <a:pt x="150" y="169"/>
                  </a:lnTo>
                  <a:lnTo>
                    <a:pt x="110" y="225"/>
                  </a:lnTo>
                  <a:lnTo>
                    <a:pt x="54" y="383"/>
                  </a:lnTo>
                  <a:lnTo>
                    <a:pt x="82" y="555"/>
                  </a:lnTo>
                  <a:lnTo>
                    <a:pt x="40" y="679"/>
                  </a:lnTo>
                  <a:lnTo>
                    <a:pt x="0" y="767"/>
                  </a:lnTo>
                  <a:lnTo>
                    <a:pt x="108" y="767"/>
                  </a:lnTo>
                  <a:lnTo>
                    <a:pt x="120" y="611"/>
                  </a:lnTo>
                  <a:lnTo>
                    <a:pt x="148" y="499"/>
                  </a:lnTo>
                  <a:lnTo>
                    <a:pt x="160" y="367"/>
                  </a:lnTo>
                  <a:lnTo>
                    <a:pt x="218" y="327"/>
                  </a:lnTo>
                  <a:lnTo>
                    <a:pt x="238" y="221"/>
                  </a:lnTo>
                  <a:lnTo>
                    <a:pt x="296" y="135"/>
                  </a:lnTo>
                  <a:lnTo>
                    <a:pt x="314" y="0"/>
                  </a:lnTo>
                  <a:lnTo>
                    <a:pt x="302" y="0"/>
                  </a:lnTo>
                  <a:lnTo>
                    <a:pt x="296" y="0"/>
                  </a:lnTo>
                  <a:lnTo>
                    <a:pt x="290" y="0"/>
                  </a:lnTo>
                  <a:lnTo>
                    <a:pt x="284" y="6"/>
                  </a:lnTo>
                  <a:lnTo>
                    <a:pt x="284" y="6"/>
                  </a:lnTo>
                  <a:lnTo>
                    <a:pt x="284" y="6"/>
                  </a:lnTo>
                  <a:lnTo>
                    <a:pt x="284" y="6"/>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8" name="Freeform 8"/>
            <p:cNvSpPr>
              <a:spLocks/>
            </p:cNvSpPr>
            <p:nvPr/>
          </p:nvSpPr>
          <p:spPr bwMode="ltGray">
            <a:xfrm>
              <a:off x="4700" y="3697"/>
              <a:ext cx="275" cy="623"/>
            </a:xfrm>
            <a:custGeom>
              <a:avLst/>
              <a:gdLst>
                <a:gd name="T0" fmla="*/ 257 w 275"/>
                <a:gd name="T1" fmla="*/ 12 h 623"/>
                <a:gd name="T2" fmla="*/ 239 w 275"/>
                <a:gd name="T3" fmla="*/ 6 h 623"/>
                <a:gd name="T4" fmla="*/ 203 w 275"/>
                <a:gd name="T5" fmla="*/ 6 h 623"/>
                <a:gd name="T6" fmla="*/ 203 w 275"/>
                <a:gd name="T7" fmla="*/ 6 h 623"/>
                <a:gd name="T8" fmla="*/ 197 w 275"/>
                <a:gd name="T9" fmla="*/ 6 h 623"/>
                <a:gd name="T10" fmla="*/ 185 w 275"/>
                <a:gd name="T11" fmla="*/ 0 h 623"/>
                <a:gd name="T12" fmla="*/ 173 w 275"/>
                <a:gd name="T13" fmla="*/ 0 h 623"/>
                <a:gd name="T14" fmla="*/ 166 w 275"/>
                <a:gd name="T15" fmla="*/ 0 h 623"/>
                <a:gd name="T16" fmla="*/ 160 w 275"/>
                <a:gd name="T17" fmla="*/ 0 h 623"/>
                <a:gd name="T18" fmla="*/ 144 w 275"/>
                <a:gd name="T19" fmla="*/ 117 h 623"/>
                <a:gd name="T20" fmla="*/ 128 w 275"/>
                <a:gd name="T21" fmla="*/ 185 h 623"/>
                <a:gd name="T22" fmla="*/ 58 w 275"/>
                <a:gd name="T23" fmla="*/ 299 h 623"/>
                <a:gd name="T24" fmla="*/ 54 w 275"/>
                <a:gd name="T25" fmla="*/ 441 h 623"/>
                <a:gd name="T26" fmla="*/ 24 w 275"/>
                <a:gd name="T27" fmla="*/ 523 h 623"/>
                <a:gd name="T28" fmla="*/ 0 w 275"/>
                <a:gd name="T29" fmla="*/ 623 h 623"/>
                <a:gd name="T30" fmla="*/ 78 w 275"/>
                <a:gd name="T31" fmla="*/ 623 h 623"/>
                <a:gd name="T32" fmla="*/ 92 w 275"/>
                <a:gd name="T33" fmla="*/ 555 h 623"/>
                <a:gd name="T34" fmla="*/ 134 w 275"/>
                <a:gd name="T35" fmla="*/ 447 h 623"/>
                <a:gd name="T36" fmla="*/ 158 w 275"/>
                <a:gd name="T37" fmla="*/ 315 h 623"/>
                <a:gd name="T38" fmla="*/ 184 w 275"/>
                <a:gd name="T39" fmla="*/ 257 h 623"/>
                <a:gd name="T40" fmla="*/ 216 w 275"/>
                <a:gd name="T41" fmla="*/ 211 h 623"/>
                <a:gd name="T42" fmla="*/ 222 w 275"/>
                <a:gd name="T43" fmla="*/ 145 h 623"/>
                <a:gd name="T44" fmla="*/ 240 w 275"/>
                <a:gd name="T45" fmla="*/ 111 h 623"/>
                <a:gd name="T46" fmla="*/ 262 w 275"/>
                <a:gd name="T47" fmla="*/ 79 h 623"/>
                <a:gd name="T48" fmla="*/ 275 w 275"/>
                <a:gd name="T49" fmla="*/ 6 h 623"/>
                <a:gd name="T50" fmla="*/ 263 w 275"/>
                <a:gd name="T51" fmla="*/ 12 h 623"/>
                <a:gd name="T52" fmla="*/ 257 w 275"/>
                <a:gd name="T53" fmla="*/ 12 h 623"/>
                <a:gd name="T54" fmla="*/ 257 w 275"/>
                <a:gd name="T55" fmla="*/ 12 h 623"/>
                <a:gd name="T56" fmla="*/ 257 w 275"/>
                <a:gd name="T57" fmla="*/ 12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5" h="623">
                  <a:moveTo>
                    <a:pt x="257" y="12"/>
                  </a:moveTo>
                  <a:lnTo>
                    <a:pt x="239" y="6"/>
                  </a:lnTo>
                  <a:lnTo>
                    <a:pt x="203" y="6"/>
                  </a:lnTo>
                  <a:lnTo>
                    <a:pt x="203" y="6"/>
                  </a:lnTo>
                  <a:lnTo>
                    <a:pt x="197" y="6"/>
                  </a:lnTo>
                  <a:lnTo>
                    <a:pt x="185" y="0"/>
                  </a:lnTo>
                  <a:lnTo>
                    <a:pt x="173" y="0"/>
                  </a:lnTo>
                  <a:lnTo>
                    <a:pt x="166" y="0"/>
                  </a:lnTo>
                  <a:lnTo>
                    <a:pt x="160" y="0"/>
                  </a:lnTo>
                  <a:lnTo>
                    <a:pt x="144" y="117"/>
                  </a:lnTo>
                  <a:lnTo>
                    <a:pt x="128" y="185"/>
                  </a:lnTo>
                  <a:lnTo>
                    <a:pt x="58" y="299"/>
                  </a:lnTo>
                  <a:lnTo>
                    <a:pt x="54" y="441"/>
                  </a:lnTo>
                  <a:lnTo>
                    <a:pt x="24" y="523"/>
                  </a:lnTo>
                  <a:lnTo>
                    <a:pt x="0" y="623"/>
                  </a:lnTo>
                  <a:lnTo>
                    <a:pt x="78" y="623"/>
                  </a:lnTo>
                  <a:lnTo>
                    <a:pt x="92" y="555"/>
                  </a:lnTo>
                  <a:lnTo>
                    <a:pt x="134" y="447"/>
                  </a:lnTo>
                  <a:lnTo>
                    <a:pt x="158" y="315"/>
                  </a:lnTo>
                  <a:lnTo>
                    <a:pt x="184" y="257"/>
                  </a:lnTo>
                  <a:lnTo>
                    <a:pt x="216" y="211"/>
                  </a:lnTo>
                  <a:lnTo>
                    <a:pt x="222" y="145"/>
                  </a:lnTo>
                  <a:lnTo>
                    <a:pt x="240" y="111"/>
                  </a:lnTo>
                  <a:lnTo>
                    <a:pt x="262" y="79"/>
                  </a:lnTo>
                  <a:lnTo>
                    <a:pt x="275" y="6"/>
                  </a:lnTo>
                  <a:lnTo>
                    <a:pt x="263" y="12"/>
                  </a:lnTo>
                  <a:lnTo>
                    <a:pt x="257" y="12"/>
                  </a:lnTo>
                  <a:lnTo>
                    <a:pt x="257" y="12"/>
                  </a:lnTo>
                  <a:lnTo>
                    <a:pt x="257"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29" name="Freeform 9"/>
            <p:cNvSpPr>
              <a:spLocks/>
            </p:cNvSpPr>
            <p:nvPr/>
          </p:nvSpPr>
          <p:spPr bwMode="ltGray">
            <a:xfrm>
              <a:off x="4522" y="3709"/>
              <a:ext cx="213" cy="611"/>
            </a:xfrm>
            <a:custGeom>
              <a:avLst/>
              <a:gdLst>
                <a:gd name="T0" fmla="*/ 171 w 213"/>
                <a:gd name="T1" fmla="*/ 12 h 611"/>
                <a:gd name="T2" fmla="*/ 159 w 213"/>
                <a:gd name="T3" fmla="*/ 24 h 611"/>
                <a:gd name="T4" fmla="*/ 153 w 213"/>
                <a:gd name="T5" fmla="*/ 36 h 611"/>
                <a:gd name="T6" fmla="*/ 128 w 213"/>
                <a:gd name="T7" fmla="*/ 60 h 611"/>
                <a:gd name="T8" fmla="*/ 110 w 213"/>
                <a:gd name="T9" fmla="*/ 83 h 611"/>
                <a:gd name="T10" fmla="*/ 86 w 213"/>
                <a:gd name="T11" fmla="*/ 119 h 611"/>
                <a:gd name="T12" fmla="*/ 68 w 213"/>
                <a:gd name="T13" fmla="*/ 167 h 611"/>
                <a:gd name="T14" fmla="*/ 68 w 213"/>
                <a:gd name="T15" fmla="*/ 221 h 611"/>
                <a:gd name="T16" fmla="*/ 68 w 213"/>
                <a:gd name="T17" fmla="*/ 227 h 611"/>
                <a:gd name="T18" fmla="*/ 68 w 213"/>
                <a:gd name="T19" fmla="*/ 233 h 611"/>
                <a:gd name="T20" fmla="*/ 68 w 213"/>
                <a:gd name="T21" fmla="*/ 239 h 611"/>
                <a:gd name="T22" fmla="*/ 68 w 213"/>
                <a:gd name="T23" fmla="*/ 245 h 611"/>
                <a:gd name="T24" fmla="*/ 68 w 213"/>
                <a:gd name="T25" fmla="*/ 251 h 611"/>
                <a:gd name="T26" fmla="*/ 68 w 213"/>
                <a:gd name="T27" fmla="*/ 251 h 611"/>
                <a:gd name="T28" fmla="*/ 68 w 213"/>
                <a:gd name="T29" fmla="*/ 257 h 611"/>
                <a:gd name="T30" fmla="*/ 68 w 213"/>
                <a:gd name="T31" fmla="*/ 269 h 611"/>
                <a:gd name="T32" fmla="*/ 74 w 213"/>
                <a:gd name="T33" fmla="*/ 287 h 611"/>
                <a:gd name="T34" fmla="*/ 80 w 213"/>
                <a:gd name="T35" fmla="*/ 305 h 611"/>
                <a:gd name="T36" fmla="*/ 86 w 213"/>
                <a:gd name="T37" fmla="*/ 311 h 611"/>
                <a:gd name="T38" fmla="*/ 86 w 213"/>
                <a:gd name="T39" fmla="*/ 311 h 611"/>
                <a:gd name="T40" fmla="*/ 92 w 213"/>
                <a:gd name="T41" fmla="*/ 317 h 611"/>
                <a:gd name="T42" fmla="*/ 92 w 213"/>
                <a:gd name="T43" fmla="*/ 323 h 611"/>
                <a:gd name="T44" fmla="*/ 92 w 213"/>
                <a:gd name="T45" fmla="*/ 323 h 611"/>
                <a:gd name="T46" fmla="*/ 24 w 213"/>
                <a:gd name="T47" fmla="*/ 437 h 611"/>
                <a:gd name="T48" fmla="*/ 18 w 213"/>
                <a:gd name="T49" fmla="*/ 471 h 611"/>
                <a:gd name="T50" fmla="*/ 0 w 213"/>
                <a:gd name="T51" fmla="*/ 547 h 611"/>
                <a:gd name="T52" fmla="*/ 50 w 213"/>
                <a:gd name="T53" fmla="*/ 611 h 611"/>
                <a:gd name="T54" fmla="*/ 114 w 213"/>
                <a:gd name="T55" fmla="*/ 611 h 611"/>
                <a:gd name="T56" fmla="*/ 104 w 213"/>
                <a:gd name="T57" fmla="*/ 555 h 611"/>
                <a:gd name="T58" fmla="*/ 120 w 213"/>
                <a:gd name="T59" fmla="*/ 515 h 611"/>
                <a:gd name="T60" fmla="*/ 150 w 213"/>
                <a:gd name="T61" fmla="*/ 449 h 611"/>
                <a:gd name="T62" fmla="*/ 166 w 213"/>
                <a:gd name="T63" fmla="*/ 377 h 611"/>
                <a:gd name="T64" fmla="*/ 156 w 213"/>
                <a:gd name="T65" fmla="*/ 295 h 611"/>
                <a:gd name="T66" fmla="*/ 170 w 213"/>
                <a:gd name="T67" fmla="*/ 203 h 611"/>
                <a:gd name="T68" fmla="*/ 212 w 213"/>
                <a:gd name="T69" fmla="*/ 95 h 611"/>
                <a:gd name="T70" fmla="*/ 213 w 213"/>
                <a:gd name="T71" fmla="*/ 0 h 611"/>
                <a:gd name="T72" fmla="*/ 207 w 213"/>
                <a:gd name="T73" fmla="*/ 0 h 611"/>
                <a:gd name="T74" fmla="*/ 201 w 213"/>
                <a:gd name="T75" fmla="*/ 0 h 611"/>
                <a:gd name="T76" fmla="*/ 195 w 213"/>
                <a:gd name="T77" fmla="*/ 0 h 611"/>
                <a:gd name="T78" fmla="*/ 189 w 213"/>
                <a:gd name="T79" fmla="*/ 0 h 611"/>
                <a:gd name="T80" fmla="*/ 183 w 213"/>
                <a:gd name="T81" fmla="*/ 6 h 611"/>
                <a:gd name="T82" fmla="*/ 177 w 213"/>
                <a:gd name="T83" fmla="*/ 6 h 611"/>
                <a:gd name="T84" fmla="*/ 171 w 213"/>
                <a:gd name="T85" fmla="*/ 12 h 611"/>
                <a:gd name="T86" fmla="*/ 171 w 213"/>
                <a:gd name="T87" fmla="*/ 12 h 611"/>
                <a:gd name="T88" fmla="*/ 171 w 213"/>
                <a:gd name="T89" fmla="*/ 12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3" h="611">
                  <a:moveTo>
                    <a:pt x="171" y="12"/>
                  </a:moveTo>
                  <a:lnTo>
                    <a:pt x="159" y="24"/>
                  </a:lnTo>
                  <a:lnTo>
                    <a:pt x="153" y="36"/>
                  </a:lnTo>
                  <a:lnTo>
                    <a:pt x="128" y="60"/>
                  </a:lnTo>
                  <a:lnTo>
                    <a:pt x="110" y="83"/>
                  </a:lnTo>
                  <a:lnTo>
                    <a:pt x="86" y="119"/>
                  </a:lnTo>
                  <a:lnTo>
                    <a:pt x="68" y="167"/>
                  </a:lnTo>
                  <a:lnTo>
                    <a:pt x="68" y="221"/>
                  </a:lnTo>
                  <a:lnTo>
                    <a:pt x="68" y="227"/>
                  </a:lnTo>
                  <a:lnTo>
                    <a:pt x="68" y="233"/>
                  </a:lnTo>
                  <a:lnTo>
                    <a:pt x="68" y="239"/>
                  </a:lnTo>
                  <a:lnTo>
                    <a:pt x="68" y="245"/>
                  </a:lnTo>
                  <a:lnTo>
                    <a:pt x="68" y="251"/>
                  </a:lnTo>
                  <a:lnTo>
                    <a:pt x="68" y="251"/>
                  </a:lnTo>
                  <a:lnTo>
                    <a:pt x="68" y="257"/>
                  </a:lnTo>
                  <a:lnTo>
                    <a:pt x="68" y="269"/>
                  </a:lnTo>
                  <a:lnTo>
                    <a:pt x="74" y="287"/>
                  </a:lnTo>
                  <a:lnTo>
                    <a:pt x="80" y="305"/>
                  </a:lnTo>
                  <a:lnTo>
                    <a:pt x="86" y="311"/>
                  </a:lnTo>
                  <a:lnTo>
                    <a:pt x="86" y="311"/>
                  </a:lnTo>
                  <a:lnTo>
                    <a:pt x="92" y="317"/>
                  </a:lnTo>
                  <a:lnTo>
                    <a:pt x="92" y="323"/>
                  </a:lnTo>
                  <a:lnTo>
                    <a:pt x="92" y="323"/>
                  </a:lnTo>
                  <a:lnTo>
                    <a:pt x="24" y="437"/>
                  </a:lnTo>
                  <a:lnTo>
                    <a:pt x="18" y="471"/>
                  </a:lnTo>
                  <a:lnTo>
                    <a:pt x="0" y="547"/>
                  </a:lnTo>
                  <a:lnTo>
                    <a:pt x="50" y="611"/>
                  </a:lnTo>
                  <a:lnTo>
                    <a:pt x="114" y="611"/>
                  </a:lnTo>
                  <a:lnTo>
                    <a:pt x="104" y="555"/>
                  </a:lnTo>
                  <a:lnTo>
                    <a:pt x="120" y="515"/>
                  </a:lnTo>
                  <a:lnTo>
                    <a:pt x="150" y="449"/>
                  </a:lnTo>
                  <a:lnTo>
                    <a:pt x="166" y="377"/>
                  </a:lnTo>
                  <a:lnTo>
                    <a:pt x="156" y="295"/>
                  </a:lnTo>
                  <a:lnTo>
                    <a:pt x="170" y="203"/>
                  </a:lnTo>
                  <a:lnTo>
                    <a:pt x="212" y="95"/>
                  </a:lnTo>
                  <a:lnTo>
                    <a:pt x="213" y="0"/>
                  </a:lnTo>
                  <a:lnTo>
                    <a:pt x="207" y="0"/>
                  </a:lnTo>
                  <a:lnTo>
                    <a:pt x="201" y="0"/>
                  </a:lnTo>
                  <a:lnTo>
                    <a:pt x="195" y="0"/>
                  </a:lnTo>
                  <a:lnTo>
                    <a:pt x="189" y="0"/>
                  </a:lnTo>
                  <a:lnTo>
                    <a:pt x="183" y="6"/>
                  </a:lnTo>
                  <a:lnTo>
                    <a:pt x="177" y="6"/>
                  </a:lnTo>
                  <a:lnTo>
                    <a:pt x="171" y="12"/>
                  </a:lnTo>
                  <a:lnTo>
                    <a:pt x="171" y="12"/>
                  </a:lnTo>
                  <a:lnTo>
                    <a:pt x="171"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0" name="Freeform 10"/>
            <p:cNvSpPr>
              <a:spLocks/>
            </p:cNvSpPr>
            <p:nvPr/>
          </p:nvSpPr>
          <p:spPr bwMode="ltGray">
            <a:xfrm>
              <a:off x="4292" y="3936"/>
              <a:ext cx="167" cy="384"/>
            </a:xfrm>
            <a:custGeom>
              <a:avLst/>
              <a:gdLst>
                <a:gd name="T0" fmla="*/ 149 w 167"/>
                <a:gd name="T1" fmla="*/ 60 h 384"/>
                <a:gd name="T2" fmla="*/ 119 w 167"/>
                <a:gd name="T3" fmla="*/ 30 h 384"/>
                <a:gd name="T4" fmla="*/ 89 w 167"/>
                <a:gd name="T5" fmla="*/ 12 h 384"/>
                <a:gd name="T6" fmla="*/ 59 w 167"/>
                <a:gd name="T7" fmla="*/ 0 h 384"/>
                <a:gd name="T8" fmla="*/ 54 w 167"/>
                <a:gd name="T9" fmla="*/ 70 h 384"/>
                <a:gd name="T10" fmla="*/ 46 w 167"/>
                <a:gd name="T11" fmla="*/ 112 h 384"/>
                <a:gd name="T12" fmla="*/ 52 w 167"/>
                <a:gd name="T13" fmla="*/ 168 h 384"/>
                <a:gd name="T14" fmla="*/ 24 w 167"/>
                <a:gd name="T15" fmla="*/ 194 h 384"/>
                <a:gd name="T16" fmla="*/ 16 w 167"/>
                <a:gd name="T17" fmla="*/ 258 h 384"/>
                <a:gd name="T18" fmla="*/ 2 w 167"/>
                <a:gd name="T19" fmla="*/ 300 h 384"/>
                <a:gd name="T20" fmla="*/ 0 w 167"/>
                <a:gd name="T21" fmla="*/ 352 h 384"/>
                <a:gd name="T22" fmla="*/ 47 w 167"/>
                <a:gd name="T23" fmla="*/ 384 h 384"/>
                <a:gd name="T24" fmla="*/ 149 w 167"/>
                <a:gd name="T25" fmla="*/ 384 h 384"/>
                <a:gd name="T26" fmla="*/ 134 w 167"/>
                <a:gd name="T27" fmla="*/ 350 h 384"/>
                <a:gd name="T28" fmla="*/ 104 w 167"/>
                <a:gd name="T29" fmla="*/ 324 h 384"/>
                <a:gd name="T30" fmla="*/ 138 w 167"/>
                <a:gd name="T31" fmla="*/ 274 h 384"/>
                <a:gd name="T32" fmla="*/ 122 w 167"/>
                <a:gd name="T33" fmla="*/ 220 h 384"/>
                <a:gd name="T34" fmla="*/ 132 w 167"/>
                <a:gd name="T35" fmla="*/ 186 h 384"/>
                <a:gd name="T36" fmla="*/ 140 w 167"/>
                <a:gd name="T37" fmla="*/ 154 h 384"/>
                <a:gd name="T38" fmla="*/ 167 w 167"/>
                <a:gd name="T39" fmla="*/ 90 h 384"/>
                <a:gd name="T40" fmla="*/ 149 w 167"/>
                <a:gd name="T41" fmla="*/ 60 h 384"/>
                <a:gd name="T42" fmla="*/ 149 w 167"/>
                <a:gd name="T43" fmla="*/ 60 h 384"/>
                <a:gd name="T44" fmla="*/ 149 w 167"/>
                <a:gd name="T45" fmla="*/ 6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7" h="384">
                  <a:moveTo>
                    <a:pt x="149" y="60"/>
                  </a:moveTo>
                  <a:lnTo>
                    <a:pt x="119" y="30"/>
                  </a:lnTo>
                  <a:lnTo>
                    <a:pt x="89" y="12"/>
                  </a:lnTo>
                  <a:lnTo>
                    <a:pt x="59" y="0"/>
                  </a:lnTo>
                  <a:lnTo>
                    <a:pt x="54" y="70"/>
                  </a:lnTo>
                  <a:lnTo>
                    <a:pt x="46" y="112"/>
                  </a:lnTo>
                  <a:lnTo>
                    <a:pt x="52" y="168"/>
                  </a:lnTo>
                  <a:lnTo>
                    <a:pt x="24" y="194"/>
                  </a:lnTo>
                  <a:lnTo>
                    <a:pt x="16" y="258"/>
                  </a:lnTo>
                  <a:lnTo>
                    <a:pt x="2" y="300"/>
                  </a:lnTo>
                  <a:lnTo>
                    <a:pt x="0" y="352"/>
                  </a:lnTo>
                  <a:lnTo>
                    <a:pt x="47" y="384"/>
                  </a:lnTo>
                  <a:lnTo>
                    <a:pt x="149" y="384"/>
                  </a:lnTo>
                  <a:lnTo>
                    <a:pt x="134" y="350"/>
                  </a:lnTo>
                  <a:lnTo>
                    <a:pt x="104" y="324"/>
                  </a:lnTo>
                  <a:lnTo>
                    <a:pt x="138" y="274"/>
                  </a:lnTo>
                  <a:lnTo>
                    <a:pt x="122" y="220"/>
                  </a:lnTo>
                  <a:lnTo>
                    <a:pt x="132" y="186"/>
                  </a:lnTo>
                  <a:lnTo>
                    <a:pt x="140" y="154"/>
                  </a:lnTo>
                  <a:lnTo>
                    <a:pt x="167" y="90"/>
                  </a:lnTo>
                  <a:lnTo>
                    <a:pt x="149" y="60"/>
                  </a:lnTo>
                  <a:lnTo>
                    <a:pt x="149" y="60"/>
                  </a:lnTo>
                  <a:lnTo>
                    <a:pt x="149" y="6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1" name="Freeform 11"/>
            <p:cNvSpPr>
              <a:spLocks/>
            </p:cNvSpPr>
            <p:nvPr/>
          </p:nvSpPr>
          <p:spPr bwMode="ltGray">
            <a:xfrm>
              <a:off x="4100" y="4020"/>
              <a:ext cx="166" cy="300"/>
            </a:xfrm>
            <a:custGeom>
              <a:avLst/>
              <a:gdLst>
                <a:gd name="T0" fmla="*/ 136 w 166"/>
                <a:gd name="T1" fmla="*/ 12 h 300"/>
                <a:gd name="T2" fmla="*/ 100 w 166"/>
                <a:gd name="T3" fmla="*/ 0 h 300"/>
                <a:gd name="T4" fmla="*/ 78 w 166"/>
                <a:gd name="T5" fmla="*/ 64 h 300"/>
                <a:gd name="T6" fmla="*/ 70 w 166"/>
                <a:gd name="T7" fmla="*/ 126 h 300"/>
                <a:gd name="T8" fmla="*/ 46 w 166"/>
                <a:gd name="T9" fmla="*/ 184 h 300"/>
                <a:gd name="T10" fmla="*/ 58 w 166"/>
                <a:gd name="T11" fmla="*/ 232 h 300"/>
                <a:gd name="T12" fmla="*/ 38 w 166"/>
                <a:gd name="T13" fmla="*/ 268 h 300"/>
                <a:gd name="T14" fmla="*/ 0 w 166"/>
                <a:gd name="T15" fmla="*/ 300 h 300"/>
                <a:gd name="T16" fmla="*/ 160 w 166"/>
                <a:gd name="T17" fmla="*/ 300 h 300"/>
                <a:gd name="T18" fmla="*/ 136 w 166"/>
                <a:gd name="T19" fmla="*/ 272 h 300"/>
                <a:gd name="T20" fmla="*/ 98 w 166"/>
                <a:gd name="T21" fmla="*/ 234 h 300"/>
                <a:gd name="T22" fmla="*/ 130 w 166"/>
                <a:gd name="T23" fmla="*/ 188 h 300"/>
                <a:gd name="T24" fmla="*/ 138 w 166"/>
                <a:gd name="T25" fmla="*/ 134 h 300"/>
                <a:gd name="T26" fmla="*/ 144 w 166"/>
                <a:gd name="T27" fmla="*/ 94 h 300"/>
                <a:gd name="T28" fmla="*/ 164 w 166"/>
                <a:gd name="T29" fmla="*/ 60 h 300"/>
                <a:gd name="T30" fmla="*/ 166 w 166"/>
                <a:gd name="T31" fmla="*/ 0 h 300"/>
                <a:gd name="T32" fmla="*/ 136 w 166"/>
                <a:gd name="T33" fmla="*/ 12 h 300"/>
                <a:gd name="T34" fmla="*/ 136 w 166"/>
                <a:gd name="T35" fmla="*/ 12 h 300"/>
                <a:gd name="T36" fmla="*/ 136 w 166"/>
                <a:gd name="T37" fmla="*/ 12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6" h="300">
                  <a:moveTo>
                    <a:pt x="136" y="12"/>
                  </a:moveTo>
                  <a:lnTo>
                    <a:pt x="100" y="0"/>
                  </a:lnTo>
                  <a:lnTo>
                    <a:pt x="78" y="64"/>
                  </a:lnTo>
                  <a:lnTo>
                    <a:pt x="70" y="126"/>
                  </a:lnTo>
                  <a:lnTo>
                    <a:pt x="46" y="184"/>
                  </a:lnTo>
                  <a:lnTo>
                    <a:pt x="58" y="232"/>
                  </a:lnTo>
                  <a:lnTo>
                    <a:pt x="38" y="268"/>
                  </a:lnTo>
                  <a:lnTo>
                    <a:pt x="0" y="300"/>
                  </a:lnTo>
                  <a:lnTo>
                    <a:pt x="160" y="300"/>
                  </a:lnTo>
                  <a:lnTo>
                    <a:pt x="136" y="272"/>
                  </a:lnTo>
                  <a:lnTo>
                    <a:pt x="98" y="234"/>
                  </a:lnTo>
                  <a:lnTo>
                    <a:pt x="130" y="188"/>
                  </a:lnTo>
                  <a:lnTo>
                    <a:pt x="138" y="134"/>
                  </a:lnTo>
                  <a:lnTo>
                    <a:pt x="144" y="94"/>
                  </a:lnTo>
                  <a:lnTo>
                    <a:pt x="164" y="60"/>
                  </a:lnTo>
                  <a:lnTo>
                    <a:pt x="166" y="0"/>
                  </a:lnTo>
                  <a:lnTo>
                    <a:pt x="136" y="12"/>
                  </a:lnTo>
                  <a:lnTo>
                    <a:pt x="136" y="12"/>
                  </a:lnTo>
                  <a:lnTo>
                    <a:pt x="136"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2" name="Freeform 12"/>
            <p:cNvSpPr>
              <a:spLocks/>
            </p:cNvSpPr>
            <p:nvPr/>
          </p:nvSpPr>
          <p:spPr bwMode="ltGray">
            <a:xfrm>
              <a:off x="3910" y="4038"/>
              <a:ext cx="237" cy="282"/>
            </a:xfrm>
            <a:custGeom>
              <a:avLst/>
              <a:gdLst>
                <a:gd name="T0" fmla="*/ 201 w 237"/>
                <a:gd name="T1" fmla="*/ 0 h 282"/>
                <a:gd name="T2" fmla="*/ 183 w 237"/>
                <a:gd name="T3" fmla="*/ 0 h 282"/>
                <a:gd name="T4" fmla="*/ 158 w 237"/>
                <a:gd name="T5" fmla="*/ 50 h 282"/>
                <a:gd name="T6" fmla="*/ 148 w 237"/>
                <a:gd name="T7" fmla="*/ 92 h 282"/>
                <a:gd name="T8" fmla="*/ 120 w 237"/>
                <a:gd name="T9" fmla="*/ 144 h 282"/>
                <a:gd name="T10" fmla="*/ 82 w 237"/>
                <a:gd name="T11" fmla="*/ 182 h 282"/>
                <a:gd name="T12" fmla="*/ 60 w 237"/>
                <a:gd name="T13" fmla="*/ 232 h 282"/>
                <a:gd name="T14" fmla="*/ 0 w 237"/>
                <a:gd name="T15" fmla="*/ 282 h 282"/>
                <a:gd name="T16" fmla="*/ 128 w 237"/>
                <a:gd name="T17" fmla="*/ 282 h 282"/>
                <a:gd name="T18" fmla="*/ 154 w 237"/>
                <a:gd name="T19" fmla="*/ 254 h 282"/>
                <a:gd name="T20" fmla="*/ 158 w 237"/>
                <a:gd name="T21" fmla="*/ 196 h 282"/>
                <a:gd name="T22" fmla="*/ 188 w 237"/>
                <a:gd name="T23" fmla="*/ 148 h 282"/>
                <a:gd name="T24" fmla="*/ 196 w 237"/>
                <a:gd name="T25" fmla="*/ 70 h 282"/>
                <a:gd name="T26" fmla="*/ 237 w 237"/>
                <a:gd name="T27" fmla="*/ 0 h 282"/>
                <a:gd name="T28" fmla="*/ 201 w 237"/>
                <a:gd name="T29" fmla="*/ 0 h 282"/>
                <a:gd name="T30" fmla="*/ 201 w 237"/>
                <a:gd name="T31" fmla="*/ 0 h 282"/>
                <a:gd name="T32" fmla="*/ 201 w 237"/>
                <a:gd name="T33"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7" h="282">
                  <a:moveTo>
                    <a:pt x="201" y="0"/>
                  </a:moveTo>
                  <a:lnTo>
                    <a:pt x="183" y="0"/>
                  </a:lnTo>
                  <a:lnTo>
                    <a:pt x="158" y="50"/>
                  </a:lnTo>
                  <a:lnTo>
                    <a:pt x="148" y="92"/>
                  </a:lnTo>
                  <a:lnTo>
                    <a:pt x="120" y="144"/>
                  </a:lnTo>
                  <a:lnTo>
                    <a:pt x="82" y="182"/>
                  </a:lnTo>
                  <a:lnTo>
                    <a:pt x="60" y="232"/>
                  </a:lnTo>
                  <a:lnTo>
                    <a:pt x="0" y="282"/>
                  </a:lnTo>
                  <a:lnTo>
                    <a:pt x="128" y="282"/>
                  </a:lnTo>
                  <a:lnTo>
                    <a:pt x="154" y="254"/>
                  </a:lnTo>
                  <a:lnTo>
                    <a:pt x="158" y="196"/>
                  </a:lnTo>
                  <a:lnTo>
                    <a:pt x="188" y="148"/>
                  </a:lnTo>
                  <a:lnTo>
                    <a:pt x="196" y="70"/>
                  </a:lnTo>
                  <a:lnTo>
                    <a:pt x="237" y="0"/>
                  </a:lnTo>
                  <a:lnTo>
                    <a:pt x="201" y="0"/>
                  </a:lnTo>
                  <a:lnTo>
                    <a:pt x="201" y="0"/>
                  </a:lnTo>
                  <a:lnTo>
                    <a:pt x="201"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3" name="Freeform 13"/>
            <p:cNvSpPr>
              <a:spLocks/>
            </p:cNvSpPr>
            <p:nvPr/>
          </p:nvSpPr>
          <p:spPr bwMode="ltGray">
            <a:xfrm>
              <a:off x="3674" y="4086"/>
              <a:ext cx="196" cy="234"/>
            </a:xfrm>
            <a:custGeom>
              <a:avLst/>
              <a:gdLst>
                <a:gd name="T0" fmla="*/ 167 w 196"/>
                <a:gd name="T1" fmla="*/ 54 h 234"/>
                <a:gd name="T2" fmla="*/ 113 w 196"/>
                <a:gd name="T3" fmla="*/ 24 h 234"/>
                <a:gd name="T4" fmla="*/ 83 w 196"/>
                <a:gd name="T5" fmla="*/ 0 h 234"/>
                <a:gd name="T6" fmla="*/ 80 w 196"/>
                <a:gd name="T7" fmla="*/ 62 h 234"/>
                <a:gd name="T8" fmla="*/ 58 w 196"/>
                <a:gd name="T9" fmla="*/ 100 h 234"/>
                <a:gd name="T10" fmla="*/ 54 w 196"/>
                <a:gd name="T11" fmla="*/ 160 h 234"/>
                <a:gd name="T12" fmla="*/ 36 w 196"/>
                <a:gd name="T13" fmla="*/ 202 h 234"/>
                <a:gd name="T14" fmla="*/ 0 w 196"/>
                <a:gd name="T15" fmla="*/ 234 h 234"/>
                <a:gd name="T16" fmla="*/ 146 w 196"/>
                <a:gd name="T17" fmla="*/ 234 h 234"/>
                <a:gd name="T18" fmla="*/ 170 w 196"/>
                <a:gd name="T19" fmla="*/ 198 h 234"/>
                <a:gd name="T20" fmla="*/ 158 w 196"/>
                <a:gd name="T21" fmla="*/ 138 h 234"/>
                <a:gd name="T22" fmla="*/ 196 w 196"/>
                <a:gd name="T23" fmla="*/ 100 h 234"/>
                <a:gd name="T24" fmla="*/ 191 w 196"/>
                <a:gd name="T25" fmla="*/ 54 h 234"/>
                <a:gd name="T26" fmla="*/ 167 w 196"/>
                <a:gd name="T27" fmla="*/ 54 h 234"/>
                <a:gd name="T28" fmla="*/ 167 w 196"/>
                <a:gd name="T29" fmla="*/ 54 h 234"/>
                <a:gd name="T30" fmla="*/ 167 w 196"/>
                <a:gd name="T31" fmla="*/ 5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6" h="234">
                  <a:moveTo>
                    <a:pt x="167" y="54"/>
                  </a:moveTo>
                  <a:lnTo>
                    <a:pt x="113" y="24"/>
                  </a:lnTo>
                  <a:lnTo>
                    <a:pt x="83" y="0"/>
                  </a:lnTo>
                  <a:lnTo>
                    <a:pt x="80" y="62"/>
                  </a:lnTo>
                  <a:lnTo>
                    <a:pt x="58" y="100"/>
                  </a:lnTo>
                  <a:lnTo>
                    <a:pt x="54" y="160"/>
                  </a:lnTo>
                  <a:lnTo>
                    <a:pt x="36" y="202"/>
                  </a:lnTo>
                  <a:lnTo>
                    <a:pt x="0" y="234"/>
                  </a:lnTo>
                  <a:lnTo>
                    <a:pt x="146" y="234"/>
                  </a:lnTo>
                  <a:lnTo>
                    <a:pt x="170" y="198"/>
                  </a:lnTo>
                  <a:lnTo>
                    <a:pt x="158" y="138"/>
                  </a:lnTo>
                  <a:lnTo>
                    <a:pt x="196" y="100"/>
                  </a:lnTo>
                  <a:lnTo>
                    <a:pt x="191" y="54"/>
                  </a:lnTo>
                  <a:lnTo>
                    <a:pt x="167" y="54"/>
                  </a:lnTo>
                  <a:lnTo>
                    <a:pt x="167" y="54"/>
                  </a:lnTo>
                  <a:lnTo>
                    <a:pt x="167" y="54"/>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4" name="Freeform 14"/>
            <p:cNvSpPr>
              <a:spLocks/>
            </p:cNvSpPr>
            <p:nvPr/>
          </p:nvSpPr>
          <p:spPr bwMode="ltGray">
            <a:xfrm>
              <a:off x="3476" y="4068"/>
              <a:ext cx="190" cy="252"/>
            </a:xfrm>
            <a:custGeom>
              <a:avLst/>
              <a:gdLst>
                <a:gd name="T0" fmla="*/ 190 w 190"/>
                <a:gd name="T1" fmla="*/ 0 h 252"/>
                <a:gd name="T2" fmla="*/ 166 w 190"/>
                <a:gd name="T3" fmla="*/ 0 h 252"/>
                <a:gd name="T4" fmla="*/ 158 w 190"/>
                <a:gd name="T5" fmla="*/ 38 h 252"/>
                <a:gd name="T6" fmla="*/ 138 w 190"/>
                <a:gd name="T7" fmla="*/ 120 h 252"/>
                <a:gd name="T8" fmla="*/ 94 w 190"/>
                <a:gd name="T9" fmla="*/ 180 h 252"/>
                <a:gd name="T10" fmla="*/ 62 w 190"/>
                <a:gd name="T11" fmla="*/ 234 h 252"/>
                <a:gd name="T12" fmla="*/ 0 w 190"/>
                <a:gd name="T13" fmla="*/ 252 h 252"/>
                <a:gd name="T14" fmla="*/ 128 w 190"/>
                <a:gd name="T15" fmla="*/ 252 h 252"/>
                <a:gd name="T16" fmla="*/ 142 w 190"/>
                <a:gd name="T17" fmla="*/ 188 h 252"/>
                <a:gd name="T18" fmla="*/ 186 w 190"/>
                <a:gd name="T19" fmla="*/ 90 h 252"/>
                <a:gd name="T20" fmla="*/ 190 w 190"/>
                <a:gd name="T21" fmla="*/ 38 h 252"/>
                <a:gd name="T22" fmla="*/ 190 w 190"/>
                <a:gd name="T23" fmla="*/ 0 h 252"/>
                <a:gd name="T24" fmla="*/ 190 w 190"/>
                <a:gd name="T25" fmla="*/ 0 h 252"/>
                <a:gd name="T26" fmla="*/ 190 w 190"/>
                <a:gd name="T27" fmla="*/ 0 h 252"/>
                <a:gd name="T28" fmla="*/ 190 w 190"/>
                <a:gd name="T29"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 h="252">
                  <a:moveTo>
                    <a:pt x="190" y="0"/>
                  </a:moveTo>
                  <a:lnTo>
                    <a:pt x="166" y="0"/>
                  </a:lnTo>
                  <a:lnTo>
                    <a:pt x="158" y="38"/>
                  </a:lnTo>
                  <a:lnTo>
                    <a:pt x="138" y="120"/>
                  </a:lnTo>
                  <a:lnTo>
                    <a:pt x="94" y="180"/>
                  </a:lnTo>
                  <a:lnTo>
                    <a:pt x="62" y="234"/>
                  </a:lnTo>
                  <a:lnTo>
                    <a:pt x="0" y="252"/>
                  </a:lnTo>
                  <a:lnTo>
                    <a:pt x="128" y="252"/>
                  </a:lnTo>
                  <a:lnTo>
                    <a:pt x="142" y="188"/>
                  </a:lnTo>
                  <a:lnTo>
                    <a:pt x="186" y="90"/>
                  </a:lnTo>
                  <a:lnTo>
                    <a:pt x="190" y="38"/>
                  </a:lnTo>
                  <a:lnTo>
                    <a:pt x="190" y="0"/>
                  </a:lnTo>
                  <a:lnTo>
                    <a:pt x="190" y="0"/>
                  </a:lnTo>
                  <a:lnTo>
                    <a:pt x="190" y="0"/>
                  </a:lnTo>
                  <a:lnTo>
                    <a:pt x="190"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5" name="Freeform 15"/>
            <p:cNvSpPr>
              <a:spLocks/>
            </p:cNvSpPr>
            <p:nvPr/>
          </p:nvSpPr>
          <p:spPr bwMode="ltGray">
            <a:xfrm>
              <a:off x="3170" y="4188"/>
              <a:ext cx="230" cy="132"/>
            </a:xfrm>
            <a:custGeom>
              <a:avLst/>
              <a:gdLst>
                <a:gd name="T0" fmla="*/ 197 w 230"/>
                <a:gd name="T1" fmla="*/ 0 h 132"/>
                <a:gd name="T2" fmla="*/ 191 w 230"/>
                <a:gd name="T3" fmla="*/ 0 h 132"/>
                <a:gd name="T4" fmla="*/ 185 w 230"/>
                <a:gd name="T5" fmla="*/ 0 h 132"/>
                <a:gd name="T6" fmla="*/ 173 w 230"/>
                <a:gd name="T7" fmla="*/ 0 h 132"/>
                <a:gd name="T8" fmla="*/ 161 w 230"/>
                <a:gd name="T9" fmla="*/ 0 h 132"/>
                <a:gd name="T10" fmla="*/ 155 w 230"/>
                <a:gd name="T11" fmla="*/ 0 h 132"/>
                <a:gd name="T12" fmla="*/ 138 w 230"/>
                <a:gd name="T13" fmla="*/ 6 h 132"/>
                <a:gd name="T14" fmla="*/ 132 w 230"/>
                <a:gd name="T15" fmla="*/ 6 h 132"/>
                <a:gd name="T16" fmla="*/ 35 w 230"/>
                <a:gd name="T17" fmla="*/ 18 h 132"/>
                <a:gd name="T18" fmla="*/ 11 w 230"/>
                <a:gd name="T19" fmla="*/ 30 h 132"/>
                <a:gd name="T20" fmla="*/ 23 w 230"/>
                <a:gd name="T21" fmla="*/ 54 h 132"/>
                <a:gd name="T22" fmla="*/ 0 w 230"/>
                <a:gd name="T23" fmla="*/ 100 h 132"/>
                <a:gd name="T24" fmla="*/ 0 w 230"/>
                <a:gd name="T25" fmla="*/ 132 h 132"/>
                <a:gd name="T26" fmla="*/ 162 w 230"/>
                <a:gd name="T27" fmla="*/ 132 h 132"/>
                <a:gd name="T28" fmla="*/ 204 w 230"/>
                <a:gd name="T29" fmla="*/ 88 h 132"/>
                <a:gd name="T30" fmla="*/ 230 w 230"/>
                <a:gd name="T31" fmla="*/ 46 h 132"/>
                <a:gd name="T32" fmla="*/ 214 w 230"/>
                <a:gd name="T33" fmla="*/ 24 h 132"/>
                <a:gd name="T34" fmla="*/ 215 w 230"/>
                <a:gd name="T35" fmla="*/ 0 h 132"/>
                <a:gd name="T36" fmla="*/ 209 w 230"/>
                <a:gd name="T37" fmla="*/ 0 h 132"/>
                <a:gd name="T38" fmla="*/ 203 w 230"/>
                <a:gd name="T39" fmla="*/ 0 h 132"/>
                <a:gd name="T40" fmla="*/ 203 w 230"/>
                <a:gd name="T41" fmla="*/ 0 h 132"/>
                <a:gd name="T42" fmla="*/ 197 w 230"/>
                <a:gd name="T43" fmla="*/ 0 h 132"/>
                <a:gd name="T44" fmla="*/ 197 w 230"/>
                <a:gd name="T45" fmla="*/ 0 h 132"/>
                <a:gd name="T46" fmla="*/ 197 w 230"/>
                <a:gd name="T47"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0" h="132">
                  <a:moveTo>
                    <a:pt x="197" y="0"/>
                  </a:moveTo>
                  <a:lnTo>
                    <a:pt x="191" y="0"/>
                  </a:lnTo>
                  <a:lnTo>
                    <a:pt x="185" y="0"/>
                  </a:lnTo>
                  <a:lnTo>
                    <a:pt x="173" y="0"/>
                  </a:lnTo>
                  <a:lnTo>
                    <a:pt x="161" y="0"/>
                  </a:lnTo>
                  <a:lnTo>
                    <a:pt x="155" y="0"/>
                  </a:lnTo>
                  <a:lnTo>
                    <a:pt x="138" y="6"/>
                  </a:lnTo>
                  <a:lnTo>
                    <a:pt x="132" y="6"/>
                  </a:lnTo>
                  <a:lnTo>
                    <a:pt x="35" y="18"/>
                  </a:lnTo>
                  <a:lnTo>
                    <a:pt x="11" y="30"/>
                  </a:lnTo>
                  <a:lnTo>
                    <a:pt x="23" y="54"/>
                  </a:lnTo>
                  <a:lnTo>
                    <a:pt x="0" y="100"/>
                  </a:lnTo>
                  <a:lnTo>
                    <a:pt x="0" y="132"/>
                  </a:lnTo>
                  <a:lnTo>
                    <a:pt x="162" y="132"/>
                  </a:lnTo>
                  <a:lnTo>
                    <a:pt x="204" y="88"/>
                  </a:lnTo>
                  <a:lnTo>
                    <a:pt x="230" y="46"/>
                  </a:lnTo>
                  <a:lnTo>
                    <a:pt x="214" y="24"/>
                  </a:lnTo>
                  <a:lnTo>
                    <a:pt x="215" y="0"/>
                  </a:lnTo>
                  <a:lnTo>
                    <a:pt x="209" y="0"/>
                  </a:lnTo>
                  <a:lnTo>
                    <a:pt x="203" y="0"/>
                  </a:lnTo>
                  <a:lnTo>
                    <a:pt x="203" y="0"/>
                  </a:lnTo>
                  <a:lnTo>
                    <a:pt x="197" y="0"/>
                  </a:lnTo>
                  <a:lnTo>
                    <a:pt x="197" y="0"/>
                  </a:lnTo>
                  <a:lnTo>
                    <a:pt x="197"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6" name="Freeform 16"/>
            <p:cNvSpPr>
              <a:spLocks/>
            </p:cNvSpPr>
            <p:nvPr/>
          </p:nvSpPr>
          <p:spPr bwMode="ltGray">
            <a:xfrm>
              <a:off x="3044" y="4218"/>
              <a:ext cx="89" cy="102"/>
            </a:xfrm>
            <a:custGeom>
              <a:avLst/>
              <a:gdLst>
                <a:gd name="T0" fmla="*/ 71 w 89"/>
                <a:gd name="T1" fmla="*/ 0 h 102"/>
                <a:gd name="T2" fmla="*/ 66 w 89"/>
                <a:gd name="T3" fmla="*/ 48 h 102"/>
                <a:gd name="T4" fmla="*/ 30 w 89"/>
                <a:gd name="T5" fmla="*/ 72 h 102"/>
                <a:gd name="T6" fmla="*/ 0 w 89"/>
                <a:gd name="T7" fmla="*/ 102 h 102"/>
                <a:gd name="T8" fmla="*/ 66 w 89"/>
                <a:gd name="T9" fmla="*/ 102 h 102"/>
                <a:gd name="T10" fmla="*/ 88 w 89"/>
                <a:gd name="T11" fmla="*/ 56 h 102"/>
                <a:gd name="T12" fmla="*/ 89 w 89"/>
                <a:gd name="T13" fmla="*/ 6 h 102"/>
                <a:gd name="T14" fmla="*/ 71 w 89"/>
                <a:gd name="T15" fmla="*/ 0 h 102"/>
                <a:gd name="T16" fmla="*/ 71 w 89"/>
                <a:gd name="T17" fmla="*/ 0 h 102"/>
                <a:gd name="T18" fmla="*/ 71 w 89"/>
                <a:gd name="T1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102">
                  <a:moveTo>
                    <a:pt x="71" y="0"/>
                  </a:moveTo>
                  <a:lnTo>
                    <a:pt x="66" y="48"/>
                  </a:lnTo>
                  <a:lnTo>
                    <a:pt x="30" y="72"/>
                  </a:lnTo>
                  <a:lnTo>
                    <a:pt x="0" y="102"/>
                  </a:lnTo>
                  <a:lnTo>
                    <a:pt x="66" y="102"/>
                  </a:lnTo>
                  <a:lnTo>
                    <a:pt x="88" y="56"/>
                  </a:lnTo>
                  <a:lnTo>
                    <a:pt x="89" y="6"/>
                  </a:lnTo>
                  <a:lnTo>
                    <a:pt x="71" y="0"/>
                  </a:lnTo>
                  <a:lnTo>
                    <a:pt x="71" y="0"/>
                  </a:lnTo>
                  <a:lnTo>
                    <a:pt x="71"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5137" name="Freeform 17"/>
            <p:cNvSpPr>
              <a:spLocks/>
            </p:cNvSpPr>
            <p:nvPr/>
          </p:nvSpPr>
          <p:spPr bwMode="ltGray">
            <a:xfrm>
              <a:off x="5482" y="3367"/>
              <a:ext cx="278" cy="953"/>
            </a:xfrm>
            <a:custGeom>
              <a:avLst/>
              <a:gdLst>
                <a:gd name="T0" fmla="*/ 278 w 278"/>
                <a:gd name="T1" fmla="*/ 24 h 953"/>
                <a:gd name="T2" fmla="*/ 272 w 278"/>
                <a:gd name="T3" fmla="*/ 24 h 953"/>
                <a:gd name="T4" fmla="*/ 272 w 278"/>
                <a:gd name="T5" fmla="*/ 18 h 953"/>
                <a:gd name="T6" fmla="*/ 266 w 278"/>
                <a:gd name="T7" fmla="*/ 18 h 953"/>
                <a:gd name="T8" fmla="*/ 254 w 278"/>
                <a:gd name="T9" fmla="*/ 12 h 953"/>
                <a:gd name="T10" fmla="*/ 236 w 278"/>
                <a:gd name="T11" fmla="*/ 6 h 953"/>
                <a:gd name="T12" fmla="*/ 212 w 278"/>
                <a:gd name="T13" fmla="*/ 0 h 953"/>
                <a:gd name="T14" fmla="*/ 206 w 278"/>
                <a:gd name="T15" fmla="*/ 6 h 953"/>
                <a:gd name="T16" fmla="*/ 198 w 278"/>
                <a:gd name="T17" fmla="*/ 129 h 953"/>
                <a:gd name="T18" fmla="*/ 184 w 278"/>
                <a:gd name="T19" fmla="*/ 209 h 953"/>
                <a:gd name="T20" fmla="*/ 182 w 278"/>
                <a:gd name="T21" fmla="*/ 249 h 953"/>
                <a:gd name="T22" fmla="*/ 200 w 278"/>
                <a:gd name="T23" fmla="*/ 339 h 953"/>
                <a:gd name="T24" fmla="*/ 186 w 278"/>
                <a:gd name="T25" fmla="*/ 481 h 953"/>
                <a:gd name="T26" fmla="*/ 176 w 278"/>
                <a:gd name="T27" fmla="*/ 521 h 953"/>
                <a:gd name="T28" fmla="*/ 156 w 278"/>
                <a:gd name="T29" fmla="*/ 601 h 953"/>
                <a:gd name="T30" fmla="*/ 172 w 278"/>
                <a:gd name="T31" fmla="*/ 681 h 953"/>
                <a:gd name="T32" fmla="*/ 138 w 278"/>
                <a:gd name="T33" fmla="*/ 765 h 953"/>
                <a:gd name="T34" fmla="*/ 96 w 278"/>
                <a:gd name="T35" fmla="*/ 847 h 953"/>
                <a:gd name="T36" fmla="*/ 50 w 278"/>
                <a:gd name="T37" fmla="*/ 899 h 953"/>
                <a:gd name="T38" fmla="*/ 0 w 278"/>
                <a:gd name="T39" fmla="*/ 953 h 953"/>
                <a:gd name="T40" fmla="*/ 278 w 278"/>
                <a:gd name="T41" fmla="*/ 953 h 953"/>
                <a:gd name="T42" fmla="*/ 278 w 278"/>
                <a:gd name="T43" fmla="*/ 24 h 953"/>
                <a:gd name="T44" fmla="*/ 278 w 278"/>
                <a:gd name="T45" fmla="*/ 24 h 953"/>
                <a:gd name="T46" fmla="*/ 278 w 278"/>
                <a:gd name="T47" fmla="*/ 24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8" h="953">
                  <a:moveTo>
                    <a:pt x="278" y="24"/>
                  </a:moveTo>
                  <a:lnTo>
                    <a:pt x="272" y="24"/>
                  </a:lnTo>
                  <a:lnTo>
                    <a:pt x="272" y="18"/>
                  </a:lnTo>
                  <a:lnTo>
                    <a:pt x="266" y="18"/>
                  </a:lnTo>
                  <a:lnTo>
                    <a:pt x="254" y="12"/>
                  </a:lnTo>
                  <a:lnTo>
                    <a:pt x="236" y="6"/>
                  </a:lnTo>
                  <a:lnTo>
                    <a:pt x="212" y="0"/>
                  </a:lnTo>
                  <a:lnTo>
                    <a:pt x="206" y="6"/>
                  </a:lnTo>
                  <a:lnTo>
                    <a:pt x="198" y="129"/>
                  </a:lnTo>
                  <a:lnTo>
                    <a:pt x="184" y="209"/>
                  </a:lnTo>
                  <a:lnTo>
                    <a:pt x="182" y="249"/>
                  </a:lnTo>
                  <a:lnTo>
                    <a:pt x="200" y="339"/>
                  </a:lnTo>
                  <a:lnTo>
                    <a:pt x="186" y="481"/>
                  </a:lnTo>
                  <a:lnTo>
                    <a:pt x="176" y="521"/>
                  </a:lnTo>
                  <a:lnTo>
                    <a:pt x="156" y="601"/>
                  </a:lnTo>
                  <a:lnTo>
                    <a:pt x="172" y="681"/>
                  </a:lnTo>
                  <a:lnTo>
                    <a:pt x="138" y="765"/>
                  </a:lnTo>
                  <a:lnTo>
                    <a:pt x="96" y="847"/>
                  </a:lnTo>
                  <a:lnTo>
                    <a:pt x="50" y="899"/>
                  </a:lnTo>
                  <a:lnTo>
                    <a:pt x="0" y="953"/>
                  </a:lnTo>
                  <a:lnTo>
                    <a:pt x="278" y="953"/>
                  </a:lnTo>
                  <a:lnTo>
                    <a:pt x="278" y="24"/>
                  </a:lnTo>
                  <a:lnTo>
                    <a:pt x="278" y="24"/>
                  </a:lnTo>
                  <a:lnTo>
                    <a:pt x="278" y="24"/>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grpSp>
      <p:sp>
        <p:nvSpPr>
          <p:cNvPr id="5138" name="Rectangle 18"/>
          <p:cNvSpPr>
            <a:spLocks noGrp="1" noChangeArrowheads="1"/>
          </p:cNvSpPr>
          <p:nvPr>
            <p:ph type="ctrTitle" sz="quarter"/>
          </p:nvPr>
        </p:nvSpPr>
        <p:spPr>
          <a:xfrm>
            <a:off x="685800" y="1600200"/>
            <a:ext cx="7772400" cy="1828800"/>
          </a:xfrm>
        </p:spPr>
        <p:txBody>
          <a:bodyPr anchor="b"/>
          <a:lstStyle>
            <a:lvl1pPr>
              <a:defRPr sz="5700"/>
            </a:lvl1pPr>
          </a:lstStyle>
          <a:p>
            <a:pPr lvl="0"/>
            <a:r>
              <a:rPr lang="en-US" noProof="0"/>
              <a:t>Click to edit Master title style</a:t>
            </a:r>
          </a:p>
        </p:txBody>
      </p:sp>
      <p:sp>
        <p:nvSpPr>
          <p:cNvPr id="5139" name="Rectangle 19"/>
          <p:cNvSpPr>
            <a:spLocks noGrp="1" noChangeArrowheads="1"/>
          </p:cNvSpPr>
          <p:nvPr>
            <p:ph type="subTitle" sz="quarter" idx="1"/>
          </p:nvPr>
        </p:nvSpPr>
        <p:spPr>
          <a:xfrm>
            <a:off x="1371600" y="3733800"/>
            <a:ext cx="6400800" cy="1752600"/>
          </a:xfrm>
        </p:spPr>
        <p:txBody>
          <a:bodyPr/>
          <a:lstStyle>
            <a:lvl1pPr marL="0" indent="0" algn="ctr">
              <a:buFont typeface="Wingdings" pitchFamily="80" charset="2"/>
              <a:buNone/>
              <a:defRPr sz="3600"/>
            </a:lvl1pPr>
          </a:lstStyle>
          <a:p>
            <a:pPr lvl="0"/>
            <a:r>
              <a:rPr lang="en-US" noProof="0"/>
              <a:t>Click to edit Master subtitle style</a:t>
            </a:r>
          </a:p>
        </p:txBody>
      </p:sp>
      <p:sp>
        <p:nvSpPr>
          <p:cNvPr id="5140" name="Rectangle 20"/>
          <p:cNvSpPr>
            <a:spLocks noGrp="1" noChangeArrowheads="1"/>
          </p:cNvSpPr>
          <p:nvPr>
            <p:ph type="dt" sz="quarter" idx="2"/>
          </p:nvPr>
        </p:nvSpPr>
        <p:spPr/>
        <p:txBody>
          <a:bodyPr/>
          <a:lstStyle>
            <a:lvl1pPr>
              <a:defRPr/>
            </a:lvl1pPr>
          </a:lstStyle>
          <a:p>
            <a:endParaRPr lang="en-US"/>
          </a:p>
        </p:txBody>
      </p:sp>
      <p:sp>
        <p:nvSpPr>
          <p:cNvPr id="5141" name="Rectangle 21"/>
          <p:cNvSpPr>
            <a:spLocks noGrp="1" noChangeArrowheads="1"/>
          </p:cNvSpPr>
          <p:nvPr>
            <p:ph type="ftr" sz="quarter" idx="3"/>
          </p:nvPr>
        </p:nvSpPr>
        <p:spPr/>
        <p:txBody>
          <a:bodyPr/>
          <a:lstStyle>
            <a:lvl1pPr>
              <a:defRPr/>
            </a:lvl1pPr>
          </a:lstStyle>
          <a:p>
            <a:endParaRPr lang="en-US"/>
          </a:p>
        </p:txBody>
      </p:sp>
      <p:sp>
        <p:nvSpPr>
          <p:cNvPr id="5142" name="Rectangle 22"/>
          <p:cNvSpPr>
            <a:spLocks noGrp="1" noChangeArrowheads="1"/>
          </p:cNvSpPr>
          <p:nvPr>
            <p:ph type="sldNum" sz="quarter" idx="4"/>
          </p:nvPr>
        </p:nvSpPr>
        <p:spPr/>
        <p:txBody>
          <a:bodyPr/>
          <a:lstStyle>
            <a:lvl1pPr>
              <a:defRPr/>
            </a:lvl1pPr>
          </a:lstStyle>
          <a:p>
            <a:fld id="{65107A9C-C490-48CE-8E0A-CCB692A99B52}" type="slidenum">
              <a:rPr lang="en-US"/>
              <a:pPr/>
              <a:t>‹#›</a:t>
            </a:fld>
            <a:endParaRPr lang="en-US"/>
          </a:p>
        </p:txBody>
      </p:sp>
    </p:spTree>
    <p:extLst>
      <p:ext uri="{BB962C8B-B14F-4D97-AF65-F5344CB8AC3E}">
        <p14:creationId xmlns:p14="http://schemas.microsoft.com/office/powerpoint/2010/main" val="2042659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BAE48D2-504D-4F99-B320-52AFBF310B7D}" type="slidenum">
              <a:rPr lang="en-US"/>
              <a:pPr/>
              <a:t>‹#›</a:t>
            </a:fld>
            <a:endParaRPr lang="en-US"/>
          </a:p>
        </p:txBody>
      </p:sp>
    </p:spTree>
    <p:extLst>
      <p:ext uri="{BB962C8B-B14F-4D97-AF65-F5344CB8AC3E}">
        <p14:creationId xmlns:p14="http://schemas.microsoft.com/office/powerpoint/2010/main" val="3828624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778A1B76-982B-46DF-8CAA-A66DBF1BAB87}" type="slidenum">
              <a:rPr lang="en-US"/>
              <a:pPr/>
              <a:t>‹#›</a:t>
            </a:fld>
            <a:endParaRPr lang="en-US"/>
          </a:p>
        </p:txBody>
      </p:sp>
    </p:spTree>
    <p:extLst>
      <p:ext uri="{BB962C8B-B14F-4D97-AF65-F5344CB8AC3E}">
        <p14:creationId xmlns:p14="http://schemas.microsoft.com/office/powerpoint/2010/main" val="2287284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2F1F282-500A-4B01-A220-FB364D2D5583}" type="slidenum">
              <a:rPr lang="en-US"/>
              <a:pPr/>
              <a:t>‹#›</a:t>
            </a:fld>
            <a:endParaRPr lang="en-US"/>
          </a:p>
        </p:txBody>
      </p:sp>
    </p:spTree>
    <p:extLst>
      <p:ext uri="{BB962C8B-B14F-4D97-AF65-F5344CB8AC3E}">
        <p14:creationId xmlns:p14="http://schemas.microsoft.com/office/powerpoint/2010/main" val="24997934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3C377D9-247F-485C-8A17-8F73DF9A460A}" type="slidenum">
              <a:rPr lang="en-US"/>
              <a:pPr/>
              <a:t>‹#›</a:t>
            </a:fld>
            <a:endParaRPr lang="en-US"/>
          </a:p>
        </p:txBody>
      </p:sp>
    </p:spTree>
    <p:extLst>
      <p:ext uri="{BB962C8B-B14F-4D97-AF65-F5344CB8AC3E}">
        <p14:creationId xmlns:p14="http://schemas.microsoft.com/office/powerpoint/2010/main" val="3240861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F1969D6C-B665-454E-868D-037868BC87F0}" type="slidenum">
              <a:rPr lang="en-US"/>
              <a:pPr/>
              <a:t>‹#›</a:t>
            </a:fld>
            <a:endParaRPr lang="en-US"/>
          </a:p>
        </p:txBody>
      </p:sp>
    </p:spTree>
    <p:extLst>
      <p:ext uri="{BB962C8B-B14F-4D97-AF65-F5344CB8AC3E}">
        <p14:creationId xmlns:p14="http://schemas.microsoft.com/office/powerpoint/2010/main" val="5515299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2DCAE851-A22D-4CAB-8364-CA3296AD8B1B}" type="slidenum">
              <a:rPr lang="en-US"/>
              <a:pPr/>
              <a:t>‹#›</a:t>
            </a:fld>
            <a:endParaRPr lang="en-US"/>
          </a:p>
        </p:txBody>
      </p:sp>
    </p:spTree>
    <p:extLst>
      <p:ext uri="{BB962C8B-B14F-4D97-AF65-F5344CB8AC3E}">
        <p14:creationId xmlns:p14="http://schemas.microsoft.com/office/powerpoint/2010/main" val="2183470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F365368-D1DD-463C-9155-31A1E542FBC1}" type="slidenum">
              <a:rPr lang="en-US"/>
              <a:pPr/>
              <a:t>‹#›</a:t>
            </a:fld>
            <a:endParaRPr lang="en-US"/>
          </a:p>
        </p:txBody>
      </p:sp>
    </p:spTree>
    <p:extLst>
      <p:ext uri="{BB962C8B-B14F-4D97-AF65-F5344CB8AC3E}">
        <p14:creationId xmlns:p14="http://schemas.microsoft.com/office/powerpoint/2010/main" val="3826025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16B6E569-9A2D-4953-B5D9-ECE3BBBE865C}" type="slidenum">
              <a:rPr lang="en-US"/>
              <a:pPr/>
              <a:t>‹#›</a:t>
            </a:fld>
            <a:endParaRPr lang="en-US"/>
          </a:p>
        </p:txBody>
      </p:sp>
    </p:spTree>
    <p:extLst>
      <p:ext uri="{BB962C8B-B14F-4D97-AF65-F5344CB8AC3E}">
        <p14:creationId xmlns:p14="http://schemas.microsoft.com/office/powerpoint/2010/main" val="3204558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BBD1960-7E9F-4D6A-A2D3-54D6D62A0745}" type="slidenum">
              <a:rPr lang="en-US"/>
              <a:pPr/>
              <a:t>‹#›</a:t>
            </a:fld>
            <a:endParaRPr lang="en-US"/>
          </a:p>
        </p:txBody>
      </p:sp>
    </p:spTree>
    <p:extLst>
      <p:ext uri="{BB962C8B-B14F-4D97-AF65-F5344CB8AC3E}">
        <p14:creationId xmlns:p14="http://schemas.microsoft.com/office/powerpoint/2010/main" val="661606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83708B4-0931-4A25-BEB8-2208B6DD8B92}" type="slidenum">
              <a:rPr lang="en-US"/>
              <a:pPr/>
              <a:t>‹#›</a:t>
            </a:fld>
            <a:endParaRPr lang="en-US"/>
          </a:p>
        </p:txBody>
      </p:sp>
    </p:spTree>
    <p:extLst>
      <p:ext uri="{BB962C8B-B14F-4D97-AF65-F5344CB8AC3E}">
        <p14:creationId xmlns:p14="http://schemas.microsoft.com/office/powerpoint/2010/main" val="20027474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endParaRPr lang="en-US"/>
          </a:p>
        </p:txBody>
      </p:sp>
      <p:sp>
        <p:nvSpPr>
          <p:cNvPr id="4" name="Date Placeholder 3"/>
          <p:cNvSpPr>
            <a:spLocks noGrp="1"/>
          </p:cNvSpPr>
          <p:nvPr>
            <p:ph type="dt" sz="half" idx="10"/>
          </p:nvPr>
        </p:nvSpPr>
        <p:spPr>
          <a:xfrm>
            <a:off x="457200" y="6243638"/>
            <a:ext cx="2133600" cy="457200"/>
          </a:xfrm>
        </p:spPr>
        <p:txBody>
          <a:bodyPr/>
          <a:lstStyle>
            <a:lvl1pPr>
              <a:defRPr/>
            </a:lvl1pPr>
          </a:lstStyle>
          <a:p>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fld id="{D68B838D-460A-4F27-B8EC-80A3C08D62FF}" type="slidenum">
              <a:rPr lang="en-US"/>
              <a:pPr/>
              <a:t>‹#›</a:t>
            </a:fld>
            <a:endParaRPr lang="en-US"/>
          </a:p>
        </p:txBody>
      </p:sp>
    </p:spTree>
    <p:extLst>
      <p:ext uri="{BB962C8B-B14F-4D97-AF65-F5344CB8AC3E}">
        <p14:creationId xmlns:p14="http://schemas.microsoft.com/office/powerpoint/2010/main" val="42119552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11" descr="new title bgd large copy.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5" y="0"/>
            <a:ext cx="91598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2" descr="logo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9900" y="6080125"/>
            <a:ext cx="114458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5"/>
          <p:cNvSpPr>
            <a:spLocks noChangeArrowheads="1"/>
          </p:cNvSpPr>
          <p:nvPr userDrawn="1"/>
        </p:nvSpPr>
        <p:spPr bwMode="auto">
          <a:xfrm>
            <a:off x="-15875" y="0"/>
            <a:ext cx="9159875" cy="152400"/>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endParaRPr lang="en-US" altLang="en-US">
              <a:solidFill>
                <a:prstClr val="black"/>
              </a:solidFill>
            </a:endParaRPr>
          </a:p>
        </p:txBody>
      </p:sp>
      <p:pic>
        <p:nvPicPr>
          <p:cNvPr id="6" name="Picture 14" descr="StackedLockup_Tag_PMS copy"/>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202488" y="6130925"/>
            <a:ext cx="16922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3"/>
          <p:cNvSpPr>
            <a:spLocks noGrp="1" noChangeArrowheads="1"/>
          </p:cNvSpPr>
          <p:nvPr>
            <p:ph type="subTitle" idx="1"/>
          </p:nvPr>
        </p:nvSpPr>
        <p:spPr>
          <a:xfrm>
            <a:off x="1143793" y="381000"/>
            <a:ext cx="6824663" cy="1822450"/>
          </a:xfrm>
          <a:prstGeom prst="rect">
            <a:avLst/>
          </a:prstGeom>
        </p:spPr>
        <p:txBody>
          <a:bodyPr anchor="ctr"/>
          <a:lstStyle>
            <a:lvl1pPr algn="ctr">
              <a:buFontTx/>
              <a:buNone/>
              <a:defRPr sz="3200" baseline="0">
                <a:solidFill>
                  <a:schemeClr val="bg1"/>
                </a:solidFill>
              </a:defRPr>
            </a:lvl1pPr>
          </a:lstStyle>
          <a:p>
            <a:r>
              <a:rPr lang="en-US"/>
              <a:t>Click to edit Master subtitle style</a:t>
            </a:r>
            <a:endParaRPr lang="en-US" dirty="0"/>
          </a:p>
        </p:txBody>
      </p:sp>
    </p:spTree>
    <p:extLst>
      <p:ext uri="{BB962C8B-B14F-4D97-AF65-F5344CB8AC3E}">
        <p14:creationId xmlns:p14="http://schemas.microsoft.com/office/powerpoint/2010/main" val="11510560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36"/>
          <p:cNvSpPr>
            <a:spLocks noGrp="1" noChangeArrowheads="1"/>
          </p:cNvSpPr>
          <p:nvPr>
            <p:ph type="title"/>
          </p:nvPr>
        </p:nvSpPr>
        <p:spPr bwMode="auto">
          <a:xfrm>
            <a:off x="421705" y="144463"/>
            <a:ext cx="8294687" cy="846137"/>
          </a:xfrm>
          <a:prstGeom prst="rect">
            <a:avLst/>
          </a:prstGeom>
          <a:noFill/>
          <a:ln w="9525">
            <a:noFill/>
            <a:miter lim="800000"/>
            <a:headEnd/>
            <a:tailEnd/>
          </a:ln>
        </p:spPr>
        <p:txBody>
          <a:bodyPr/>
          <a:lstStyle/>
          <a:p>
            <a:pPr lvl="0"/>
            <a:r>
              <a:rPr lang="en-US"/>
              <a:t>Click to edit Master title style</a:t>
            </a:r>
            <a:endParaRPr lang="en-US" dirty="0"/>
          </a:p>
        </p:txBody>
      </p:sp>
      <p:sp>
        <p:nvSpPr>
          <p:cNvPr id="4" name="Rectangle 28"/>
          <p:cNvSpPr>
            <a:spLocks noGrp="1" noChangeArrowheads="1"/>
          </p:cNvSpPr>
          <p:nvPr>
            <p:ph type="sldNum" sz="quarter" idx="10"/>
          </p:nvPr>
        </p:nvSpPr>
        <p:spPr>
          <a:ln/>
        </p:spPr>
        <p:txBody>
          <a:bodyPr/>
          <a:lstStyle>
            <a:lvl1pPr>
              <a:defRPr/>
            </a:lvl1pPr>
          </a:lstStyle>
          <a:p>
            <a:pPr>
              <a:defRPr/>
            </a:pPr>
            <a:fld id="{0B782BFF-A4F2-4AB7-B8ED-0D971B9B0A7C}"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560412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Title 3"/>
          <p:cNvSpPr>
            <a:spLocks noGrp="1"/>
          </p:cNvSpPr>
          <p:nvPr>
            <p:ph type="title"/>
          </p:nvPr>
        </p:nvSpPr>
        <p:spPr>
          <a:xfrm>
            <a:off x="422275" y="144463"/>
            <a:ext cx="8294688" cy="846137"/>
          </a:xfrm>
        </p:spPr>
        <p:txBody>
          <a:bodyPr/>
          <a:lstStyle/>
          <a:p>
            <a:r>
              <a:rPr lang="en-US"/>
              <a:t>Click to edit Master title style</a:t>
            </a:r>
            <a:endParaRPr lang="en-US" dirty="0"/>
          </a:p>
        </p:txBody>
      </p:sp>
      <p:sp>
        <p:nvSpPr>
          <p:cNvPr id="6" name="Picture Placeholder 5"/>
          <p:cNvSpPr>
            <a:spLocks noGrp="1"/>
          </p:cNvSpPr>
          <p:nvPr>
            <p:ph type="pic" sz="quarter" idx="11"/>
          </p:nvPr>
        </p:nvSpPr>
        <p:spPr>
          <a:xfrm>
            <a:off x="482600" y="1357313"/>
            <a:ext cx="8234363" cy="4367212"/>
          </a:xfrm>
        </p:spPr>
        <p:txBody>
          <a:bodyPr rtlCol="0">
            <a:normAutofit/>
          </a:bodyPr>
          <a:lstStyle>
            <a:lvl1pPr>
              <a:buFontTx/>
              <a:buNone/>
              <a:defRPr/>
            </a:lvl1pPr>
          </a:lstStyle>
          <a:p>
            <a:pPr lvl="0"/>
            <a:endParaRPr lang="en-US" noProof="0" dirty="0"/>
          </a:p>
        </p:txBody>
      </p:sp>
      <p:sp>
        <p:nvSpPr>
          <p:cNvPr id="8" name="Text Placeholder 7"/>
          <p:cNvSpPr>
            <a:spLocks noGrp="1"/>
          </p:cNvSpPr>
          <p:nvPr>
            <p:ph type="body" sz="quarter" idx="12"/>
          </p:nvPr>
        </p:nvSpPr>
        <p:spPr>
          <a:xfrm>
            <a:off x="482600" y="5854700"/>
            <a:ext cx="8234363" cy="295275"/>
          </a:xfrm>
        </p:spPr>
        <p:txBody>
          <a:bodyPr>
            <a:noAutofit/>
          </a:bodyPr>
          <a:lstStyle>
            <a:lvl1pPr>
              <a:buFontTx/>
              <a:buNone/>
              <a:defRPr sz="1400"/>
            </a:lvl1pPr>
            <a:lvl2pPr>
              <a:defRPr sz="1400"/>
            </a:lvl2pPr>
            <a:lvl3pPr>
              <a:defRPr sz="1400"/>
            </a:lvl3pPr>
            <a:lvl4pPr>
              <a:defRPr sz="1400"/>
            </a:lvl4pPr>
            <a:lvl5pPr>
              <a:defRPr sz="1400"/>
            </a:lvl5pPr>
          </a:lstStyle>
          <a:p>
            <a:pPr lvl="0"/>
            <a:endParaRPr lang="en-US" dirty="0"/>
          </a:p>
        </p:txBody>
      </p:sp>
      <p:sp>
        <p:nvSpPr>
          <p:cNvPr id="5" name="Rectangle 28"/>
          <p:cNvSpPr>
            <a:spLocks noGrp="1" noChangeArrowheads="1"/>
          </p:cNvSpPr>
          <p:nvPr>
            <p:ph type="sldNum" sz="quarter" idx="13"/>
          </p:nvPr>
        </p:nvSpPr>
        <p:spPr>
          <a:ln/>
        </p:spPr>
        <p:txBody>
          <a:bodyPr/>
          <a:lstStyle>
            <a:lvl1pPr>
              <a:defRPr/>
            </a:lvl1pPr>
          </a:lstStyle>
          <a:p>
            <a:pPr>
              <a:defRPr/>
            </a:pPr>
            <a:fld id="{24ED0B3B-0CD3-4CF4-9E42-CB44E7CC1628}"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330672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8"/>
          <p:cNvSpPr>
            <a:spLocks noGrp="1" noChangeArrowheads="1"/>
          </p:cNvSpPr>
          <p:nvPr>
            <p:ph type="sldNum" sz="quarter" idx="10"/>
          </p:nvPr>
        </p:nvSpPr>
        <p:spPr>
          <a:ln/>
        </p:spPr>
        <p:txBody>
          <a:bodyPr/>
          <a:lstStyle>
            <a:lvl1pPr>
              <a:defRPr/>
            </a:lvl1pPr>
          </a:lstStyle>
          <a:p>
            <a:pPr>
              <a:defRPr/>
            </a:pPr>
            <a:fld id="{D26E3E6B-7A48-4670-A062-3884AE429C90}"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9870784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28"/>
          <p:cNvSpPr>
            <a:spLocks noGrp="1" noChangeArrowheads="1"/>
          </p:cNvSpPr>
          <p:nvPr>
            <p:ph type="sldNum" sz="quarter" idx="10"/>
          </p:nvPr>
        </p:nvSpPr>
        <p:spPr>
          <a:ln/>
        </p:spPr>
        <p:txBody>
          <a:bodyPr/>
          <a:lstStyle>
            <a:lvl1pPr>
              <a:defRPr/>
            </a:lvl1pPr>
          </a:lstStyle>
          <a:p>
            <a:pPr>
              <a:defRPr/>
            </a:pPr>
            <a:fld id="{4D4B86F1-1BD6-4E0F-8D61-8220F19F5445}"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4866323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3710" y="196347"/>
            <a:ext cx="8229600" cy="725736"/>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8"/>
          <p:cNvSpPr>
            <a:spLocks noGrp="1" noChangeArrowheads="1"/>
          </p:cNvSpPr>
          <p:nvPr>
            <p:ph type="sldNum" sz="quarter" idx="10"/>
          </p:nvPr>
        </p:nvSpPr>
        <p:spPr>
          <a:ln/>
        </p:spPr>
        <p:txBody>
          <a:bodyPr/>
          <a:lstStyle>
            <a:lvl1pPr>
              <a:defRPr/>
            </a:lvl1pPr>
          </a:lstStyle>
          <a:p>
            <a:pPr>
              <a:defRPr/>
            </a:pPr>
            <a:fld id="{192EC7C7-3547-49C6-8713-2DE98FA98E05}"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8593530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28"/>
          <p:cNvSpPr>
            <a:spLocks noGrp="1" noChangeArrowheads="1"/>
          </p:cNvSpPr>
          <p:nvPr>
            <p:ph type="sldNum" sz="quarter" idx="10"/>
          </p:nvPr>
        </p:nvSpPr>
        <p:spPr>
          <a:ln/>
        </p:spPr>
        <p:txBody>
          <a:bodyPr/>
          <a:lstStyle>
            <a:lvl1pPr>
              <a:defRPr/>
            </a:lvl1pPr>
          </a:lstStyle>
          <a:p>
            <a:pPr>
              <a:defRPr/>
            </a:pPr>
            <a:fld id="{8F9F2D57-F909-4DAC-87F7-28F696D97AF3}"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771423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8"/>
          <p:cNvSpPr>
            <a:spLocks noGrp="1" noChangeArrowheads="1"/>
          </p:cNvSpPr>
          <p:nvPr>
            <p:ph type="sldNum" sz="quarter" idx="10"/>
          </p:nvPr>
        </p:nvSpPr>
        <p:spPr>
          <a:ln/>
        </p:spPr>
        <p:txBody>
          <a:bodyPr/>
          <a:lstStyle>
            <a:lvl1pPr>
              <a:defRPr/>
            </a:lvl1pPr>
          </a:lstStyle>
          <a:p>
            <a:pPr>
              <a:defRPr/>
            </a:pPr>
            <a:fld id="{05FD605E-7F77-4A28-84AF-241E78C296DE}"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672198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52642"/>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1252642"/>
            <a:ext cx="5111750" cy="487352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566177"/>
            <a:ext cx="3008313" cy="355998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Rectangle 28"/>
          <p:cNvSpPr>
            <a:spLocks noGrp="1" noChangeArrowheads="1"/>
          </p:cNvSpPr>
          <p:nvPr>
            <p:ph type="sldNum" sz="quarter" idx="10"/>
          </p:nvPr>
        </p:nvSpPr>
        <p:spPr>
          <a:ln/>
        </p:spPr>
        <p:txBody>
          <a:bodyPr/>
          <a:lstStyle>
            <a:lvl1pPr>
              <a:defRPr/>
            </a:lvl1pPr>
          </a:lstStyle>
          <a:p>
            <a:pPr>
              <a:defRPr/>
            </a:pPr>
            <a:fld id="{27C5BD11-96C8-4169-AB5D-676015DBE5CF}"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5669714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2" name="Picture 11" descr="new bgd lrg copy.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4" descr="NIH 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71850" y="4081463"/>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5" descr="DHHS Logo"/>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481263" y="40386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6" descr="StackedLockup_Tag_PMS"/>
          <p:cNvPicPr>
            <a:picLocks noChangeAspect="1" noChangeArrowheads="1"/>
          </p:cNvPicPr>
          <p:nvPr userDrawn="1"/>
        </p:nvPicPr>
        <p:blipFill>
          <a:blip>
            <a:extLst>
              <a:ext uri="{28A0092B-C50C-407E-A947-70E740481C1C}">
                <a14:useLocalDpi xmlns:a14="http://schemas.microsoft.com/office/drawing/2010/main" val="0"/>
              </a:ext>
            </a:extLst>
          </a:blip>
          <a:srcRect/>
          <a:stretch>
            <a:fillRect/>
          </a:stretch>
        </p:blipFill>
        <p:spPr bwMode="auto">
          <a:xfrm>
            <a:off x="4287838" y="4075113"/>
            <a:ext cx="20764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5"/>
          <p:cNvSpPr>
            <a:spLocks noChangeArrowheads="1"/>
          </p:cNvSpPr>
          <p:nvPr userDrawn="1"/>
        </p:nvSpPr>
        <p:spPr bwMode="auto">
          <a:xfrm>
            <a:off x="0" y="0"/>
            <a:ext cx="9144000" cy="152400"/>
          </a:xfrm>
          <a:prstGeom prst="rect">
            <a:avLst/>
          </a:prstGeom>
          <a:solidFill>
            <a:srgbClr val="99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endParaRPr lang="en-US" altLang="en-US">
              <a:solidFill>
                <a:prstClr val="black"/>
              </a:solidFill>
            </a:endParaRPr>
          </a:p>
        </p:txBody>
      </p:sp>
      <p:sp>
        <p:nvSpPr>
          <p:cNvPr id="7" name="Slide Number Placeholder 2"/>
          <p:cNvSpPr>
            <a:spLocks noGrp="1"/>
          </p:cNvSpPr>
          <p:nvPr>
            <p:ph type="sldNum" sz="quarter" idx="10"/>
          </p:nvPr>
        </p:nvSpPr>
        <p:spPr/>
        <p:txBody>
          <a:bodyPr/>
          <a:lstStyle>
            <a:lvl1pPr>
              <a:defRPr/>
            </a:lvl1pPr>
          </a:lstStyle>
          <a:p>
            <a:pPr>
              <a:defRPr/>
            </a:pPr>
            <a:fld id="{1DBDAFEF-02EC-4224-8E74-B79A0718AF60}" type="slidenum">
              <a:rPr lang="en-US">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0258334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7D372F-59F0-461C-900B-52D7CD7F13E4}" type="slidenum">
              <a:rPr lang="en-US"/>
              <a:pPr>
                <a:defRPr/>
              </a:pPr>
              <a:t>‹#›</a:t>
            </a:fld>
            <a:endParaRPr lang="en-US"/>
          </a:p>
        </p:txBody>
      </p:sp>
    </p:spTree>
    <p:extLst>
      <p:ext uri="{BB962C8B-B14F-4D97-AF65-F5344CB8AC3E}">
        <p14:creationId xmlns:p14="http://schemas.microsoft.com/office/powerpoint/2010/main" val="36124159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FAA2455-5DB6-49DF-8015-052BCC7A5CA8}" type="slidenum">
              <a:rPr lang="en-US"/>
              <a:pPr>
                <a:defRPr/>
              </a:pPr>
              <a:t>‹#›</a:t>
            </a:fld>
            <a:endParaRPr lang="en-US"/>
          </a:p>
        </p:txBody>
      </p:sp>
    </p:spTree>
    <p:extLst>
      <p:ext uri="{BB962C8B-B14F-4D97-AF65-F5344CB8AC3E}">
        <p14:creationId xmlns:p14="http://schemas.microsoft.com/office/powerpoint/2010/main" val="1603761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D53D9F-2AC2-4E70-AEF6-71D61C97BF8F}" type="slidenum">
              <a:rPr lang="en-US"/>
              <a:pPr>
                <a:defRPr/>
              </a:pPr>
              <a:t>‹#›</a:t>
            </a:fld>
            <a:endParaRPr lang="en-US"/>
          </a:p>
        </p:txBody>
      </p:sp>
    </p:spTree>
    <p:extLst>
      <p:ext uri="{BB962C8B-B14F-4D97-AF65-F5344CB8AC3E}">
        <p14:creationId xmlns:p14="http://schemas.microsoft.com/office/powerpoint/2010/main" val="17563791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A9E8657-1D25-4427-BEB5-1CA85B03BD3B}" type="slidenum">
              <a:rPr lang="en-US"/>
              <a:pPr>
                <a:defRPr/>
              </a:pPr>
              <a:t>‹#›</a:t>
            </a:fld>
            <a:endParaRPr lang="en-US"/>
          </a:p>
        </p:txBody>
      </p:sp>
    </p:spTree>
    <p:extLst>
      <p:ext uri="{BB962C8B-B14F-4D97-AF65-F5344CB8AC3E}">
        <p14:creationId xmlns:p14="http://schemas.microsoft.com/office/powerpoint/2010/main" val="4071478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5CD1B0A-B2BC-4378-B561-1AABB3915B15}" type="slidenum">
              <a:rPr lang="en-US"/>
              <a:pPr>
                <a:defRPr/>
              </a:pPr>
              <a:t>‹#›</a:t>
            </a:fld>
            <a:endParaRPr lang="en-US"/>
          </a:p>
        </p:txBody>
      </p:sp>
    </p:spTree>
    <p:extLst>
      <p:ext uri="{BB962C8B-B14F-4D97-AF65-F5344CB8AC3E}">
        <p14:creationId xmlns:p14="http://schemas.microsoft.com/office/powerpoint/2010/main" val="31876813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E561941-4F23-4AEB-A016-875D4D707A33}" type="slidenum">
              <a:rPr lang="en-US"/>
              <a:pPr>
                <a:defRPr/>
              </a:pPr>
              <a:t>‹#›</a:t>
            </a:fld>
            <a:endParaRPr lang="en-US"/>
          </a:p>
        </p:txBody>
      </p:sp>
    </p:spTree>
    <p:extLst>
      <p:ext uri="{BB962C8B-B14F-4D97-AF65-F5344CB8AC3E}">
        <p14:creationId xmlns:p14="http://schemas.microsoft.com/office/powerpoint/2010/main" val="7349364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59DA6C3-7610-435C-BDEE-AE8BE0815BEB}" type="slidenum">
              <a:rPr lang="en-US"/>
              <a:pPr>
                <a:defRPr/>
              </a:pPr>
              <a:t>‹#›</a:t>
            </a:fld>
            <a:endParaRPr lang="en-US"/>
          </a:p>
        </p:txBody>
      </p:sp>
    </p:spTree>
    <p:extLst>
      <p:ext uri="{BB962C8B-B14F-4D97-AF65-F5344CB8AC3E}">
        <p14:creationId xmlns:p14="http://schemas.microsoft.com/office/powerpoint/2010/main" val="22381535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1CBCA3-CEE3-40E2-9DEE-B37F042B4156}" type="slidenum">
              <a:rPr lang="en-US"/>
              <a:pPr>
                <a:defRPr/>
              </a:pPr>
              <a:t>‹#›</a:t>
            </a:fld>
            <a:endParaRPr lang="en-US"/>
          </a:p>
        </p:txBody>
      </p:sp>
    </p:spTree>
    <p:extLst>
      <p:ext uri="{BB962C8B-B14F-4D97-AF65-F5344CB8AC3E}">
        <p14:creationId xmlns:p14="http://schemas.microsoft.com/office/powerpoint/2010/main" val="6930626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285B269-C888-4CF0-B518-9259E278F9AD}" type="slidenum">
              <a:rPr lang="en-US"/>
              <a:pPr>
                <a:defRPr/>
              </a:pPr>
              <a:t>‹#›</a:t>
            </a:fld>
            <a:endParaRPr lang="en-US"/>
          </a:p>
        </p:txBody>
      </p:sp>
    </p:spTree>
    <p:extLst>
      <p:ext uri="{BB962C8B-B14F-4D97-AF65-F5344CB8AC3E}">
        <p14:creationId xmlns:p14="http://schemas.microsoft.com/office/powerpoint/2010/main" val="24985713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4CDC490-6BCD-4161-854D-77C3BBA627D9}" type="slidenum">
              <a:rPr lang="en-US"/>
              <a:pPr>
                <a:defRPr/>
              </a:pPr>
              <a:t>‹#›</a:t>
            </a:fld>
            <a:endParaRPr lang="en-US"/>
          </a:p>
        </p:txBody>
      </p:sp>
    </p:spTree>
    <p:extLst>
      <p:ext uri="{BB962C8B-B14F-4D97-AF65-F5344CB8AC3E}">
        <p14:creationId xmlns:p14="http://schemas.microsoft.com/office/powerpoint/2010/main" val="24673385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7E9E088-304B-4E33-A46E-87E4653B1460}" type="slidenum">
              <a:rPr lang="en-US"/>
              <a:pPr>
                <a:defRPr/>
              </a:pPr>
              <a:t>‹#›</a:t>
            </a:fld>
            <a:endParaRPr lang="en-US"/>
          </a:p>
        </p:txBody>
      </p:sp>
    </p:spTree>
    <p:extLst>
      <p:ext uri="{BB962C8B-B14F-4D97-AF65-F5344CB8AC3E}">
        <p14:creationId xmlns:p14="http://schemas.microsoft.com/office/powerpoint/2010/main" val="36249068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0"/>
            <a:ext cx="8229600" cy="4525963"/>
          </a:xfrm>
        </p:spPr>
        <p:txBody>
          <a:bodyPr/>
          <a:lstStyle/>
          <a:p>
            <a:endParaRPr lang="en-US"/>
          </a:p>
        </p:txBody>
      </p:sp>
    </p:spTree>
    <p:extLst>
      <p:ext uri="{BB962C8B-B14F-4D97-AF65-F5344CB8AC3E}">
        <p14:creationId xmlns:p14="http://schemas.microsoft.com/office/powerpoint/2010/main" val="17674138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7D372F-59F0-461C-900B-52D7CD7F13E4}" type="slidenum">
              <a:rPr lang="en-US"/>
              <a:pPr>
                <a:defRPr/>
              </a:pPr>
              <a:t>‹#›</a:t>
            </a:fld>
            <a:endParaRPr lang="en-US"/>
          </a:p>
        </p:txBody>
      </p:sp>
    </p:spTree>
    <p:extLst>
      <p:ext uri="{BB962C8B-B14F-4D97-AF65-F5344CB8AC3E}">
        <p14:creationId xmlns:p14="http://schemas.microsoft.com/office/powerpoint/2010/main" val="20948380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FAA2455-5DB6-49DF-8015-052BCC7A5CA8}" type="slidenum">
              <a:rPr lang="en-US"/>
              <a:pPr>
                <a:defRPr/>
              </a:pPr>
              <a:t>‹#›</a:t>
            </a:fld>
            <a:endParaRPr lang="en-US"/>
          </a:p>
        </p:txBody>
      </p:sp>
    </p:spTree>
    <p:extLst>
      <p:ext uri="{BB962C8B-B14F-4D97-AF65-F5344CB8AC3E}">
        <p14:creationId xmlns:p14="http://schemas.microsoft.com/office/powerpoint/2010/main" val="23841685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2D53D9F-2AC2-4E70-AEF6-71D61C97BF8F}" type="slidenum">
              <a:rPr lang="en-US"/>
              <a:pPr>
                <a:defRPr/>
              </a:pPr>
              <a:t>‹#›</a:t>
            </a:fld>
            <a:endParaRPr lang="en-US"/>
          </a:p>
        </p:txBody>
      </p:sp>
    </p:spTree>
    <p:extLst>
      <p:ext uri="{BB962C8B-B14F-4D97-AF65-F5344CB8AC3E}">
        <p14:creationId xmlns:p14="http://schemas.microsoft.com/office/powerpoint/2010/main" val="37464275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A9E8657-1D25-4427-BEB5-1CA85B03BD3B}" type="slidenum">
              <a:rPr lang="en-US"/>
              <a:pPr>
                <a:defRPr/>
              </a:pPr>
              <a:t>‹#›</a:t>
            </a:fld>
            <a:endParaRPr lang="en-US"/>
          </a:p>
        </p:txBody>
      </p:sp>
    </p:spTree>
    <p:extLst>
      <p:ext uri="{BB962C8B-B14F-4D97-AF65-F5344CB8AC3E}">
        <p14:creationId xmlns:p14="http://schemas.microsoft.com/office/powerpoint/2010/main" val="23287745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5CD1B0A-B2BC-4378-B561-1AABB3915B15}" type="slidenum">
              <a:rPr lang="en-US"/>
              <a:pPr>
                <a:defRPr/>
              </a:pPr>
              <a:t>‹#›</a:t>
            </a:fld>
            <a:endParaRPr lang="en-US"/>
          </a:p>
        </p:txBody>
      </p:sp>
    </p:spTree>
    <p:extLst>
      <p:ext uri="{BB962C8B-B14F-4D97-AF65-F5344CB8AC3E}">
        <p14:creationId xmlns:p14="http://schemas.microsoft.com/office/powerpoint/2010/main" val="19371124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E561941-4F23-4AEB-A016-875D4D707A33}" type="slidenum">
              <a:rPr lang="en-US"/>
              <a:pPr>
                <a:defRPr/>
              </a:pPr>
              <a:t>‹#›</a:t>
            </a:fld>
            <a:endParaRPr lang="en-US"/>
          </a:p>
        </p:txBody>
      </p:sp>
    </p:spTree>
    <p:extLst>
      <p:ext uri="{BB962C8B-B14F-4D97-AF65-F5344CB8AC3E}">
        <p14:creationId xmlns:p14="http://schemas.microsoft.com/office/powerpoint/2010/main" val="7281780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59DA6C3-7610-435C-BDEE-AE8BE0815BEB}" type="slidenum">
              <a:rPr lang="en-US"/>
              <a:pPr>
                <a:defRPr/>
              </a:pPr>
              <a:t>‹#›</a:t>
            </a:fld>
            <a:endParaRPr lang="en-US"/>
          </a:p>
        </p:txBody>
      </p:sp>
    </p:spTree>
    <p:extLst>
      <p:ext uri="{BB962C8B-B14F-4D97-AF65-F5344CB8AC3E}">
        <p14:creationId xmlns:p14="http://schemas.microsoft.com/office/powerpoint/2010/main" val="7046368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1CBCA3-CEE3-40E2-9DEE-B37F042B4156}" type="slidenum">
              <a:rPr lang="en-US"/>
              <a:pPr>
                <a:defRPr/>
              </a:pPr>
              <a:t>‹#›</a:t>
            </a:fld>
            <a:endParaRPr lang="en-US"/>
          </a:p>
        </p:txBody>
      </p:sp>
    </p:spTree>
    <p:extLst>
      <p:ext uri="{BB962C8B-B14F-4D97-AF65-F5344CB8AC3E}">
        <p14:creationId xmlns:p14="http://schemas.microsoft.com/office/powerpoint/2010/main" val="1079900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285B269-C888-4CF0-B518-9259E278F9AD}" type="slidenum">
              <a:rPr lang="en-US"/>
              <a:pPr>
                <a:defRPr/>
              </a:pPr>
              <a:t>‹#›</a:t>
            </a:fld>
            <a:endParaRPr lang="en-US"/>
          </a:p>
        </p:txBody>
      </p:sp>
    </p:spTree>
    <p:extLst>
      <p:ext uri="{BB962C8B-B14F-4D97-AF65-F5344CB8AC3E}">
        <p14:creationId xmlns:p14="http://schemas.microsoft.com/office/powerpoint/2010/main" val="33342066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4CDC490-6BCD-4161-854D-77C3BBA627D9}" type="slidenum">
              <a:rPr lang="en-US"/>
              <a:pPr>
                <a:defRPr/>
              </a:pPr>
              <a:t>‹#›</a:t>
            </a:fld>
            <a:endParaRPr lang="en-US"/>
          </a:p>
        </p:txBody>
      </p:sp>
    </p:spTree>
    <p:extLst>
      <p:ext uri="{BB962C8B-B14F-4D97-AF65-F5344CB8AC3E}">
        <p14:creationId xmlns:p14="http://schemas.microsoft.com/office/powerpoint/2010/main" val="5939602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7E9E088-304B-4E33-A46E-87E4653B1460}" type="slidenum">
              <a:rPr lang="en-US"/>
              <a:pPr>
                <a:defRPr/>
              </a:pPr>
              <a:t>‹#›</a:t>
            </a:fld>
            <a:endParaRPr lang="en-US"/>
          </a:p>
        </p:txBody>
      </p:sp>
    </p:spTree>
    <p:extLst>
      <p:ext uri="{BB962C8B-B14F-4D97-AF65-F5344CB8AC3E}">
        <p14:creationId xmlns:p14="http://schemas.microsoft.com/office/powerpoint/2010/main" val="21303886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hart Placeholder 2"/>
          <p:cNvSpPr>
            <a:spLocks noGrp="1"/>
          </p:cNvSpPr>
          <p:nvPr>
            <p:ph type="chart" idx="1"/>
          </p:nvPr>
        </p:nvSpPr>
        <p:spPr>
          <a:xfrm>
            <a:off x="457200" y="1600202"/>
            <a:ext cx="8229600" cy="4525963"/>
          </a:xfrm>
        </p:spPr>
        <p:txBody>
          <a:bodyPr/>
          <a:lstStyle/>
          <a:p>
            <a:endParaRPr lang="en-US"/>
          </a:p>
        </p:txBody>
      </p:sp>
    </p:spTree>
    <p:extLst>
      <p:ext uri="{BB962C8B-B14F-4D97-AF65-F5344CB8AC3E}">
        <p14:creationId xmlns:p14="http://schemas.microsoft.com/office/powerpoint/2010/main" val="32234586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0DBA9-9422-1E49-6E76-CD681AC3B23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B65A8FD-0548-6387-8B49-776CA156AE5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FA247D4-1DD5-BAC7-17CE-B1298F6A15AE}"/>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AE0DC934-0769-254E-5E0C-576DBB8F5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5DE925-2F39-5BC8-6BDD-F2BA0C6AE117}"/>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9820902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04A5-F073-D9BA-8DEF-C78DE39612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5E9D3-3458-70FB-1B4F-ECB5DB00DF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6731B-4F80-AB05-2B4F-1C52030AA87E}"/>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B34E51B5-1866-BE8B-F616-01F8D8D57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A39B6-BFC3-5259-0EF3-9137C4020215}"/>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140713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39FEC-E5E3-4956-1D6D-030A8C67675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418BA9B-7AA5-F15A-4EA2-6CEDD91B9FA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1D4CD7-4E4A-FC55-568B-E6868D496C50}"/>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265F924B-0C7E-C196-366C-3EE98CB16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8C5C3D-E5A2-E45F-D299-DB0DB01BBB50}"/>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395263371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9CDD-73F4-D3C6-BC01-E61BD544C7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F0322E-FAE9-A491-DB3A-78B85EA1819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AC215D-88FA-B612-4C18-2801345BB13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EE12F2-D667-37B1-D0A0-1E142CD2EAD6}"/>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6" name="Footer Placeholder 5">
            <a:extLst>
              <a:ext uri="{FF2B5EF4-FFF2-40B4-BE49-F238E27FC236}">
                <a16:creationId xmlns:a16="http://schemas.microsoft.com/office/drawing/2014/main" id="{3BB9E9B4-93D6-BEB9-8F83-EDF5D53695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039A4D-AB8F-8EA3-264A-4886A5621F79}"/>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13560380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93DFC-DA33-A42D-B334-BFDEAA242BD6}"/>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3A4081-81BD-EAF0-946D-B1CD238FE1A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DF2DE6A-A22E-532B-C2A8-36B5AE79DCE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7031F-9852-9A3B-A80D-1CC9CB066D0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4A3AEC4-ED6A-CF99-572A-68557CABDE0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5F8670-4AD0-4278-8E50-E8C1C52B4553}"/>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8" name="Footer Placeholder 7">
            <a:extLst>
              <a:ext uri="{FF2B5EF4-FFF2-40B4-BE49-F238E27FC236}">
                <a16:creationId xmlns:a16="http://schemas.microsoft.com/office/drawing/2014/main" id="{EC8D601E-6346-EAF1-D63F-82E85F8A5E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5652AF-5125-6790-A926-46E5AA6E2748}"/>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41352735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375F-D52B-D5A9-F3B5-BD5A4245DA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8FAE7E-E4C1-8EED-B38F-D83C681415C5}"/>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4" name="Footer Placeholder 3">
            <a:extLst>
              <a:ext uri="{FF2B5EF4-FFF2-40B4-BE49-F238E27FC236}">
                <a16:creationId xmlns:a16="http://schemas.microsoft.com/office/drawing/2014/main" id="{B6E3F05A-0157-9A95-7F57-DE23C44C6E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319B4C-8B46-8591-70D2-86A754F9000B}"/>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128063746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8D858C-3D9E-50D0-6116-D93513D648F8}"/>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3" name="Footer Placeholder 2">
            <a:extLst>
              <a:ext uri="{FF2B5EF4-FFF2-40B4-BE49-F238E27FC236}">
                <a16:creationId xmlns:a16="http://schemas.microsoft.com/office/drawing/2014/main" id="{36ED9628-8276-7A3D-4172-BF8BE386E4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E4D492-A455-6B43-D081-3D74790353DD}"/>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29166262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99DBF-F881-34D9-67B4-5EC62AE4A8C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83DA176-9A54-B4E1-8274-B2A27D75B7F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000-667B-9FA1-0211-FB0D2395634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6B2A69D-6D09-4274-852F-E50FC51D3F28}"/>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6" name="Footer Placeholder 5">
            <a:extLst>
              <a:ext uri="{FF2B5EF4-FFF2-40B4-BE49-F238E27FC236}">
                <a16:creationId xmlns:a16="http://schemas.microsoft.com/office/drawing/2014/main" id="{92DEA73E-1384-B0CB-F61C-1C5CC6C4D1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77FCD-FD12-7D92-5FB3-973B364A743B}"/>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34647294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98DA-6069-55CD-9D2C-661EBCA5174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2BEF880-9C6F-0A04-696F-D80B65236668}"/>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48162D8A-A2E4-44EF-9827-4BA72E9659D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417CC94-832D-A6A2-2186-BD3A99615C63}"/>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6" name="Footer Placeholder 5">
            <a:extLst>
              <a:ext uri="{FF2B5EF4-FFF2-40B4-BE49-F238E27FC236}">
                <a16:creationId xmlns:a16="http://schemas.microsoft.com/office/drawing/2014/main" id="{95ACA1F2-6E0E-FB6C-B0E1-F530644CF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63BECE-B7AE-7954-E002-C71F6BFC0884}"/>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30077831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2E71-59CE-C5CB-87AE-5C0E04A4AD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DB2D8D-3B2D-F224-2CC7-A6695F8AF7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CFB855-9311-17A7-D1A8-88BD6BD5FDC7}"/>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2D26FACA-A0B6-B39B-DF28-FA72FF86A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D1FD6-740C-7871-3541-65FB0A48DCB3}"/>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11260376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D852EB-E99E-D6B1-449C-A07669203DD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F5FCAA-4A4D-8EA5-2482-028BA0E920D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20A1A9-B6E4-D6A1-6EBE-84957C0C4E2E}"/>
              </a:ext>
            </a:extLst>
          </p:cNvPr>
          <p:cNvSpPr>
            <a:spLocks noGrp="1"/>
          </p:cNvSpPr>
          <p:nvPr>
            <p:ph type="dt" sz="half" idx="10"/>
          </p:nvPr>
        </p:nvSpPr>
        <p:spPr/>
        <p:txBody>
          <a:body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492ACF5A-51B5-1289-9019-4C93E3F904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2B18F-BE62-5E9F-F27C-B4DDC4577AD2}"/>
              </a:ext>
            </a:extLst>
          </p:cNvPr>
          <p:cNvSpPr>
            <a:spLocks noGrp="1"/>
          </p:cNvSpPr>
          <p:nvPr>
            <p:ph type="sldNum" sz="quarter" idx="12"/>
          </p:nvPr>
        </p:nvSpPr>
        <p:spPr/>
        <p:txBody>
          <a:bodyPr/>
          <a:lstStyle/>
          <a:p>
            <a:fld id="{5A75D858-0776-4B66-8993-4C4B294AFC95}" type="slidenum">
              <a:rPr lang="en-US" smtClean="0"/>
              <a:t>‹#›</a:t>
            </a:fld>
            <a:endParaRPr lang="en-US"/>
          </a:p>
        </p:txBody>
      </p:sp>
    </p:spTree>
    <p:extLst>
      <p:ext uri="{BB962C8B-B14F-4D97-AF65-F5344CB8AC3E}">
        <p14:creationId xmlns:p14="http://schemas.microsoft.com/office/powerpoint/2010/main" val="5382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2.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image" Target="../media/image1.jpeg"/><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theme" Target="../theme/theme3.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solidFill>
                  <a:schemeClr val="tx1"/>
                </a:solidFill>
                <a:latin typeface="+mn-lt"/>
              </a:defRPr>
            </a:lvl1pPr>
          </a:lstStyle>
          <a:p>
            <a:pPr>
              <a:defRPr/>
            </a:pPr>
            <a:fld id="{F7C400A5-DB81-4B94-8AD7-24FDC3E68BA6}"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 id="2147483662"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tint val="63529"/>
                <a:invGamma/>
              </a:schemeClr>
            </a:gs>
          </a:gsLst>
          <a:lin ang="5400000" scaled="1"/>
        </a:gra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4716463" y="5345113"/>
            <a:ext cx="4427537" cy="1512887"/>
            <a:chOff x="2971" y="3367"/>
            <a:chExt cx="2789" cy="953"/>
          </a:xfrm>
        </p:grpSpPr>
        <p:sp>
          <p:nvSpPr>
            <p:cNvPr id="4099" name="Freeform 3"/>
            <p:cNvSpPr>
              <a:spLocks/>
            </p:cNvSpPr>
            <p:nvPr/>
          </p:nvSpPr>
          <p:spPr bwMode="ltGray">
            <a:xfrm>
              <a:off x="2971" y="3367"/>
              <a:ext cx="2789" cy="953"/>
            </a:xfrm>
            <a:custGeom>
              <a:avLst/>
              <a:gdLst>
                <a:gd name="T0" fmla="*/ 2768 w 2780"/>
                <a:gd name="T1" fmla="*/ 18 h 953"/>
                <a:gd name="T2" fmla="*/ 2678 w 2780"/>
                <a:gd name="T3" fmla="*/ 24 h 953"/>
                <a:gd name="T4" fmla="*/ 2613 w 2780"/>
                <a:gd name="T5" fmla="*/ 102 h 953"/>
                <a:gd name="T6" fmla="*/ 2511 w 2780"/>
                <a:gd name="T7" fmla="*/ 156 h 953"/>
                <a:gd name="T8" fmla="*/ 2505 w 2780"/>
                <a:gd name="T9" fmla="*/ 222 h 953"/>
                <a:gd name="T10" fmla="*/ 2487 w 2780"/>
                <a:gd name="T11" fmla="*/ 246 h 953"/>
                <a:gd name="T12" fmla="*/ 2469 w 2780"/>
                <a:gd name="T13" fmla="*/ 252 h 953"/>
                <a:gd name="T14" fmla="*/ 2397 w 2780"/>
                <a:gd name="T15" fmla="*/ 210 h 953"/>
                <a:gd name="T16" fmla="*/ 2260 w 2780"/>
                <a:gd name="T17" fmla="*/ 192 h 953"/>
                <a:gd name="T18" fmla="*/ 2236 w 2780"/>
                <a:gd name="T19" fmla="*/ 186 h 953"/>
                <a:gd name="T20" fmla="*/ 2218 w 2780"/>
                <a:gd name="T21" fmla="*/ 192 h 953"/>
                <a:gd name="T22" fmla="*/ 2146 w 2780"/>
                <a:gd name="T23" fmla="*/ 228 h 953"/>
                <a:gd name="T24" fmla="*/ 2110 w 2780"/>
                <a:gd name="T25" fmla="*/ 240 h 953"/>
                <a:gd name="T26" fmla="*/ 2086 w 2780"/>
                <a:gd name="T27" fmla="*/ 246 h 953"/>
                <a:gd name="T28" fmla="*/ 2074 w 2780"/>
                <a:gd name="T29" fmla="*/ 258 h 953"/>
                <a:gd name="T30" fmla="*/ 2074 w 2780"/>
                <a:gd name="T31" fmla="*/ 276 h 953"/>
                <a:gd name="T32" fmla="*/ 2051 w 2780"/>
                <a:gd name="T33" fmla="*/ 300 h 953"/>
                <a:gd name="T34" fmla="*/ 2033 w 2780"/>
                <a:gd name="T35" fmla="*/ 312 h 953"/>
                <a:gd name="T36" fmla="*/ 2021 w 2780"/>
                <a:gd name="T37" fmla="*/ 324 h 953"/>
                <a:gd name="T38" fmla="*/ 2009 w 2780"/>
                <a:gd name="T39" fmla="*/ 336 h 953"/>
                <a:gd name="T40" fmla="*/ 1979 w 2780"/>
                <a:gd name="T41" fmla="*/ 342 h 953"/>
                <a:gd name="T42" fmla="*/ 1913 w 2780"/>
                <a:gd name="T43" fmla="*/ 336 h 953"/>
                <a:gd name="T44" fmla="*/ 1877 w 2780"/>
                <a:gd name="T45" fmla="*/ 330 h 953"/>
                <a:gd name="T46" fmla="*/ 1865 w 2780"/>
                <a:gd name="T47" fmla="*/ 342 h 953"/>
                <a:gd name="T48" fmla="*/ 1853 w 2780"/>
                <a:gd name="T49" fmla="*/ 354 h 953"/>
                <a:gd name="T50" fmla="*/ 1823 w 2780"/>
                <a:gd name="T51" fmla="*/ 360 h 953"/>
                <a:gd name="T52" fmla="*/ 1764 w 2780"/>
                <a:gd name="T53" fmla="*/ 342 h 953"/>
                <a:gd name="T54" fmla="*/ 1740 w 2780"/>
                <a:gd name="T55" fmla="*/ 342 h 953"/>
                <a:gd name="T56" fmla="*/ 1716 w 2780"/>
                <a:gd name="T57" fmla="*/ 354 h 953"/>
                <a:gd name="T58" fmla="*/ 1656 w 2780"/>
                <a:gd name="T59" fmla="*/ 425 h 953"/>
                <a:gd name="T60" fmla="*/ 1614 w 2780"/>
                <a:gd name="T61" fmla="*/ 569 h 953"/>
                <a:gd name="T62" fmla="*/ 1614 w 2780"/>
                <a:gd name="T63" fmla="*/ 593 h 953"/>
                <a:gd name="T64" fmla="*/ 1620 w 2780"/>
                <a:gd name="T65" fmla="*/ 641 h 953"/>
                <a:gd name="T66" fmla="*/ 1638 w 2780"/>
                <a:gd name="T67" fmla="*/ 659 h 953"/>
                <a:gd name="T68" fmla="*/ 1632 w 2780"/>
                <a:gd name="T69" fmla="*/ 671 h 953"/>
                <a:gd name="T70" fmla="*/ 1620 w 2780"/>
                <a:gd name="T71" fmla="*/ 683 h 953"/>
                <a:gd name="T72" fmla="*/ 1542 w 2780"/>
                <a:gd name="T73" fmla="*/ 689 h 953"/>
                <a:gd name="T74" fmla="*/ 1465 w 2780"/>
                <a:gd name="T75" fmla="*/ 629 h 953"/>
                <a:gd name="T76" fmla="*/ 1333 w 2780"/>
                <a:gd name="T77" fmla="*/ 587 h 953"/>
                <a:gd name="T78" fmla="*/ 1184 w 2780"/>
                <a:gd name="T79" fmla="*/ 671 h 953"/>
                <a:gd name="T80" fmla="*/ 1016 w 2780"/>
                <a:gd name="T81" fmla="*/ 731 h 953"/>
                <a:gd name="T82" fmla="*/ 813 w 2780"/>
                <a:gd name="T83" fmla="*/ 743 h 953"/>
                <a:gd name="T84" fmla="*/ 628 w 2780"/>
                <a:gd name="T85" fmla="*/ 701 h 953"/>
                <a:gd name="T86" fmla="*/ 568 w 2780"/>
                <a:gd name="T87" fmla="*/ 695 h 953"/>
                <a:gd name="T88" fmla="*/ 556 w 2780"/>
                <a:gd name="T89" fmla="*/ 701 h 953"/>
                <a:gd name="T90" fmla="*/ 520 w 2780"/>
                <a:gd name="T91" fmla="*/ 731 h 953"/>
                <a:gd name="T92" fmla="*/ 436 w 2780"/>
                <a:gd name="T93" fmla="*/ 809 h 953"/>
                <a:gd name="T94" fmla="*/ 406 w 2780"/>
                <a:gd name="T95" fmla="*/ 821 h 953"/>
                <a:gd name="T96" fmla="*/ 382 w 2780"/>
                <a:gd name="T97" fmla="*/ 821 h 953"/>
                <a:gd name="T98" fmla="*/ 335 w 2780"/>
                <a:gd name="T99" fmla="*/ 827 h 953"/>
                <a:gd name="T100" fmla="*/ 209 w 2780"/>
                <a:gd name="T101" fmla="*/ 851 h 953"/>
                <a:gd name="T102" fmla="*/ 173 w 2780"/>
                <a:gd name="T103" fmla="*/ 857 h 953"/>
                <a:gd name="T104" fmla="*/ 125 w 2780"/>
                <a:gd name="T105" fmla="*/ 851 h 953"/>
                <a:gd name="T106" fmla="*/ 107 w 2780"/>
                <a:gd name="T107" fmla="*/ 857 h 953"/>
                <a:gd name="T108" fmla="*/ 101 w 2780"/>
                <a:gd name="T109" fmla="*/ 875 h 953"/>
                <a:gd name="T110" fmla="*/ 83 w 2780"/>
                <a:gd name="T111" fmla="*/ 887 h 953"/>
                <a:gd name="T112" fmla="*/ 48 w 2780"/>
                <a:gd name="T113" fmla="*/ 899 h 953"/>
                <a:gd name="T114" fmla="*/ 2780 w 2780"/>
                <a:gd name="T115" fmla="*/ 24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80" h="953">
                  <a:moveTo>
                    <a:pt x="2780" y="24"/>
                  </a:moveTo>
                  <a:lnTo>
                    <a:pt x="2774" y="24"/>
                  </a:lnTo>
                  <a:lnTo>
                    <a:pt x="2774" y="18"/>
                  </a:lnTo>
                  <a:lnTo>
                    <a:pt x="2768" y="18"/>
                  </a:lnTo>
                  <a:lnTo>
                    <a:pt x="2756" y="12"/>
                  </a:lnTo>
                  <a:lnTo>
                    <a:pt x="2738" y="6"/>
                  </a:lnTo>
                  <a:lnTo>
                    <a:pt x="2714" y="0"/>
                  </a:lnTo>
                  <a:lnTo>
                    <a:pt x="2678" y="24"/>
                  </a:lnTo>
                  <a:lnTo>
                    <a:pt x="2643" y="54"/>
                  </a:lnTo>
                  <a:lnTo>
                    <a:pt x="2619" y="90"/>
                  </a:lnTo>
                  <a:lnTo>
                    <a:pt x="2613" y="96"/>
                  </a:lnTo>
                  <a:lnTo>
                    <a:pt x="2613" y="102"/>
                  </a:lnTo>
                  <a:lnTo>
                    <a:pt x="2601" y="108"/>
                  </a:lnTo>
                  <a:lnTo>
                    <a:pt x="2583" y="120"/>
                  </a:lnTo>
                  <a:lnTo>
                    <a:pt x="2541" y="132"/>
                  </a:lnTo>
                  <a:lnTo>
                    <a:pt x="2511" y="156"/>
                  </a:lnTo>
                  <a:lnTo>
                    <a:pt x="2511" y="204"/>
                  </a:lnTo>
                  <a:lnTo>
                    <a:pt x="2511" y="210"/>
                  </a:lnTo>
                  <a:lnTo>
                    <a:pt x="2505" y="216"/>
                  </a:lnTo>
                  <a:lnTo>
                    <a:pt x="2505" y="222"/>
                  </a:lnTo>
                  <a:lnTo>
                    <a:pt x="2499" y="228"/>
                  </a:lnTo>
                  <a:lnTo>
                    <a:pt x="2499" y="240"/>
                  </a:lnTo>
                  <a:lnTo>
                    <a:pt x="2493" y="246"/>
                  </a:lnTo>
                  <a:lnTo>
                    <a:pt x="2487" y="246"/>
                  </a:lnTo>
                  <a:lnTo>
                    <a:pt x="2487" y="252"/>
                  </a:lnTo>
                  <a:lnTo>
                    <a:pt x="2481" y="252"/>
                  </a:lnTo>
                  <a:lnTo>
                    <a:pt x="2475" y="252"/>
                  </a:lnTo>
                  <a:lnTo>
                    <a:pt x="2469" y="252"/>
                  </a:lnTo>
                  <a:lnTo>
                    <a:pt x="2457" y="252"/>
                  </a:lnTo>
                  <a:lnTo>
                    <a:pt x="2439" y="258"/>
                  </a:lnTo>
                  <a:lnTo>
                    <a:pt x="2415" y="222"/>
                  </a:lnTo>
                  <a:lnTo>
                    <a:pt x="2397" y="210"/>
                  </a:lnTo>
                  <a:lnTo>
                    <a:pt x="2373" y="216"/>
                  </a:lnTo>
                  <a:lnTo>
                    <a:pt x="2332" y="216"/>
                  </a:lnTo>
                  <a:lnTo>
                    <a:pt x="2296" y="204"/>
                  </a:lnTo>
                  <a:lnTo>
                    <a:pt x="2260" y="192"/>
                  </a:lnTo>
                  <a:lnTo>
                    <a:pt x="2260" y="192"/>
                  </a:lnTo>
                  <a:lnTo>
                    <a:pt x="2248" y="186"/>
                  </a:lnTo>
                  <a:lnTo>
                    <a:pt x="2242" y="186"/>
                  </a:lnTo>
                  <a:lnTo>
                    <a:pt x="2236" y="186"/>
                  </a:lnTo>
                  <a:lnTo>
                    <a:pt x="2230" y="186"/>
                  </a:lnTo>
                  <a:lnTo>
                    <a:pt x="2224" y="192"/>
                  </a:lnTo>
                  <a:lnTo>
                    <a:pt x="2224" y="192"/>
                  </a:lnTo>
                  <a:lnTo>
                    <a:pt x="2218" y="192"/>
                  </a:lnTo>
                  <a:lnTo>
                    <a:pt x="2212" y="198"/>
                  </a:lnTo>
                  <a:lnTo>
                    <a:pt x="2194" y="204"/>
                  </a:lnTo>
                  <a:lnTo>
                    <a:pt x="2170" y="210"/>
                  </a:lnTo>
                  <a:lnTo>
                    <a:pt x="2146" y="228"/>
                  </a:lnTo>
                  <a:lnTo>
                    <a:pt x="2122" y="240"/>
                  </a:lnTo>
                  <a:lnTo>
                    <a:pt x="2116" y="240"/>
                  </a:lnTo>
                  <a:lnTo>
                    <a:pt x="2110" y="240"/>
                  </a:lnTo>
                  <a:lnTo>
                    <a:pt x="2110" y="240"/>
                  </a:lnTo>
                  <a:lnTo>
                    <a:pt x="2104" y="240"/>
                  </a:lnTo>
                  <a:lnTo>
                    <a:pt x="2098" y="246"/>
                  </a:lnTo>
                  <a:lnTo>
                    <a:pt x="2092" y="246"/>
                  </a:lnTo>
                  <a:lnTo>
                    <a:pt x="2086" y="246"/>
                  </a:lnTo>
                  <a:lnTo>
                    <a:pt x="2080" y="252"/>
                  </a:lnTo>
                  <a:lnTo>
                    <a:pt x="2080" y="258"/>
                  </a:lnTo>
                  <a:lnTo>
                    <a:pt x="2074" y="258"/>
                  </a:lnTo>
                  <a:lnTo>
                    <a:pt x="2074" y="258"/>
                  </a:lnTo>
                  <a:lnTo>
                    <a:pt x="2074" y="264"/>
                  </a:lnTo>
                  <a:lnTo>
                    <a:pt x="2074" y="264"/>
                  </a:lnTo>
                  <a:lnTo>
                    <a:pt x="2074" y="270"/>
                  </a:lnTo>
                  <a:lnTo>
                    <a:pt x="2074" y="276"/>
                  </a:lnTo>
                  <a:lnTo>
                    <a:pt x="2069" y="288"/>
                  </a:lnTo>
                  <a:lnTo>
                    <a:pt x="2057" y="300"/>
                  </a:lnTo>
                  <a:lnTo>
                    <a:pt x="2057" y="300"/>
                  </a:lnTo>
                  <a:lnTo>
                    <a:pt x="2051" y="300"/>
                  </a:lnTo>
                  <a:lnTo>
                    <a:pt x="2045" y="300"/>
                  </a:lnTo>
                  <a:lnTo>
                    <a:pt x="2039" y="306"/>
                  </a:lnTo>
                  <a:lnTo>
                    <a:pt x="2033" y="306"/>
                  </a:lnTo>
                  <a:lnTo>
                    <a:pt x="2033" y="312"/>
                  </a:lnTo>
                  <a:lnTo>
                    <a:pt x="2027" y="312"/>
                  </a:lnTo>
                  <a:lnTo>
                    <a:pt x="2027" y="318"/>
                  </a:lnTo>
                  <a:lnTo>
                    <a:pt x="2027" y="318"/>
                  </a:lnTo>
                  <a:lnTo>
                    <a:pt x="2021" y="324"/>
                  </a:lnTo>
                  <a:lnTo>
                    <a:pt x="2021" y="324"/>
                  </a:lnTo>
                  <a:lnTo>
                    <a:pt x="2015" y="330"/>
                  </a:lnTo>
                  <a:lnTo>
                    <a:pt x="2015" y="330"/>
                  </a:lnTo>
                  <a:lnTo>
                    <a:pt x="2009" y="336"/>
                  </a:lnTo>
                  <a:lnTo>
                    <a:pt x="1997" y="336"/>
                  </a:lnTo>
                  <a:lnTo>
                    <a:pt x="1991" y="342"/>
                  </a:lnTo>
                  <a:lnTo>
                    <a:pt x="1985" y="342"/>
                  </a:lnTo>
                  <a:lnTo>
                    <a:pt x="1979" y="342"/>
                  </a:lnTo>
                  <a:lnTo>
                    <a:pt x="1961" y="336"/>
                  </a:lnTo>
                  <a:lnTo>
                    <a:pt x="1925" y="336"/>
                  </a:lnTo>
                  <a:lnTo>
                    <a:pt x="1919" y="336"/>
                  </a:lnTo>
                  <a:lnTo>
                    <a:pt x="1913" y="336"/>
                  </a:lnTo>
                  <a:lnTo>
                    <a:pt x="1895" y="330"/>
                  </a:lnTo>
                  <a:lnTo>
                    <a:pt x="1889" y="330"/>
                  </a:lnTo>
                  <a:lnTo>
                    <a:pt x="1883" y="330"/>
                  </a:lnTo>
                  <a:lnTo>
                    <a:pt x="1877" y="330"/>
                  </a:lnTo>
                  <a:lnTo>
                    <a:pt x="1877" y="330"/>
                  </a:lnTo>
                  <a:lnTo>
                    <a:pt x="1871" y="336"/>
                  </a:lnTo>
                  <a:lnTo>
                    <a:pt x="1871" y="336"/>
                  </a:lnTo>
                  <a:lnTo>
                    <a:pt x="1865" y="342"/>
                  </a:lnTo>
                  <a:lnTo>
                    <a:pt x="1865" y="342"/>
                  </a:lnTo>
                  <a:lnTo>
                    <a:pt x="1859" y="348"/>
                  </a:lnTo>
                  <a:lnTo>
                    <a:pt x="1859" y="348"/>
                  </a:lnTo>
                  <a:lnTo>
                    <a:pt x="1853" y="354"/>
                  </a:lnTo>
                  <a:lnTo>
                    <a:pt x="1847" y="354"/>
                  </a:lnTo>
                  <a:lnTo>
                    <a:pt x="1835" y="360"/>
                  </a:lnTo>
                  <a:lnTo>
                    <a:pt x="1829" y="360"/>
                  </a:lnTo>
                  <a:lnTo>
                    <a:pt x="1823" y="360"/>
                  </a:lnTo>
                  <a:lnTo>
                    <a:pt x="1817" y="360"/>
                  </a:lnTo>
                  <a:lnTo>
                    <a:pt x="1776" y="342"/>
                  </a:lnTo>
                  <a:lnTo>
                    <a:pt x="1770" y="342"/>
                  </a:lnTo>
                  <a:lnTo>
                    <a:pt x="1764" y="342"/>
                  </a:lnTo>
                  <a:lnTo>
                    <a:pt x="1758" y="342"/>
                  </a:lnTo>
                  <a:lnTo>
                    <a:pt x="1746" y="342"/>
                  </a:lnTo>
                  <a:lnTo>
                    <a:pt x="1746" y="342"/>
                  </a:lnTo>
                  <a:lnTo>
                    <a:pt x="1740" y="342"/>
                  </a:lnTo>
                  <a:lnTo>
                    <a:pt x="1734" y="342"/>
                  </a:lnTo>
                  <a:lnTo>
                    <a:pt x="1728" y="348"/>
                  </a:lnTo>
                  <a:lnTo>
                    <a:pt x="1722" y="348"/>
                  </a:lnTo>
                  <a:lnTo>
                    <a:pt x="1716" y="354"/>
                  </a:lnTo>
                  <a:lnTo>
                    <a:pt x="1704" y="366"/>
                  </a:lnTo>
                  <a:lnTo>
                    <a:pt x="1698" y="378"/>
                  </a:lnTo>
                  <a:lnTo>
                    <a:pt x="1674" y="402"/>
                  </a:lnTo>
                  <a:lnTo>
                    <a:pt x="1656" y="425"/>
                  </a:lnTo>
                  <a:lnTo>
                    <a:pt x="1632" y="461"/>
                  </a:lnTo>
                  <a:lnTo>
                    <a:pt x="1614" y="509"/>
                  </a:lnTo>
                  <a:lnTo>
                    <a:pt x="1614" y="563"/>
                  </a:lnTo>
                  <a:lnTo>
                    <a:pt x="1614" y="569"/>
                  </a:lnTo>
                  <a:lnTo>
                    <a:pt x="1614" y="575"/>
                  </a:lnTo>
                  <a:lnTo>
                    <a:pt x="1614" y="581"/>
                  </a:lnTo>
                  <a:lnTo>
                    <a:pt x="1614" y="587"/>
                  </a:lnTo>
                  <a:lnTo>
                    <a:pt x="1614" y="593"/>
                  </a:lnTo>
                  <a:lnTo>
                    <a:pt x="1614" y="599"/>
                  </a:lnTo>
                  <a:lnTo>
                    <a:pt x="1614" y="605"/>
                  </a:lnTo>
                  <a:lnTo>
                    <a:pt x="1614" y="617"/>
                  </a:lnTo>
                  <a:lnTo>
                    <a:pt x="1620" y="641"/>
                  </a:lnTo>
                  <a:lnTo>
                    <a:pt x="1626" y="641"/>
                  </a:lnTo>
                  <a:lnTo>
                    <a:pt x="1632" y="647"/>
                  </a:lnTo>
                  <a:lnTo>
                    <a:pt x="1632" y="659"/>
                  </a:lnTo>
                  <a:lnTo>
                    <a:pt x="1638" y="659"/>
                  </a:lnTo>
                  <a:lnTo>
                    <a:pt x="1638" y="665"/>
                  </a:lnTo>
                  <a:lnTo>
                    <a:pt x="1638" y="665"/>
                  </a:lnTo>
                  <a:lnTo>
                    <a:pt x="1638" y="671"/>
                  </a:lnTo>
                  <a:lnTo>
                    <a:pt x="1632" y="671"/>
                  </a:lnTo>
                  <a:lnTo>
                    <a:pt x="1632" y="677"/>
                  </a:lnTo>
                  <a:lnTo>
                    <a:pt x="1632" y="677"/>
                  </a:lnTo>
                  <a:lnTo>
                    <a:pt x="1626" y="677"/>
                  </a:lnTo>
                  <a:lnTo>
                    <a:pt x="1620" y="683"/>
                  </a:lnTo>
                  <a:lnTo>
                    <a:pt x="1596" y="689"/>
                  </a:lnTo>
                  <a:lnTo>
                    <a:pt x="1572" y="689"/>
                  </a:lnTo>
                  <a:lnTo>
                    <a:pt x="1548" y="689"/>
                  </a:lnTo>
                  <a:lnTo>
                    <a:pt x="1542" y="689"/>
                  </a:lnTo>
                  <a:lnTo>
                    <a:pt x="1536" y="689"/>
                  </a:lnTo>
                  <a:lnTo>
                    <a:pt x="1518" y="683"/>
                  </a:lnTo>
                  <a:lnTo>
                    <a:pt x="1495" y="671"/>
                  </a:lnTo>
                  <a:lnTo>
                    <a:pt x="1465" y="629"/>
                  </a:lnTo>
                  <a:lnTo>
                    <a:pt x="1435" y="599"/>
                  </a:lnTo>
                  <a:lnTo>
                    <a:pt x="1405" y="581"/>
                  </a:lnTo>
                  <a:lnTo>
                    <a:pt x="1375" y="563"/>
                  </a:lnTo>
                  <a:lnTo>
                    <a:pt x="1333" y="587"/>
                  </a:lnTo>
                  <a:lnTo>
                    <a:pt x="1303" y="653"/>
                  </a:lnTo>
                  <a:lnTo>
                    <a:pt x="1261" y="665"/>
                  </a:lnTo>
                  <a:lnTo>
                    <a:pt x="1219" y="653"/>
                  </a:lnTo>
                  <a:lnTo>
                    <a:pt x="1184" y="671"/>
                  </a:lnTo>
                  <a:lnTo>
                    <a:pt x="1136" y="671"/>
                  </a:lnTo>
                  <a:lnTo>
                    <a:pt x="1106" y="671"/>
                  </a:lnTo>
                  <a:lnTo>
                    <a:pt x="1076" y="707"/>
                  </a:lnTo>
                  <a:lnTo>
                    <a:pt x="1016" y="731"/>
                  </a:lnTo>
                  <a:lnTo>
                    <a:pt x="944" y="761"/>
                  </a:lnTo>
                  <a:lnTo>
                    <a:pt x="921" y="773"/>
                  </a:lnTo>
                  <a:lnTo>
                    <a:pt x="867" y="773"/>
                  </a:lnTo>
                  <a:lnTo>
                    <a:pt x="813" y="743"/>
                  </a:lnTo>
                  <a:lnTo>
                    <a:pt x="783" y="719"/>
                  </a:lnTo>
                  <a:lnTo>
                    <a:pt x="741" y="713"/>
                  </a:lnTo>
                  <a:lnTo>
                    <a:pt x="693" y="701"/>
                  </a:lnTo>
                  <a:lnTo>
                    <a:pt x="628" y="701"/>
                  </a:lnTo>
                  <a:lnTo>
                    <a:pt x="616" y="701"/>
                  </a:lnTo>
                  <a:lnTo>
                    <a:pt x="598" y="695"/>
                  </a:lnTo>
                  <a:lnTo>
                    <a:pt x="580" y="695"/>
                  </a:lnTo>
                  <a:lnTo>
                    <a:pt x="568" y="695"/>
                  </a:lnTo>
                  <a:lnTo>
                    <a:pt x="568" y="695"/>
                  </a:lnTo>
                  <a:lnTo>
                    <a:pt x="562" y="701"/>
                  </a:lnTo>
                  <a:lnTo>
                    <a:pt x="556" y="701"/>
                  </a:lnTo>
                  <a:lnTo>
                    <a:pt x="556" y="701"/>
                  </a:lnTo>
                  <a:lnTo>
                    <a:pt x="556" y="701"/>
                  </a:lnTo>
                  <a:lnTo>
                    <a:pt x="550" y="707"/>
                  </a:lnTo>
                  <a:lnTo>
                    <a:pt x="544" y="713"/>
                  </a:lnTo>
                  <a:lnTo>
                    <a:pt x="520" y="731"/>
                  </a:lnTo>
                  <a:lnTo>
                    <a:pt x="496" y="749"/>
                  </a:lnTo>
                  <a:lnTo>
                    <a:pt x="460" y="785"/>
                  </a:lnTo>
                  <a:lnTo>
                    <a:pt x="454" y="791"/>
                  </a:lnTo>
                  <a:lnTo>
                    <a:pt x="436" y="809"/>
                  </a:lnTo>
                  <a:lnTo>
                    <a:pt x="424" y="815"/>
                  </a:lnTo>
                  <a:lnTo>
                    <a:pt x="418" y="821"/>
                  </a:lnTo>
                  <a:lnTo>
                    <a:pt x="412" y="821"/>
                  </a:lnTo>
                  <a:lnTo>
                    <a:pt x="406" y="821"/>
                  </a:lnTo>
                  <a:lnTo>
                    <a:pt x="400" y="821"/>
                  </a:lnTo>
                  <a:lnTo>
                    <a:pt x="394" y="821"/>
                  </a:lnTo>
                  <a:lnTo>
                    <a:pt x="388" y="821"/>
                  </a:lnTo>
                  <a:lnTo>
                    <a:pt x="382" y="821"/>
                  </a:lnTo>
                  <a:lnTo>
                    <a:pt x="370" y="821"/>
                  </a:lnTo>
                  <a:lnTo>
                    <a:pt x="358" y="821"/>
                  </a:lnTo>
                  <a:lnTo>
                    <a:pt x="352" y="821"/>
                  </a:lnTo>
                  <a:lnTo>
                    <a:pt x="335" y="827"/>
                  </a:lnTo>
                  <a:lnTo>
                    <a:pt x="329" y="827"/>
                  </a:lnTo>
                  <a:lnTo>
                    <a:pt x="233" y="839"/>
                  </a:lnTo>
                  <a:lnTo>
                    <a:pt x="227" y="845"/>
                  </a:lnTo>
                  <a:lnTo>
                    <a:pt x="209" y="851"/>
                  </a:lnTo>
                  <a:lnTo>
                    <a:pt x="197" y="851"/>
                  </a:lnTo>
                  <a:lnTo>
                    <a:pt x="185" y="857"/>
                  </a:lnTo>
                  <a:lnTo>
                    <a:pt x="179" y="857"/>
                  </a:lnTo>
                  <a:lnTo>
                    <a:pt x="173" y="857"/>
                  </a:lnTo>
                  <a:lnTo>
                    <a:pt x="167" y="857"/>
                  </a:lnTo>
                  <a:lnTo>
                    <a:pt x="149" y="851"/>
                  </a:lnTo>
                  <a:lnTo>
                    <a:pt x="137" y="851"/>
                  </a:lnTo>
                  <a:lnTo>
                    <a:pt x="125" y="851"/>
                  </a:lnTo>
                  <a:lnTo>
                    <a:pt x="119" y="857"/>
                  </a:lnTo>
                  <a:lnTo>
                    <a:pt x="113" y="857"/>
                  </a:lnTo>
                  <a:lnTo>
                    <a:pt x="107" y="857"/>
                  </a:lnTo>
                  <a:lnTo>
                    <a:pt x="107" y="857"/>
                  </a:lnTo>
                  <a:lnTo>
                    <a:pt x="101" y="863"/>
                  </a:lnTo>
                  <a:lnTo>
                    <a:pt x="101" y="863"/>
                  </a:lnTo>
                  <a:lnTo>
                    <a:pt x="101" y="869"/>
                  </a:lnTo>
                  <a:lnTo>
                    <a:pt x="101" y="875"/>
                  </a:lnTo>
                  <a:lnTo>
                    <a:pt x="95" y="875"/>
                  </a:lnTo>
                  <a:lnTo>
                    <a:pt x="95" y="881"/>
                  </a:lnTo>
                  <a:lnTo>
                    <a:pt x="89" y="881"/>
                  </a:lnTo>
                  <a:lnTo>
                    <a:pt x="83" y="887"/>
                  </a:lnTo>
                  <a:lnTo>
                    <a:pt x="77" y="887"/>
                  </a:lnTo>
                  <a:lnTo>
                    <a:pt x="60" y="893"/>
                  </a:lnTo>
                  <a:lnTo>
                    <a:pt x="54" y="899"/>
                  </a:lnTo>
                  <a:lnTo>
                    <a:pt x="48" y="899"/>
                  </a:lnTo>
                  <a:lnTo>
                    <a:pt x="48" y="905"/>
                  </a:lnTo>
                  <a:lnTo>
                    <a:pt x="0" y="953"/>
                  </a:lnTo>
                  <a:lnTo>
                    <a:pt x="2780" y="953"/>
                  </a:lnTo>
                  <a:lnTo>
                    <a:pt x="2780" y="24"/>
                  </a:lnTo>
                  <a:lnTo>
                    <a:pt x="2780" y="24"/>
                  </a:lnTo>
                  <a:lnTo>
                    <a:pt x="2780" y="24"/>
                  </a:lnTo>
                </a:path>
              </a:pathLst>
            </a:custGeom>
            <a:gradFill rotWithShape="0">
              <a:gsLst>
                <a:gs pos="0">
                  <a:schemeClr val="bg1"/>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0" name="Freeform 4"/>
            <p:cNvSpPr>
              <a:spLocks/>
            </p:cNvSpPr>
            <p:nvPr/>
          </p:nvSpPr>
          <p:spPr bwMode="ltGray">
            <a:xfrm>
              <a:off x="4602" y="4014"/>
              <a:ext cx="12" cy="18"/>
            </a:xfrm>
            <a:custGeom>
              <a:avLst/>
              <a:gdLst>
                <a:gd name="T0" fmla="*/ 12 w 12"/>
                <a:gd name="T1" fmla="*/ 18 h 18"/>
                <a:gd name="T2" fmla="*/ 12 w 12"/>
                <a:gd name="T3" fmla="*/ 12 h 18"/>
                <a:gd name="T4" fmla="*/ 6 w 12"/>
                <a:gd name="T5" fmla="*/ 6 h 18"/>
                <a:gd name="T6" fmla="*/ 6 w 12"/>
                <a:gd name="T7" fmla="*/ 6 h 18"/>
                <a:gd name="T8" fmla="*/ 0 w 12"/>
                <a:gd name="T9" fmla="*/ 0 h 18"/>
                <a:gd name="T10" fmla="*/ 12 w 12"/>
                <a:gd name="T11" fmla="*/ 18 h 18"/>
                <a:gd name="T12" fmla="*/ 12 w 12"/>
                <a:gd name="T13" fmla="*/ 18 h 18"/>
                <a:gd name="T14" fmla="*/ 12 w 12"/>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8">
                  <a:moveTo>
                    <a:pt x="12" y="18"/>
                  </a:moveTo>
                  <a:lnTo>
                    <a:pt x="12" y="12"/>
                  </a:lnTo>
                  <a:lnTo>
                    <a:pt x="6" y="6"/>
                  </a:lnTo>
                  <a:lnTo>
                    <a:pt x="6" y="6"/>
                  </a:lnTo>
                  <a:lnTo>
                    <a:pt x="0" y="0"/>
                  </a:lnTo>
                  <a:lnTo>
                    <a:pt x="12" y="18"/>
                  </a:lnTo>
                  <a:lnTo>
                    <a:pt x="12" y="18"/>
                  </a:lnTo>
                  <a:lnTo>
                    <a:pt x="12" y="18"/>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1" name="Freeform 5"/>
            <p:cNvSpPr>
              <a:spLocks/>
            </p:cNvSpPr>
            <p:nvPr/>
          </p:nvSpPr>
          <p:spPr bwMode="ltGray">
            <a:xfrm>
              <a:off x="4596" y="3996"/>
              <a:ext cx="6" cy="18"/>
            </a:xfrm>
            <a:custGeom>
              <a:avLst/>
              <a:gdLst>
                <a:gd name="T0" fmla="*/ 0 w 6"/>
                <a:gd name="T1" fmla="*/ 12 h 18"/>
                <a:gd name="T2" fmla="*/ 6 w 6"/>
                <a:gd name="T3" fmla="*/ 18 h 18"/>
                <a:gd name="T4" fmla="*/ 0 w 6"/>
                <a:gd name="T5" fmla="*/ 0 h 18"/>
                <a:gd name="T6" fmla="*/ 0 w 6"/>
                <a:gd name="T7" fmla="*/ 12 h 18"/>
                <a:gd name="T8" fmla="*/ 0 w 6"/>
                <a:gd name="T9" fmla="*/ 12 h 18"/>
                <a:gd name="T10" fmla="*/ 0 w 6"/>
                <a:gd name="T11" fmla="*/ 12 h 18"/>
              </a:gdLst>
              <a:ahLst/>
              <a:cxnLst>
                <a:cxn ang="0">
                  <a:pos x="T0" y="T1"/>
                </a:cxn>
                <a:cxn ang="0">
                  <a:pos x="T2" y="T3"/>
                </a:cxn>
                <a:cxn ang="0">
                  <a:pos x="T4" y="T5"/>
                </a:cxn>
                <a:cxn ang="0">
                  <a:pos x="T6" y="T7"/>
                </a:cxn>
                <a:cxn ang="0">
                  <a:pos x="T8" y="T9"/>
                </a:cxn>
                <a:cxn ang="0">
                  <a:pos x="T10" y="T11"/>
                </a:cxn>
              </a:cxnLst>
              <a:rect l="0" t="0" r="r" b="b"/>
              <a:pathLst>
                <a:path w="6" h="18">
                  <a:moveTo>
                    <a:pt x="0" y="12"/>
                  </a:moveTo>
                  <a:lnTo>
                    <a:pt x="6" y="18"/>
                  </a:lnTo>
                  <a:lnTo>
                    <a:pt x="0" y="0"/>
                  </a:lnTo>
                  <a:lnTo>
                    <a:pt x="0" y="12"/>
                  </a:lnTo>
                  <a:lnTo>
                    <a:pt x="0" y="12"/>
                  </a:lnTo>
                  <a:lnTo>
                    <a:pt x="0"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2" name="Freeform 6"/>
            <p:cNvSpPr>
              <a:spLocks/>
            </p:cNvSpPr>
            <p:nvPr/>
          </p:nvSpPr>
          <p:spPr bwMode="ltGray">
            <a:xfrm>
              <a:off x="5180" y="3577"/>
              <a:ext cx="304" cy="741"/>
            </a:xfrm>
            <a:custGeom>
              <a:avLst/>
              <a:gdLst>
                <a:gd name="T0" fmla="*/ 280 w 304"/>
                <a:gd name="T1" fmla="*/ 42 h 741"/>
                <a:gd name="T2" fmla="*/ 274 w 304"/>
                <a:gd name="T3" fmla="*/ 42 h 741"/>
                <a:gd name="T4" fmla="*/ 268 w 304"/>
                <a:gd name="T5" fmla="*/ 42 h 741"/>
                <a:gd name="T6" fmla="*/ 256 w 304"/>
                <a:gd name="T7" fmla="*/ 42 h 741"/>
                <a:gd name="T8" fmla="*/ 238 w 304"/>
                <a:gd name="T9" fmla="*/ 48 h 741"/>
                <a:gd name="T10" fmla="*/ 214 w 304"/>
                <a:gd name="T11" fmla="*/ 12 h 741"/>
                <a:gd name="T12" fmla="*/ 196 w 304"/>
                <a:gd name="T13" fmla="*/ 0 h 741"/>
                <a:gd name="T14" fmla="*/ 196 w 304"/>
                <a:gd name="T15" fmla="*/ 0 h 741"/>
                <a:gd name="T16" fmla="*/ 164 w 304"/>
                <a:gd name="T17" fmla="*/ 167 h 741"/>
                <a:gd name="T18" fmla="*/ 144 w 304"/>
                <a:gd name="T19" fmla="*/ 217 h 741"/>
                <a:gd name="T20" fmla="*/ 110 w 304"/>
                <a:gd name="T21" fmla="*/ 281 h 741"/>
                <a:gd name="T22" fmla="*/ 96 w 304"/>
                <a:gd name="T23" fmla="*/ 327 h 741"/>
                <a:gd name="T24" fmla="*/ 124 w 304"/>
                <a:gd name="T25" fmla="*/ 405 h 741"/>
                <a:gd name="T26" fmla="*/ 100 w 304"/>
                <a:gd name="T27" fmla="*/ 463 h 741"/>
                <a:gd name="T28" fmla="*/ 68 w 304"/>
                <a:gd name="T29" fmla="*/ 503 h 741"/>
                <a:gd name="T30" fmla="*/ 30 w 304"/>
                <a:gd name="T31" fmla="*/ 539 h 741"/>
                <a:gd name="T32" fmla="*/ 24 w 304"/>
                <a:gd name="T33" fmla="*/ 613 h 741"/>
                <a:gd name="T34" fmla="*/ 0 w 304"/>
                <a:gd name="T35" fmla="*/ 741 h 741"/>
                <a:gd name="T36" fmla="*/ 202 w 304"/>
                <a:gd name="T37" fmla="*/ 741 h 741"/>
                <a:gd name="T38" fmla="*/ 180 w 304"/>
                <a:gd name="T39" fmla="*/ 639 h 741"/>
                <a:gd name="T40" fmla="*/ 192 w 304"/>
                <a:gd name="T41" fmla="*/ 589 h 741"/>
                <a:gd name="T42" fmla="*/ 178 w 304"/>
                <a:gd name="T43" fmla="*/ 539 h 741"/>
                <a:gd name="T44" fmla="*/ 190 w 304"/>
                <a:gd name="T45" fmla="*/ 499 h 741"/>
                <a:gd name="T46" fmla="*/ 184 w 304"/>
                <a:gd name="T47" fmla="*/ 465 h 741"/>
                <a:gd name="T48" fmla="*/ 192 w 304"/>
                <a:gd name="T49" fmla="*/ 391 h 741"/>
                <a:gd name="T50" fmla="*/ 216 w 304"/>
                <a:gd name="T51" fmla="*/ 313 h 741"/>
                <a:gd name="T52" fmla="*/ 238 w 304"/>
                <a:gd name="T53" fmla="*/ 249 h 741"/>
                <a:gd name="T54" fmla="*/ 268 w 304"/>
                <a:gd name="T55" fmla="*/ 185 h 741"/>
                <a:gd name="T56" fmla="*/ 284 w 304"/>
                <a:gd name="T57" fmla="*/ 159 h 741"/>
                <a:gd name="T58" fmla="*/ 304 w 304"/>
                <a:gd name="T59" fmla="*/ 12 h 741"/>
                <a:gd name="T60" fmla="*/ 298 w 304"/>
                <a:gd name="T61" fmla="*/ 24 h 741"/>
                <a:gd name="T62" fmla="*/ 292 w 304"/>
                <a:gd name="T63" fmla="*/ 30 h 741"/>
                <a:gd name="T64" fmla="*/ 292 w 304"/>
                <a:gd name="T65" fmla="*/ 36 h 741"/>
                <a:gd name="T66" fmla="*/ 286 w 304"/>
                <a:gd name="T67" fmla="*/ 36 h 741"/>
                <a:gd name="T68" fmla="*/ 286 w 304"/>
                <a:gd name="T69" fmla="*/ 42 h 741"/>
                <a:gd name="T70" fmla="*/ 280 w 304"/>
                <a:gd name="T71" fmla="*/ 42 h 741"/>
                <a:gd name="T72" fmla="*/ 280 w 304"/>
                <a:gd name="T73" fmla="*/ 42 h 741"/>
                <a:gd name="T74" fmla="*/ 280 w 304"/>
                <a:gd name="T75" fmla="*/ 42 h 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741">
                  <a:moveTo>
                    <a:pt x="280" y="42"/>
                  </a:moveTo>
                  <a:lnTo>
                    <a:pt x="274" y="42"/>
                  </a:lnTo>
                  <a:lnTo>
                    <a:pt x="268" y="42"/>
                  </a:lnTo>
                  <a:lnTo>
                    <a:pt x="256" y="42"/>
                  </a:lnTo>
                  <a:lnTo>
                    <a:pt x="238" y="48"/>
                  </a:lnTo>
                  <a:lnTo>
                    <a:pt x="214" y="12"/>
                  </a:lnTo>
                  <a:lnTo>
                    <a:pt x="196" y="0"/>
                  </a:lnTo>
                  <a:lnTo>
                    <a:pt x="196" y="0"/>
                  </a:lnTo>
                  <a:lnTo>
                    <a:pt x="164" y="167"/>
                  </a:lnTo>
                  <a:lnTo>
                    <a:pt x="144" y="217"/>
                  </a:lnTo>
                  <a:lnTo>
                    <a:pt x="110" y="281"/>
                  </a:lnTo>
                  <a:lnTo>
                    <a:pt x="96" y="327"/>
                  </a:lnTo>
                  <a:lnTo>
                    <a:pt x="124" y="405"/>
                  </a:lnTo>
                  <a:lnTo>
                    <a:pt x="100" y="463"/>
                  </a:lnTo>
                  <a:lnTo>
                    <a:pt x="68" y="503"/>
                  </a:lnTo>
                  <a:lnTo>
                    <a:pt x="30" y="539"/>
                  </a:lnTo>
                  <a:lnTo>
                    <a:pt x="24" y="613"/>
                  </a:lnTo>
                  <a:lnTo>
                    <a:pt x="0" y="741"/>
                  </a:lnTo>
                  <a:lnTo>
                    <a:pt x="202" y="741"/>
                  </a:lnTo>
                  <a:lnTo>
                    <a:pt x="180" y="639"/>
                  </a:lnTo>
                  <a:lnTo>
                    <a:pt x="192" y="589"/>
                  </a:lnTo>
                  <a:lnTo>
                    <a:pt x="178" y="539"/>
                  </a:lnTo>
                  <a:lnTo>
                    <a:pt x="190" y="499"/>
                  </a:lnTo>
                  <a:lnTo>
                    <a:pt x="184" y="465"/>
                  </a:lnTo>
                  <a:lnTo>
                    <a:pt x="192" y="391"/>
                  </a:lnTo>
                  <a:lnTo>
                    <a:pt x="216" y="313"/>
                  </a:lnTo>
                  <a:lnTo>
                    <a:pt x="238" y="249"/>
                  </a:lnTo>
                  <a:lnTo>
                    <a:pt x="268" y="185"/>
                  </a:lnTo>
                  <a:lnTo>
                    <a:pt x="284" y="159"/>
                  </a:lnTo>
                  <a:lnTo>
                    <a:pt x="304" y="12"/>
                  </a:lnTo>
                  <a:lnTo>
                    <a:pt x="298" y="24"/>
                  </a:lnTo>
                  <a:lnTo>
                    <a:pt x="292" y="30"/>
                  </a:lnTo>
                  <a:lnTo>
                    <a:pt x="292" y="36"/>
                  </a:lnTo>
                  <a:lnTo>
                    <a:pt x="286" y="36"/>
                  </a:lnTo>
                  <a:lnTo>
                    <a:pt x="286" y="42"/>
                  </a:lnTo>
                  <a:lnTo>
                    <a:pt x="280" y="42"/>
                  </a:lnTo>
                  <a:lnTo>
                    <a:pt x="280" y="42"/>
                  </a:lnTo>
                  <a:lnTo>
                    <a:pt x="280" y="4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3" name="Freeform 7"/>
            <p:cNvSpPr>
              <a:spLocks/>
            </p:cNvSpPr>
            <p:nvPr/>
          </p:nvSpPr>
          <p:spPr bwMode="ltGray">
            <a:xfrm>
              <a:off x="4918" y="3553"/>
              <a:ext cx="314" cy="767"/>
            </a:xfrm>
            <a:custGeom>
              <a:avLst/>
              <a:gdLst>
                <a:gd name="T0" fmla="*/ 284 w 314"/>
                <a:gd name="T1" fmla="*/ 6 h 767"/>
                <a:gd name="T2" fmla="*/ 278 w 314"/>
                <a:gd name="T3" fmla="*/ 6 h 767"/>
                <a:gd name="T4" fmla="*/ 272 w 314"/>
                <a:gd name="T5" fmla="*/ 12 h 767"/>
                <a:gd name="T6" fmla="*/ 254 w 314"/>
                <a:gd name="T7" fmla="*/ 18 h 767"/>
                <a:gd name="T8" fmla="*/ 230 w 314"/>
                <a:gd name="T9" fmla="*/ 24 h 767"/>
                <a:gd name="T10" fmla="*/ 206 w 314"/>
                <a:gd name="T11" fmla="*/ 42 h 767"/>
                <a:gd name="T12" fmla="*/ 188 w 314"/>
                <a:gd name="T13" fmla="*/ 48 h 767"/>
                <a:gd name="T14" fmla="*/ 176 w 314"/>
                <a:gd name="T15" fmla="*/ 54 h 767"/>
                <a:gd name="T16" fmla="*/ 170 w 314"/>
                <a:gd name="T17" fmla="*/ 54 h 767"/>
                <a:gd name="T18" fmla="*/ 150 w 314"/>
                <a:gd name="T19" fmla="*/ 169 h 767"/>
                <a:gd name="T20" fmla="*/ 110 w 314"/>
                <a:gd name="T21" fmla="*/ 225 h 767"/>
                <a:gd name="T22" fmla="*/ 54 w 314"/>
                <a:gd name="T23" fmla="*/ 383 h 767"/>
                <a:gd name="T24" fmla="*/ 82 w 314"/>
                <a:gd name="T25" fmla="*/ 555 h 767"/>
                <a:gd name="T26" fmla="*/ 40 w 314"/>
                <a:gd name="T27" fmla="*/ 679 h 767"/>
                <a:gd name="T28" fmla="*/ 0 w 314"/>
                <a:gd name="T29" fmla="*/ 767 h 767"/>
                <a:gd name="T30" fmla="*/ 108 w 314"/>
                <a:gd name="T31" fmla="*/ 767 h 767"/>
                <a:gd name="T32" fmla="*/ 120 w 314"/>
                <a:gd name="T33" fmla="*/ 611 h 767"/>
                <a:gd name="T34" fmla="*/ 148 w 314"/>
                <a:gd name="T35" fmla="*/ 499 h 767"/>
                <a:gd name="T36" fmla="*/ 160 w 314"/>
                <a:gd name="T37" fmla="*/ 367 h 767"/>
                <a:gd name="T38" fmla="*/ 218 w 314"/>
                <a:gd name="T39" fmla="*/ 327 h 767"/>
                <a:gd name="T40" fmla="*/ 238 w 314"/>
                <a:gd name="T41" fmla="*/ 221 h 767"/>
                <a:gd name="T42" fmla="*/ 296 w 314"/>
                <a:gd name="T43" fmla="*/ 135 h 767"/>
                <a:gd name="T44" fmla="*/ 314 w 314"/>
                <a:gd name="T45" fmla="*/ 0 h 767"/>
                <a:gd name="T46" fmla="*/ 302 w 314"/>
                <a:gd name="T47" fmla="*/ 0 h 767"/>
                <a:gd name="T48" fmla="*/ 296 w 314"/>
                <a:gd name="T49" fmla="*/ 0 h 767"/>
                <a:gd name="T50" fmla="*/ 290 w 314"/>
                <a:gd name="T51" fmla="*/ 0 h 767"/>
                <a:gd name="T52" fmla="*/ 284 w 314"/>
                <a:gd name="T53" fmla="*/ 6 h 767"/>
                <a:gd name="T54" fmla="*/ 284 w 314"/>
                <a:gd name="T55" fmla="*/ 6 h 767"/>
                <a:gd name="T56" fmla="*/ 284 w 314"/>
                <a:gd name="T57" fmla="*/ 6 h 767"/>
                <a:gd name="T58" fmla="*/ 284 w 314"/>
                <a:gd name="T59" fmla="*/ 6 h 7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14" h="767">
                  <a:moveTo>
                    <a:pt x="284" y="6"/>
                  </a:moveTo>
                  <a:lnTo>
                    <a:pt x="278" y="6"/>
                  </a:lnTo>
                  <a:lnTo>
                    <a:pt x="272" y="12"/>
                  </a:lnTo>
                  <a:lnTo>
                    <a:pt x="254" y="18"/>
                  </a:lnTo>
                  <a:lnTo>
                    <a:pt x="230" y="24"/>
                  </a:lnTo>
                  <a:lnTo>
                    <a:pt x="206" y="42"/>
                  </a:lnTo>
                  <a:lnTo>
                    <a:pt x="188" y="48"/>
                  </a:lnTo>
                  <a:lnTo>
                    <a:pt x="176" y="54"/>
                  </a:lnTo>
                  <a:lnTo>
                    <a:pt x="170" y="54"/>
                  </a:lnTo>
                  <a:lnTo>
                    <a:pt x="150" y="169"/>
                  </a:lnTo>
                  <a:lnTo>
                    <a:pt x="110" y="225"/>
                  </a:lnTo>
                  <a:lnTo>
                    <a:pt x="54" y="383"/>
                  </a:lnTo>
                  <a:lnTo>
                    <a:pt x="82" y="555"/>
                  </a:lnTo>
                  <a:lnTo>
                    <a:pt x="40" y="679"/>
                  </a:lnTo>
                  <a:lnTo>
                    <a:pt x="0" y="767"/>
                  </a:lnTo>
                  <a:lnTo>
                    <a:pt x="108" y="767"/>
                  </a:lnTo>
                  <a:lnTo>
                    <a:pt x="120" y="611"/>
                  </a:lnTo>
                  <a:lnTo>
                    <a:pt x="148" y="499"/>
                  </a:lnTo>
                  <a:lnTo>
                    <a:pt x="160" y="367"/>
                  </a:lnTo>
                  <a:lnTo>
                    <a:pt x="218" y="327"/>
                  </a:lnTo>
                  <a:lnTo>
                    <a:pt x="238" y="221"/>
                  </a:lnTo>
                  <a:lnTo>
                    <a:pt x="296" y="135"/>
                  </a:lnTo>
                  <a:lnTo>
                    <a:pt x="314" y="0"/>
                  </a:lnTo>
                  <a:lnTo>
                    <a:pt x="302" y="0"/>
                  </a:lnTo>
                  <a:lnTo>
                    <a:pt x="296" y="0"/>
                  </a:lnTo>
                  <a:lnTo>
                    <a:pt x="290" y="0"/>
                  </a:lnTo>
                  <a:lnTo>
                    <a:pt x="284" y="6"/>
                  </a:lnTo>
                  <a:lnTo>
                    <a:pt x="284" y="6"/>
                  </a:lnTo>
                  <a:lnTo>
                    <a:pt x="284" y="6"/>
                  </a:lnTo>
                  <a:lnTo>
                    <a:pt x="284" y="6"/>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4" name="Freeform 8"/>
            <p:cNvSpPr>
              <a:spLocks/>
            </p:cNvSpPr>
            <p:nvPr/>
          </p:nvSpPr>
          <p:spPr bwMode="ltGray">
            <a:xfrm>
              <a:off x="4700" y="3697"/>
              <a:ext cx="275" cy="623"/>
            </a:xfrm>
            <a:custGeom>
              <a:avLst/>
              <a:gdLst>
                <a:gd name="T0" fmla="*/ 257 w 275"/>
                <a:gd name="T1" fmla="*/ 12 h 623"/>
                <a:gd name="T2" fmla="*/ 239 w 275"/>
                <a:gd name="T3" fmla="*/ 6 h 623"/>
                <a:gd name="T4" fmla="*/ 203 w 275"/>
                <a:gd name="T5" fmla="*/ 6 h 623"/>
                <a:gd name="T6" fmla="*/ 203 w 275"/>
                <a:gd name="T7" fmla="*/ 6 h 623"/>
                <a:gd name="T8" fmla="*/ 197 w 275"/>
                <a:gd name="T9" fmla="*/ 6 h 623"/>
                <a:gd name="T10" fmla="*/ 185 w 275"/>
                <a:gd name="T11" fmla="*/ 0 h 623"/>
                <a:gd name="T12" fmla="*/ 173 w 275"/>
                <a:gd name="T13" fmla="*/ 0 h 623"/>
                <a:gd name="T14" fmla="*/ 166 w 275"/>
                <a:gd name="T15" fmla="*/ 0 h 623"/>
                <a:gd name="T16" fmla="*/ 160 w 275"/>
                <a:gd name="T17" fmla="*/ 0 h 623"/>
                <a:gd name="T18" fmla="*/ 144 w 275"/>
                <a:gd name="T19" fmla="*/ 117 h 623"/>
                <a:gd name="T20" fmla="*/ 128 w 275"/>
                <a:gd name="T21" fmla="*/ 185 h 623"/>
                <a:gd name="T22" fmla="*/ 58 w 275"/>
                <a:gd name="T23" fmla="*/ 299 h 623"/>
                <a:gd name="T24" fmla="*/ 54 w 275"/>
                <a:gd name="T25" fmla="*/ 441 h 623"/>
                <a:gd name="T26" fmla="*/ 24 w 275"/>
                <a:gd name="T27" fmla="*/ 523 h 623"/>
                <a:gd name="T28" fmla="*/ 0 w 275"/>
                <a:gd name="T29" fmla="*/ 623 h 623"/>
                <a:gd name="T30" fmla="*/ 78 w 275"/>
                <a:gd name="T31" fmla="*/ 623 h 623"/>
                <a:gd name="T32" fmla="*/ 92 w 275"/>
                <a:gd name="T33" fmla="*/ 555 h 623"/>
                <a:gd name="T34" fmla="*/ 134 w 275"/>
                <a:gd name="T35" fmla="*/ 447 h 623"/>
                <a:gd name="T36" fmla="*/ 158 w 275"/>
                <a:gd name="T37" fmla="*/ 315 h 623"/>
                <a:gd name="T38" fmla="*/ 184 w 275"/>
                <a:gd name="T39" fmla="*/ 257 h 623"/>
                <a:gd name="T40" fmla="*/ 216 w 275"/>
                <a:gd name="T41" fmla="*/ 211 h 623"/>
                <a:gd name="T42" fmla="*/ 222 w 275"/>
                <a:gd name="T43" fmla="*/ 145 h 623"/>
                <a:gd name="T44" fmla="*/ 240 w 275"/>
                <a:gd name="T45" fmla="*/ 111 h 623"/>
                <a:gd name="T46" fmla="*/ 262 w 275"/>
                <a:gd name="T47" fmla="*/ 79 h 623"/>
                <a:gd name="T48" fmla="*/ 275 w 275"/>
                <a:gd name="T49" fmla="*/ 6 h 623"/>
                <a:gd name="T50" fmla="*/ 263 w 275"/>
                <a:gd name="T51" fmla="*/ 12 h 623"/>
                <a:gd name="T52" fmla="*/ 257 w 275"/>
                <a:gd name="T53" fmla="*/ 12 h 623"/>
                <a:gd name="T54" fmla="*/ 257 w 275"/>
                <a:gd name="T55" fmla="*/ 12 h 623"/>
                <a:gd name="T56" fmla="*/ 257 w 275"/>
                <a:gd name="T57" fmla="*/ 12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5" h="623">
                  <a:moveTo>
                    <a:pt x="257" y="12"/>
                  </a:moveTo>
                  <a:lnTo>
                    <a:pt x="239" y="6"/>
                  </a:lnTo>
                  <a:lnTo>
                    <a:pt x="203" y="6"/>
                  </a:lnTo>
                  <a:lnTo>
                    <a:pt x="203" y="6"/>
                  </a:lnTo>
                  <a:lnTo>
                    <a:pt x="197" y="6"/>
                  </a:lnTo>
                  <a:lnTo>
                    <a:pt x="185" y="0"/>
                  </a:lnTo>
                  <a:lnTo>
                    <a:pt x="173" y="0"/>
                  </a:lnTo>
                  <a:lnTo>
                    <a:pt x="166" y="0"/>
                  </a:lnTo>
                  <a:lnTo>
                    <a:pt x="160" y="0"/>
                  </a:lnTo>
                  <a:lnTo>
                    <a:pt x="144" y="117"/>
                  </a:lnTo>
                  <a:lnTo>
                    <a:pt x="128" y="185"/>
                  </a:lnTo>
                  <a:lnTo>
                    <a:pt x="58" y="299"/>
                  </a:lnTo>
                  <a:lnTo>
                    <a:pt x="54" y="441"/>
                  </a:lnTo>
                  <a:lnTo>
                    <a:pt x="24" y="523"/>
                  </a:lnTo>
                  <a:lnTo>
                    <a:pt x="0" y="623"/>
                  </a:lnTo>
                  <a:lnTo>
                    <a:pt x="78" y="623"/>
                  </a:lnTo>
                  <a:lnTo>
                    <a:pt x="92" y="555"/>
                  </a:lnTo>
                  <a:lnTo>
                    <a:pt x="134" y="447"/>
                  </a:lnTo>
                  <a:lnTo>
                    <a:pt x="158" y="315"/>
                  </a:lnTo>
                  <a:lnTo>
                    <a:pt x="184" y="257"/>
                  </a:lnTo>
                  <a:lnTo>
                    <a:pt x="216" y="211"/>
                  </a:lnTo>
                  <a:lnTo>
                    <a:pt x="222" y="145"/>
                  </a:lnTo>
                  <a:lnTo>
                    <a:pt x="240" y="111"/>
                  </a:lnTo>
                  <a:lnTo>
                    <a:pt x="262" y="79"/>
                  </a:lnTo>
                  <a:lnTo>
                    <a:pt x="275" y="6"/>
                  </a:lnTo>
                  <a:lnTo>
                    <a:pt x="263" y="12"/>
                  </a:lnTo>
                  <a:lnTo>
                    <a:pt x="257" y="12"/>
                  </a:lnTo>
                  <a:lnTo>
                    <a:pt x="257" y="12"/>
                  </a:lnTo>
                  <a:lnTo>
                    <a:pt x="257"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5" name="Freeform 9"/>
            <p:cNvSpPr>
              <a:spLocks/>
            </p:cNvSpPr>
            <p:nvPr/>
          </p:nvSpPr>
          <p:spPr bwMode="ltGray">
            <a:xfrm>
              <a:off x="4522" y="3709"/>
              <a:ext cx="213" cy="611"/>
            </a:xfrm>
            <a:custGeom>
              <a:avLst/>
              <a:gdLst>
                <a:gd name="T0" fmla="*/ 171 w 213"/>
                <a:gd name="T1" fmla="*/ 12 h 611"/>
                <a:gd name="T2" fmla="*/ 159 w 213"/>
                <a:gd name="T3" fmla="*/ 24 h 611"/>
                <a:gd name="T4" fmla="*/ 153 w 213"/>
                <a:gd name="T5" fmla="*/ 36 h 611"/>
                <a:gd name="T6" fmla="*/ 128 w 213"/>
                <a:gd name="T7" fmla="*/ 60 h 611"/>
                <a:gd name="T8" fmla="*/ 110 w 213"/>
                <a:gd name="T9" fmla="*/ 83 h 611"/>
                <a:gd name="T10" fmla="*/ 86 w 213"/>
                <a:gd name="T11" fmla="*/ 119 h 611"/>
                <a:gd name="T12" fmla="*/ 68 w 213"/>
                <a:gd name="T13" fmla="*/ 167 h 611"/>
                <a:gd name="T14" fmla="*/ 68 w 213"/>
                <a:gd name="T15" fmla="*/ 221 h 611"/>
                <a:gd name="T16" fmla="*/ 68 w 213"/>
                <a:gd name="T17" fmla="*/ 227 h 611"/>
                <a:gd name="T18" fmla="*/ 68 w 213"/>
                <a:gd name="T19" fmla="*/ 233 h 611"/>
                <a:gd name="T20" fmla="*/ 68 w 213"/>
                <a:gd name="T21" fmla="*/ 239 h 611"/>
                <a:gd name="T22" fmla="*/ 68 w 213"/>
                <a:gd name="T23" fmla="*/ 245 h 611"/>
                <a:gd name="T24" fmla="*/ 68 w 213"/>
                <a:gd name="T25" fmla="*/ 251 h 611"/>
                <a:gd name="T26" fmla="*/ 68 w 213"/>
                <a:gd name="T27" fmla="*/ 251 h 611"/>
                <a:gd name="T28" fmla="*/ 68 w 213"/>
                <a:gd name="T29" fmla="*/ 257 h 611"/>
                <a:gd name="T30" fmla="*/ 68 w 213"/>
                <a:gd name="T31" fmla="*/ 269 h 611"/>
                <a:gd name="T32" fmla="*/ 74 w 213"/>
                <a:gd name="T33" fmla="*/ 287 h 611"/>
                <a:gd name="T34" fmla="*/ 80 w 213"/>
                <a:gd name="T35" fmla="*/ 305 h 611"/>
                <a:gd name="T36" fmla="*/ 86 w 213"/>
                <a:gd name="T37" fmla="*/ 311 h 611"/>
                <a:gd name="T38" fmla="*/ 86 w 213"/>
                <a:gd name="T39" fmla="*/ 311 h 611"/>
                <a:gd name="T40" fmla="*/ 92 w 213"/>
                <a:gd name="T41" fmla="*/ 317 h 611"/>
                <a:gd name="T42" fmla="*/ 92 w 213"/>
                <a:gd name="T43" fmla="*/ 323 h 611"/>
                <a:gd name="T44" fmla="*/ 92 w 213"/>
                <a:gd name="T45" fmla="*/ 323 h 611"/>
                <a:gd name="T46" fmla="*/ 24 w 213"/>
                <a:gd name="T47" fmla="*/ 437 h 611"/>
                <a:gd name="T48" fmla="*/ 18 w 213"/>
                <a:gd name="T49" fmla="*/ 471 h 611"/>
                <a:gd name="T50" fmla="*/ 0 w 213"/>
                <a:gd name="T51" fmla="*/ 547 h 611"/>
                <a:gd name="T52" fmla="*/ 50 w 213"/>
                <a:gd name="T53" fmla="*/ 611 h 611"/>
                <a:gd name="T54" fmla="*/ 114 w 213"/>
                <a:gd name="T55" fmla="*/ 611 h 611"/>
                <a:gd name="T56" fmla="*/ 104 w 213"/>
                <a:gd name="T57" fmla="*/ 555 h 611"/>
                <a:gd name="T58" fmla="*/ 120 w 213"/>
                <a:gd name="T59" fmla="*/ 515 h 611"/>
                <a:gd name="T60" fmla="*/ 150 w 213"/>
                <a:gd name="T61" fmla="*/ 449 h 611"/>
                <a:gd name="T62" fmla="*/ 166 w 213"/>
                <a:gd name="T63" fmla="*/ 377 h 611"/>
                <a:gd name="T64" fmla="*/ 156 w 213"/>
                <a:gd name="T65" fmla="*/ 295 h 611"/>
                <a:gd name="T66" fmla="*/ 170 w 213"/>
                <a:gd name="T67" fmla="*/ 203 h 611"/>
                <a:gd name="T68" fmla="*/ 212 w 213"/>
                <a:gd name="T69" fmla="*/ 95 h 611"/>
                <a:gd name="T70" fmla="*/ 213 w 213"/>
                <a:gd name="T71" fmla="*/ 0 h 611"/>
                <a:gd name="T72" fmla="*/ 207 w 213"/>
                <a:gd name="T73" fmla="*/ 0 h 611"/>
                <a:gd name="T74" fmla="*/ 201 w 213"/>
                <a:gd name="T75" fmla="*/ 0 h 611"/>
                <a:gd name="T76" fmla="*/ 195 w 213"/>
                <a:gd name="T77" fmla="*/ 0 h 611"/>
                <a:gd name="T78" fmla="*/ 189 w 213"/>
                <a:gd name="T79" fmla="*/ 0 h 611"/>
                <a:gd name="T80" fmla="*/ 183 w 213"/>
                <a:gd name="T81" fmla="*/ 6 h 611"/>
                <a:gd name="T82" fmla="*/ 177 w 213"/>
                <a:gd name="T83" fmla="*/ 6 h 611"/>
                <a:gd name="T84" fmla="*/ 171 w 213"/>
                <a:gd name="T85" fmla="*/ 12 h 611"/>
                <a:gd name="T86" fmla="*/ 171 w 213"/>
                <a:gd name="T87" fmla="*/ 12 h 611"/>
                <a:gd name="T88" fmla="*/ 171 w 213"/>
                <a:gd name="T89" fmla="*/ 12 h 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3" h="611">
                  <a:moveTo>
                    <a:pt x="171" y="12"/>
                  </a:moveTo>
                  <a:lnTo>
                    <a:pt x="159" y="24"/>
                  </a:lnTo>
                  <a:lnTo>
                    <a:pt x="153" y="36"/>
                  </a:lnTo>
                  <a:lnTo>
                    <a:pt x="128" y="60"/>
                  </a:lnTo>
                  <a:lnTo>
                    <a:pt x="110" y="83"/>
                  </a:lnTo>
                  <a:lnTo>
                    <a:pt x="86" y="119"/>
                  </a:lnTo>
                  <a:lnTo>
                    <a:pt x="68" y="167"/>
                  </a:lnTo>
                  <a:lnTo>
                    <a:pt x="68" y="221"/>
                  </a:lnTo>
                  <a:lnTo>
                    <a:pt x="68" y="227"/>
                  </a:lnTo>
                  <a:lnTo>
                    <a:pt x="68" y="233"/>
                  </a:lnTo>
                  <a:lnTo>
                    <a:pt x="68" y="239"/>
                  </a:lnTo>
                  <a:lnTo>
                    <a:pt x="68" y="245"/>
                  </a:lnTo>
                  <a:lnTo>
                    <a:pt x="68" y="251"/>
                  </a:lnTo>
                  <a:lnTo>
                    <a:pt x="68" y="251"/>
                  </a:lnTo>
                  <a:lnTo>
                    <a:pt x="68" y="257"/>
                  </a:lnTo>
                  <a:lnTo>
                    <a:pt x="68" y="269"/>
                  </a:lnTo>
                  <a:lnTo>
                    <a:pt x="74" y="287"/>
                  </a:lnTo>
                  <a:lnTo>
                    <a:pt x="80" y="305"/>
                  </a:lnTo>
                  <a:lnTo>
                    <a:pt x="86" y="311"/>
                  </a:lnTo>
                  <a:lnTo>
                    <a:pt x="86" y="311"/>
                  </a:lnTo>
                  <a:lnTo>
                    <a:pt x="92" y="317"/>
                  </a:lnTo>
                  <a:lnTo>
                    <a:pt x="92" y="323"/>
                  </a:lnTo>
                  <a:lnTo>
                    <a:pt x="92" y="323"/>
                  </a:lnTo>
                  <a:lnTo>
                    <a:pt x="24" y="437"/>
                  </a:lnTo>
                  <a:lnTo>
                    <a:pt x="18" y="471"/>
                  </a:lnTo>
                  <a:lnTo>
                    <a:pt x="0" y="547"/>
                  </a:lnTo>
                  <a:lnTo>
                    <a:pt x="50" y="611"/>
                  </a:lnTo>
                  <a:lnTo>
                    <a:pt x="114" y="611"/>
                  </a:lnTo>
                  <a:lnTo>
                    <a:pt x="104" y="555"/>
                  </a:lnTo>
                  <a:lnTo>
                    <a:pt x="120" y="515"/>
                  </a:lnTo>
                  <a:lnTo>
                    <a:pt x="150" y="449"/>
                  </a:lnTo>
                  <a:lnTo>
                    <a:pt x="166" y="377"/>
                  </a:lnTo>
                  <a:lnTo>
                    <a:pt x="156" y="295"/>
                  </a:lnTo>
                  <a:lnTo>
                    <a:pt x="170" y="203"/>
                  </a:lnTo>
                  <a:lnTo>
                    <a:pt x="212" y="95"/>
                  </a:lnTo>
                  <a:lnTo>
                    <a:pt x="213" y="0"/>
                  </a:lnTo>
                  <a:lnTo>
                    <a:pt x="207" y="0"/>
                  </a:lnTo>
                  <a:lnTo>
                    <a:pt x="201" y="0"/>
                  </a:lnTo>
                  <a:lnTo>
                    <a:pt x="195" y="0"/>
                  </a:lnTo>
                  <a:lnTo>
                    <a:pt x="189" y="0"/>
                  </a:lnTo>
                  <a:lnTo>
                    <a:pt x="183" y="6"/>
                  </a:lnTo>
                  <a:lnTo>
                    <a:pt x="177" y="6"/>
                  </a:lnTo>
                  <a:lnTo>
                    <a:pt x="171" y="12"/>
                  </a:lnTo>
                  <a:lnTo>
                    <a:pt x="171" y="12"/>
                  </a:lnTo>
                  <a:lnTo>
                    <a:pt x="171"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6" name="Freeform 10"/>
            <p:cNvSpPr>
              <a:spLocks/>
            </p:cNvSpPr>
            <p:nvPr/>
          </p:nvSpPr>
          <p:spPr bwMode="ltGray">
            <a:xfrm>
              <a:off x="4292" y="3936"/>
              <a:ext cx="167" cy="384"/>
            </a:xfrm>
            <a:custGeom>
              <a:avLst/>
              <a:gdLst>
                <a:gd name="T0" fmla="*/ 149 w 167"/>
                <a:gd name="T1" fmla="*/ 60 h 384"/>
                <a:gd name="T2" fmla="*/ 119 w 167"/>
                <a:gd name="T3" fmla="*/ 30 h 384"/>
                <a:gd name="T4" fmla="*/ 89 w 167"/>
                <a:gd name="T5" fmla="*/ 12 h 384"/>
                <a:gd name="T6" fmla="*/ 59 w 167"/>
                <a:gd name="T7" fmla="*/ 0 h 384"/>
                <a:gd name="T8" fmla="*/ 54 w 167"/>
                <a:gd name="T9" fmla="*/ 70 h 384"/>
                <a:gd name="T10" fmla="*/ 46 w 167"/>
                <a:gd name="T11" fmla="*/ 112 h 384"/>
                <a:gd name="T12" fmla="*/ 52 w 167"/>
                <a:gd name="T13" fmla="*/ 168 h 384"/>
                <a:gd name="T14" fmla="*/ 24 w 167"/>
                <a:gd name="T15" fmla="*/ 194 h 384"/>
                <a:gd name="T16" fmla="*/ 16 w 167"/>
                <a:gd name="T17" fmla="*/ 258 h 384"/>
                <a:gd name="T18" fmla="*/ 2 w 167"/>
                <a:gd name="T19" fmla="*/ 300 h 384"/>
                <a:gd name="T20" fmla="*/ 0 w 167"/>
                <a:gd name="T21" fmla="*/ 352 h 384"/>
                <a:gd name="T22" fmla="*/ 47 w 167"/>
                <a:gd name="T23" fmla="*/ 384 h 384"/>
                <a:gd name="T24" fmla="*/ 149 w 167"/>
                <a:gd name="T25" fmla="*/ 384 h 384"/>
                <a:gd name="T26" fmla="*/ 134 w 167"/>
                <a:gd name="T27" fmla="*/ 350 h 384"/>
                <a:gd name="T28" fmla="*/ 104 w 167"/>
                <a:gd name="T29" fmla="*/ 324 h 384"/>
                <a:gd name="T30" fmla="*/ 138 w 167"/>
                <a:gd name="T31" fmla="*/ 274 h 384"/>
                <a:gd name="T32" fmla="*/ 122 w 167"/>
                <a:gd name="T33" fmla="*/ 220 h 384"/>
                <a:gd name="T34" fmla="*/ 132 w 167"/>
                <a:gd name="T35" fmla="*/ 186 h 384"/>
                <a:gd name="T36" fmla="*/ 140 w 167"/>
                <a:gd name="T37" fmla="*/ 154 h 384"/>
                <a:gd name="T38" fmla="*/ 167 w 167"/>
                <a:gd name="T39" fmla="*/ 90 h 384"/>
                <a:gd name="T40" fmla="*/ 149 w 167"/>
                <a:gd name="T41" fmla="*/ 60 h 384"/>
                <a:gd name="T42" fmla="*/ 149 w 167"/>
                <a:gd name="T43" fmla="*/ 60 h 384"/>
                <a:gd name="T44" fmla="*/ 149 w 167"/>
                <a:gd name="T45" fmla="*/ 6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7" h="384">
                  <a:moveTo>
                    <a:pt x="149" y="60"/>
                  </a:moveTo>
                  <a:lnTo>
                    <a:pt x="119" y="30"/>
                  </a:lnTo>
                  <a:lnTo>
                    <a:pt x="89" y="12"/>
                  </a:lnTo>
                  <a:lnTo>
                    <a:pt x="59" y="0"/>
                  </a:lnTo>
                  <a:lnTo>
                    <a:pt x="54" y="70"/>
                  </a:lnTo>
                  <a:lnTo>
                    <a:pt x="46" y="112"/>
                  </a:lnTo>
                  <a:lnTo>
                    <a:pt x="52" y="168"/>
                  </a:lnTo>
                  <a:lnTo>
                    <a:pt x="24" y="194"/>
                  </a:lnTo>
                  <a:lnTo>
                    <a:pt x="16" y="258"/>
                  </a:lnTo>
                  <a:lnTo>
                    <a:pt x="2" y="300"/>
                  </a:lnTo>
                  <a:lnTo>
                    <a:pt x="0" y="352"/>
                  </a:lnTo>
                  <a:lnTo>
                    <a:pt x="47" y="384"/>
                  </a:lnTo>
                  <a:lnTo>
                    <a:pt x="149" y="384"/>
                  </a:lnTo>
                  <a:lnTo>
                    <a:pt x="134" y="350"/>
                  </a:lnTo>
                  <a:lnTo>
                    <a:pt x="104" y="324"/>
                  </a:lnTo>
                  <a:lnTo>
                    <a:pt x="138" y="274"/>
                  </a:lnTo>
                  <a:lnTo>
                    <a:pt x="122" y="220"/>
                  </a:lnTo>
                  <a:lnTo>
                    <a:pt x="132" y="186"/>
                  </a:lnTo>
                  <a:lnTo>
                    <a:pt x="140" y="154"/>
                  </a:lnTo>
                  <a:lnTo>
                    <a:pt x="167" y="90"/>
                  </a:lnTo>
                  <a:lnTo>
                    <a:pt x="149" y="60"/>
                  </a:lnTo>
                  <a:lnTo>
                    <a:pt x="149" y="60"/>
                  </a:lnTo>
                  <a:lnTo>
                    <a:pt x="149" y="6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7" name="Freeform 11"/>
            <p:cNvSpPr>
              <a:spLocks/>
            </p:cNvSpPr>
            <p:nvPr/>
          </p:nvSpPr>
          <p:spPr bwMode="ltGray">
            <a:xfrm>
              <a:off x="4100" y="4020"/>
              <a:ext cx="166" cy="300"/>
            </a:xfrm>
            <a:custGeom>
              <a:avLst/>
              <a:gdLst>
                <a:gd name="T0" fmla="*/ 136 w 166"/>
                <a:gd name="T1" fmla="*/ 12 h 300"/>
                <a:gd name="T2" fmla="*/ 100 w 166"/>
                <a:gd name="T3" fmla="*/ 0 h 300"/>
                <a:gd name="T4" fmla="*/ 78 w 166"/>
                <a:gd name="T5" fmla="*/ 64 h 300"/>
                <a:gd name="T6" fmla="*/ 70 w 166"/>
                <a:gd name="T7" fmla="*/ 126 h 300"/>
                <a:gd name="T8" fmla="*/ 46 w 166"/>
                <a:gd name="T9" fmla="*/ 184 h 300"/>
                <a:gd name="T10" fmla="*/ 58 w 166"/>
                <a:gd name="T11" fmla="*/ 232 h 300"/>
                <a:gd name="T12" fmla="*/ 38 w 166"/>
                <a:gd name="T13" fmla="*/ 268 h 300"/>
                <a:gd name="T14" fmla="*/ 0 w 166"/>
                <a:gd name="T15" fmla="*/ 300 h 300"/>
                <a:gd name="T16" fmla="*/ 160 w 166"/>
                <a:gd name="T17" fmla="*/ 300 h 300"/>
                <a:gd name="T18" fmla="*/ 136 w 166"/>
                <a:gd name="T19" fmla="*/ 272 h 300"/>
                <a:gd name="T20" fmla="*/ 98 w 166"/>
                <a:gd name="T21" fmla="*/ 234 h 300"/>
                <a:gd name="T22" fmla="*/ 130 w 166"/>
                <a:gd name="T23" fmla="*/ 188 h 300"/>
                <a:gd name="T24" fmla="*/ 138 w 166"/>
                <a:gd name="T25" fmla="*/ 134 h 300"/>
                <a:gd name="T26" fmla="*/ 144 w 166"/>
                <a:gd name="T27" fmla="*/ 94 h 300"/>
                <a:gd name="T28" fmla="*/ 164 w 166"/>
                <a:gd name="T29" fmla="*/ 60 h 300"/>
                <a:gd name="T30" fmla="*/ 166 w 166"/>
                <a:gd name="T31" fmla="*/ 0 h 300"/>
                <a:gd name="T32" fmla="*/ 136 w 166"/>
                <a:gd name="T33" fmla="*/ 12 h 300"/>
                <a:gd name="T34" fmla="*/ 136 w 166"/>
                <a:gd name="T35" fmla="*/ 12 h 300"/>
                <a:gd name="T36" fmla="*/ 136 w 166"/>
                <a:gd name="T37" fmla="*/ 12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6" h="300">
                  <a:moveTo>
                    <a:pt x="136" y="12"/>
                  </a:moveTo>
                  <a:lnTo>
                    <a:pt x="100" y="0"/>
                  </a:lnTo>
                  <a:lnTo>
                    <a:pt x="78" y="64"/>
                  </a:lnTo>
                  <a:lnTo>
                    <a:pt x="70" y="126"/>
                  </a:lnTo>
                  <a:lnTo>
                    <a:pt x="46" y="184"/>
                  </a:lnTo>
                  <a:lnTo>
                    <a:pt x="58" y="232"/>
                  </a:lnTo>
                  <a:lnTo>
                    <a:pt x="38" y="268"/>
                  </a:lnTo>
                  <a:lnTo>
                    <a:pt x="0" y="300"/>
                  </a:lnTo>
                  <a:lnTo>
                    <a:pt x="160" y="300"/>
                  </a:lnTo>
                  <a:lnTo>
                    <a:pt x="136" y="272"/>
                  </a:lnTo>
                  <a:lnTo>
                    <a:pt x="98" y="234"/>
                  </a:lnTo>
                  <a:lnTo>
                    <a:pt x="130" y="188"/>
                  </a:lnTo>
                  <a:lnTo>
                    <a:pt x="138" y="134"/>
                  </a:lnTo>
                  <a:lnTo>
                    <a:pt x="144" y="94"/>
                  </a:lnTo>
                  <a:lnTo>
                    <a:pt x="164" y="60"/>
                  </a:lnTo>
                  <a:lnTo>
                    <a:pt x="166" y="0"/>
                  </a:lnTo>
                  <a:lnTo>
                    <a:pt x="136" y="12"/>
                  </a:lnTo>
                  <a:lnTo>
                    <a:pt x="136" y="12"/>
                  </a:lnTo>
                  <a:lnTo>
                    <a:pt x="136" y="12"/>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8" name="Freeform 12"/>
            <p:cNvSpPr>
              <a:spLocks/>
            </p:cNvSpPr>
            <p:nvPr/>
          </p:nvSpPr>
          <p:spPr bwMode="ltGray">
            <a:xfrm>
              <a:off x="3910" y="4038"/>
              <a:ext cx="237" cy="282"/>
            </a:xfrm>
            <a:custGeom>
              <a:avLst/>
              <a:gdLst>
                <a:gd name="T0" fmla="*/ 201 w 237"/>
                <a:gd name="T1" fmla="*/ 0 h 282"/>
                <a:gd name="T2" fmla="*/ 183 w 237"/>
                <a:gd name="T3" fmla="*/ 0 h 282"/>
                <a:gd name="T4" fmla="*/ 158 w 237"/>
                <a:gd name="T5" fmla="*/ 50 h 282"/>
                <a:gd name="T6" fmla="*/ 148 w 237"/>
                <a:gd name="T7" fmla="*/ 92 h 282"/>
                <a:gd name="T8" fmla="*/ 120 w 237"/>
                <a:gd name="T9" fmla="*/ 144 h 282"/>
                <a:gd name="T10" fmla="*/ 82 w 237"/>
                <a:gd name="T11" fmla="*/ 182 h 282"/>
                <a:gd name="T12" fmla="*/ 60 w 237"/>
                <a:gd name="T13" fmla="*/ 232 h 282"/>
                <a:gd name="T14" fmla="*/ 0 w 237"/>
                <a:gd name="T15" fmla="*/ 282 h 282"/>
                <a:gd name="T16" fmla="*/ 128 w 237"/>
                <a:gd name="T17" fmla="*/ 282 h 282"/>
                <a:gd name="T18" fmla="*/ 154 w 237"/>
                <a:gd name="T19" fmla="*/ 254 h 282"/>
                <a:gd name="T20" fmla="*/ 158 w 237"/>
                <a:gd name="T21" fmla="*/ 196 h 282"/>
                <a:gd name="T22" fmla="*/ 188 w 237"/>
                <a:gd name="T23" fmla="*/ 148 h 282"/>
                <a:gd name="T24" fmla="*/ 196 w 237"/>
                <a:gd name="T25" fmla="*/ 70 h 282"/>
                <a:gd name="T26" fmla="*/ 237 w 237"/>
                <a:gd name="T27" fmla="*/ 0 h 282"/>
                <a:gd name="T28" fmla="*/ 201 w 237"/>
                <a:gd name="T29" fmla="*/ 0 h 282"/>
                <a:gd name="T30" fmla="*/ 201 w 237"/>
                <a:gd name="T31" fmla="*/ 0 h 282"/>
                <a:gd name="T32" fmla="*/ 201 w 237"/>
                <a:gd name="T33"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7" h="282">
                  <a:moveTo>
                    <a:pt x="201" y="0"/>
                  </a:moveTo>
                  <a:lnTo>
                    <a:pt x="183" y="0"/>
                  </a:lnTo>
                  <a:lnTo>
                    <a:pt x="158" y="50"/>
                  </a:lnTo>
                  <a:lnTo>
                    <a:pt x="148" y="92"/>
                  </a:lnTo>
                  <a:lnTo>
                    <a:pt x="120" y="144"/>
                  </a:lnTo>
                  <a:lnTo>
                    <a:pt x="82" y="182"/>
                  </a:lnTo>
                  <a:lnTo>
                    <a:pt x="60" y="232"/>
                  </a:lnTo>
                  <a:lnTo>
                    <a:pt x="0" y="282"/>
                  </a:lnTo>
                  <a:lnTo>
                    <a:pt x="128" y="282"/>
                  </a:lnTo>
                  <a:lnTo>
                    <a:pt x="154" y="254"/>
                  </a:lnTo>
                  <a:lnTo>
                    <a:pt x="158" y="196"/>
                  </a:lnTo>
                  <a:lnTo>
                    <a:pt x="188" y="148"/>
                  </a:lnTo>
                  <a:lnTo>
                    <a:pt x="196" y="70"/>
                  </a:lnTo>
                  <a:lnTo>
                    <a:pt x="237" y="0"/>
                  </a:lnTo>
                  <a:lnTo>
                    <a:pt x="201" y="0"/>
                  </a:lnTo>
                  <a:lnTo>
                    <a:pt x="201" y="0"/>
                  </a:lnTo>
                  <a:lnTo>
                    <a:pt x="201"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09" name="Freeform 13"/>
            <p:cNvSpPr>
              <a:spLocks/>
            </p:cNvSpPr>
            <p:nvPr/>
          </p:nvSpPr>
          <p:spPr bwMode="ltGray">
            <a:xfrm>
              <a:off x="3674" y="4086"/>
              <a:ext cx="196" cy="234"/>
            </a:xfrm>
            <a:custGeom>
              <a:avLst/>
              <a:gdLst>
                <a:gd name="T0" fmla="*/ 167 w 196"/>
                <a:gd name="T1" fmla="*/ 54 h 234"/>
                <a:gd name="T2" fmla="*/ 113 w 196"/>
                <a:gd name="T3" fmla="*/ 24 h 234"/>
                <a:gd name="T4" fmla="*/ 83 w 196"/>
                <a:gd name="T5" fmla="*/ 0 h 234"/>
                <a:gd name="T6" fmla="*/ 80 w 196"/>
                <a:gd name="T7" fmla="*/ 62 h 234"/>
                <a:gd name="T8" fmla="*/ 58 w 196"/>
                <a:gd name="T9" fmla="*/ 100 h 234"/>
                <a:gd name="T10" fmla="*/ 54 w 196"/>
                <a:gd name="T11" fmla="*/ 160 h 234"/>
                <a:gd name="T12" fmla="*/ 36 w 196"/>
                <a:gd name="T13" fmla="*/ 202 h 234"/>
                <a:gd name="T14" fmla="*/ 0 w 196"/>
                <a:gd name="T15" fmla="*/ 234 h 234"/>
                <a:gd name="T16" fmla="*/ 146 w 196"/>
                <a:gd name="T17" fmla="*/ 234 h 234"/>
                <a:gd name="T18" fmla="*/ 170 w 196"/>
                <a:gd name="T19" fmla="*/ 198 h 234"/>
                <a:gd name="T20" fmla="*/ 158 w 196"/>
                <a:gd name="T21" fmla="*/ 138 h 234"/>
                <a:gd name="T22" fmla="*/ 196 w 196"/>
                <a:gd name="T23" fmla="*/ 100 h 234"/>
                <a:gd name="T24" fmla="*/ 191 w 196"/>
                <a:gd name="T25" fmla="*/ 54 h 234"/>
                <a:gd name="T26" fmla="*/ 167 w 196"/>
                <a:gd name="T27" fmla="*/ 54 h 234"/>
                <a:gd name="T28" fmla="*/ 167 w 196"/>
                <a:gd name="T29" fmla="*/ 54 h 234"/>
                <a:gd name="T30" fmla="*/ 167 w 196"/>
                <a:gd name="T31" fmla="*/ 5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6" h="234">
                  <a:moveTo>
                    <a:pt x="167" y="54"/>
                  </a:moveTo>
                  <a:lnTo>
                    <a:pt x="113" y="24"/>
                  </a:lnTo>
                  <a:lnTo>
                    <a:pt x="83" y="0"/>
                  </a:lnTo>
                  <a:lnTo>
                    <a:pt x="80" y="62"/>
                  </a:lnTo>
                  <a:lnTo>
                    <a:pt x="58" y="100"/>
                  </a:lnTo>
                  <a:lnTo>
                    <a:pt x="54" y="160"/>
                  </a:lnTo>
                  <a:lnTo>
                    <a:pt x="36" y="202"/>
                  </a:lnTo>
                  <a:lnTo>
                    <a:pt x="0" y="234"/>
                  </a:lnTo>
                  <a:lnTo>
                    <a:pt x="146" y="234"/>
                  </a:lnTo>
                  <a:lnTo>
                    <a:pt x="170" y="198"/>
                  </a:lnTo>
                  <a:lnTo>
                    <a:pt x="158" y="138"/>
                  </a:lnTo>
                  <a:lnTo>
                    <a:pt x="196" y="100"/>
                  </a:lnTo>
                  <a:lnTo>
                    <a:pt x="191" y="54"/>
                  </a:lnTo>
                  <a:lnTo>
                    <a:pt x="167" y="54"/>
                  </a:lnTo>
                  <a:lnTo>
                    <a:pt x="167" y="54"/>
                  </a:lnTo>
                  <a:lnTo>
                    <a:pt x="167" y="54"/>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10" name="Freeform 14"/>
            <p:cNvSpPr>
              <a:spLocks/>
            </p:cNvSpPr>
            <p:nvPr/>
          </p:nvSpPr>
          <p:spPr bwMode="ltGray">
            <a:xfrm>
              <a:off x="3476" y="4068"/>
              <a:ext cx="190" cy="252"/>
            </a:xfrm>
            <a:custGeom>
              <a:avLst/>
              <a:gdLst>
                <a:gd name="T0" fmla="*/ 190 w 190"/>
                <a:gd name="T1" fmla="*/ 0 h 252"/>
                <a:gd name="T2" fmla="*/ 166 w 190"/>
                <a:gd name="T3" fmla="*/ 0 h 252"/>
                <a:gd name="T4" fmla="*/ 158 w 190"/>
                <a:gd name="T5" fmla="*/ 38 h 252"/>
                <a:gd name="T6" fmla="*/ 138 w 190"/>
                <a:gd name="T7" fmla="*/ 120 h 252"/>
                <a:gd name="T8" fmla="*/ 94 w 190"/>
                <a:gd name="T9" fmla="*/ 180 h 252"/>
                <a:gd name="T10" fmla="*/ 62 w 190"/>
                <a:gd name="T11" fmla="*/ 234 h 252"/>
                <a:gd name="T12" fmla="*/ 0 w 190"/>
                <a:gd name="T13" fmla="*/ 252 h 252"/>
                <a:gd name="T14" fmla="*/ 128 w 190"/>
                <a:gd name="T15" fmla="*/ 252 h 252"/>
                <a:gd name="T16" fmla="*/ 142 w 190"/>
                <a:gd name="T17" fmla="*/ 188 h 252"/>
                <a:gd name="T18" fmla="*/ 186 w 190"/>
                <a:gd name="T19" fmla="*/ 90 h 252"/>
                <a:gd name="T20" fmla="*/ 190 w 190"/>
                <a:gd name="T21" fmla="*/ 38 h 252"/>
                <a:gd name="T22" fmla="*/ 190 w 190"/>
                <a:gd name="T23" fmla="*/ 0 h 252"/>
                <a:gd name="T24" fmla="*/ 190 w 190"/>
                <a:gd name="T25" fmla="*/ 0 h 252"/>
                <a:gd name="T26" fmla="*/ 190 w 190"/>
                <a:gd name="T27" fmla="*/ 0 h 252"/>
                <a:gd name="T28" fmla="*/ 190 w 190"/>
                <a:gd name="T29"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 h="252">
                  <a:moveTo>
                    <a:pt x="190" y="0"/>
                  </a:moveTo>
                  <a:lnTo>
                    <a:pt x="166" y="0"/>
                  </a:lnTo>
                  <a:lnTo>
                    <a:pt x="158" y="38"/>
                  </a:lnTo>
                  <a:lnTo>
                    <a:pt x="138" y="120"/>
                  </a:lnTo>
                  <a:lnTo>
                    <a:pt x="94" y="180"/>
                  </a:lnTo>
                  <a:lnTo>
                    <a:pt x="62" y="234"/>
                  </a:lnTo>
                  <a:lnTo>
                    <a:pt x="0" y="252"/>
                  </a:lnTo>
                  <a:lnTo>
                    <a:pt x="128" y="252"/>
                  </a:lnTo>
                  <a:lnTo>
                    <a:pt x="142" y="188"/>
                  </a:lnTo>
                  <a:lnTo>
                    <a:pt x="186" y="90"/>
                  </a:lnTo>
                  <a:lnTo>
                    <a:pt x="190" y="38"/>
                  </a:lnTo>
                  <a:lnTo>
                    <a:pt x="190" y="0"/>
                  </a:lnTo>
                  <a:lnTo>
                    <a:pt x="190" y="0"/>
                  </a:lnTo>
                  <a:lnTo>
                    <a:pt x="190" y="0"/>
                  </a:lnTo>
                  <a:lnTo>
                    <a:pt x="190"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11" name="Freeform 15"/>
            <p:cNvSpPr>
              <a:spLocks/>
            </p:cNvSpPr>
            <p:nvPr/>
          </p:nvSpPr>
          <p:spPr bwMode="ltGray">
            <a:xfrm>
              <a:off x="3170" y="4188"/>
              <a:ext cx="230" cy="132"/>
            </a:xfrm>
            <a:custGeom>
              <a:avLst/>
              <a:gdLst>
                <a:gd name="T0" fmla="*/ 197 w 230"/>
                <a:gd name="T1" fmla="*/ 0 h 132"/>
                <a:gd name="T2" fmla="*/ 191 w 230"/>
                <a:gd name="T3" fmla="*/ 0 h 132"/>
                <a:gd name="T4" fmla="*/ 185 w 230"/>
                <a:gd name="T5" fmla="*/ 0 h 132"/>
                <a:gd name="T6" fmla="*/ 173 w 230"/>
                <a:gd name="T7" fmla="*/ 0 h 132"/>
                <a:gd name="T8" fmla="*/ 161 w 230"/>
                <a:gd name="T9" fmla="*/ 0 h 132"/>
                <a:gd name="T10" fmla="*/ 155 w 230"/>
                <a:gd name="T11" fmla="*/ 0 h 132"/>
                <a:gd name="T12" fmla="*/ 138 w 230"/>
                <a:gd name="T13" fmla="*/ 6 h 132"/>
                <a:gd name="T14" fmla="*/ 132 w 230"/>
                <a:gd name="T15" fmla="*/ 6 h 132"/>
                <a:gd name="T16" fmla="*/ 35 w 230"/>
                <a:gd name="T17" fmla="*/ 18 h 132"/>
                <a:gd name="T18" fmla="*/ 11 w 230"/>
                <a:gd name="T19" fmla="*/ 30 h 132"/>
                <a:gd name="T20" fmla="*/ 23 w 230"/>
                <a:gd name="T21" fmla="*/ 54 h 132"/>
                <a:gd name="T22" fmla="*/ 0 w 230"/>
                <a:gd name="T23" fmla="*/ 100 h 132"/>
                <a:gd name="T24" fmla="*/ 0 w 230"/>
                <a:gd name="T25" fmla="*/ 132 h 132"/>
                <a:gd name="T26" fmla="*/ 162 w 230"/>
                <a:gd name="T27" fmla="*/ 132 h 132"/>
                <a:gd name="T28" fmla="*/ 204 w 230"/>
                <a:gd name="T29" fmla="*/ 88 h 132"/>
                <a:gd name="T30" fmla="*/ 230 w 230"/>
                <a:gd name="T31" fmla="*/ 46 h 132"/>
                <a:gd name="T32" fmla="*/ 214 w 230"/>
                <a:gd name="T33" fmla="*/ 24 h 132"/>
                <a:gd name="T34" fmla="*/ 215 w 230"/>
                <a:gd name="T35" fmla="*/ 0 h 132"/>
                <a:gd name="T36" fmla="*/ 209 w 230"/>
                <a:gd name="T37" fmla="*/ 0 h 132"/>
                <a:gd name="T38" fmla="*/ 203 w 230"/>
                <a:gd name="T39" fmla="*/ 0 h 132"/>
                <a:gd name="T40" fmla="*/ 203 w 230"/>
                <a:gd name="T41" fmla="*/ 0 h 132"/>
                <a:gd name="T42" fmla="*/ 197 w 230"/>
                <a:gd name="T43" fmla="*/ 0 h 132"/>
                <a:gd name="T44" fmla="*/ 197 w 230"/>
                <a:gd name="T45" fmla="*/ 0 h 132"/>
                <a:gd name="T46" fmla="*/ 197 w 230"/>
                <a:gd name="T47"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0" h="132">
                  <a:moveTo>
                    <a:pt x="197" y="0"/>
                  </a:moveTo>
                  <a:lnTo>
                    <a:pt x="191" y="0"/>
                  </a:lnTo>
                  <a:lnTo>
                    <a:pt x="185" y="0"/>
                  </a:lnTo>
                  <a:lnTo>
                    <a:pt x="173" y="0"/>
                  </a:lnTo>
                  <a:lnTo>
                    <a:pt x="161" y="0"/>
                  </a:lnTo>
                  <a:lnTo>
                    <a:pt x="155" y="0"/>
                  </a:lnTo>
                  <a:lnTo>
                    <a:pt x="138" y="6"/>
                  </a:lnTo>
                  <a:lnTo>
                    <a:pt x="132" y="6"/>
                  </a:lnTo>
                  <a:lnTo>
                    <a:pt x="35" y="18"/>
                  </a:lnTo>
                  <a:lnTo>
                    <a:pt x="11" y="30"/>
                  </a:lnTo>
                  <a:lnTo>
                    <a:pt x="23" y="54"/>
                  </a:lnTo>
                  <a:lnTo>
                    <a:pt x="0" y="100"/>
                  </a:lnTo>
                  <a:lnTo>
                    <a:pt x="0" y="132"/>
                  </a:lnTo>
                  <a:lnTo>
                    <a:pt x="162" y="132"/>
                  </a:lnTo>
                  <a:lnTo>
                    <a:pt x="204" y="88"/>
                  </a:lnTo>
                  <a:lnTo>
                    <a:pt x="230" y="46"/>
                  </a:lnTo>
                  <a:lnTo>
                    <a:pt x="214" y="24"/>
                  </a:lnTo>
                  <a:lnTo>
                    <a:pt x="215" y="0"/>
                  </a:lnTo>
                  <a:lnTo>
                    <a:pt x="209" y="0"/>
                  </a:lnTo>
                  <a:lnTo>
                    <a:pt x="203" y="0"/>
                  </a:lnTo>
                  <a:lnTo>
                    <a:pt x="203" y="0"/>
                  </a:lnTo>
                  <a:lnTo>
                    <a:pt x="197" y="0"/>
                  </a:lnTo>
                  <a:lnTo>
                    <a:pt x="197" y="0"/>
                  </a:lnTo>
                  <a:lnTo>
                    <a:pt x="197"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12" name="Freeform 16"/>
            <p:cNvSpPr>
              <a:spLocks/>
            </p:cNvSpPr>
            <p:nvPr/>
          </p:nvSpPr>
          <p:spPr bwMode="ltGray">
            <a:xfrm>
              <a:off x="3044" y="4218"/>
              <a:ext cx="89" cy="102"/>
            </a:xfrm>
            <a:custGeom>
              <a:avLst/>
              <a:gdLst>
                <a:gd name="T0" fmla="*/ 71 w 89"/>
                <a:gd name="T1" fmla="*/ 0 h 102"/>
                <a:gd name="T2" fmla="*/ 66 w 89"/>
                <a:gd name="T3" fmla="*/ 48 h 102"/>
                <a:gd name="T4" fmla="*/ 30 w 89"/>
                <a:gd name="T5" fmla="*/ 72 h 102"/>
                <a:gd name="T6" fmla="*/ 0 w 89"/>
                <a:gd name="T7" fmla="*/ 102 h 102"/>
                <a:gd name="T8" fmla="*/ 66 w 89"/>
                <a:gd name="T9" fmla="*/ 102 h 102"/>
                <a:gd name="T10" fmla="*/ 88 w 89"/>
                <a:gd name="T11" fmla="*/ 56 h 102"/>
                <a:gd name="T12" fmla="*/ 89 w 89"/>
                <a:gd name="T13" fmla="*/ 6 h 102"/>
                <a:gd name="T14" fmla="*/ 71 w 89"/>
                <a:gd name="T15" fmla="*/ 0 h 102"/>
                <a:gd name="T16" fmla="*/ 71 w 89"/>
                <a:gd name="T17" fmla="*/ 0 h 102"/>
                <a:gd name="T18" fmla="*/ 71 w 89"/>
                <a:gd name="T19"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102">
                  <a:moveTo>
                    <a:pt x="71" y="0"/>
                  </a:moveTo>
                  <a:lnTo>
                    <a:pt x="66" y="48"/>
                  </a:lnTo>
                  <a:lnTo>
                    <a:pt x="30" y="72"/>
                  </a:lnTo>
                  <a:lnTo>
                    <a:pt x="0" y="102"/>
                  </a:lnTo>
                  <a:lnTo>
                    <a:pt x="66" y="102"/>
                  </a:lnTo>
                  <a:lnTo>
                    <a:pt x="88" y="56"/>
                  </a:lnTo>
                  <a:lnTo>
                    <a:pt x="89" y="6"/>
                  </a:lnTo>
                  <a:lnTo>
                    <a:pt x="71" y="0"/>
                  </a:lnTo>
                  <a:lnTo>
                    <a:pt x="71" y="0"/>
                  </a:lnTo>
                  <a:lnTo>
                    <a:pt x="71" y="0"/>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sp>
          <p:nvSpPr>
            <p:cNvPr id="4113" name="Freeform 17"/>
            <p:cNvSpPr>
              <a:spLocks/>
            </p:cNvSpPr>
            <p:nvPr/>
          </p:nvSpPr>
          <p:spPr bwMode="ltGray">
            <a:xfrm>
              <a:off x="5482" y="3367"/>
              <a:ext cx="278" cy="953"/>
            </a:xfrm>
            <a:custGeom>
              <a:avLst/>
              <a:gdLst>
                <a:gd name="T0" fmla="*/ 278 w 278"/>
                <a:gd name="T1" fmla="*/ 24 h 953"/>
                <a:gd name="T2" fmla="*/ 272 w 278"/>
                <a:gd name="T3" fmla="*/ 24 h 953"/>
                <a:gd name="T4" fmla="*/ 272 w 278"/>
                <a:gd name="T5" fmla="*/ 18 h 953"/>
                <a:gd name="T6" fmla="*/ 266 w 278"/>
                <a:gd name="T7" fmla="*/ 18 h 953"/>
                <a:gd name="T8" fmla="*/ 254 w 278"/>
                <a:gd name="T9" fmla="*/ 12 h 953"/>
                <a:gd name="T10" fmla="*/ 236 w 278"/>
                <a:gd name="T11" fmla="*/ 6 h 953"/>
                <a:gd name="T12" fmla="*/ 212 w 278"/>
                <a:gd name="T13" fmla="*/ 0 h 953"/>
                <a:gd name="T14" fmla="*/ 206 w 278"/>
                <a:gd name="T15" fmla="*/ 6 h 953"/>
                <a:gd name="T16" fmla="*/ 198 w 278"/>
                <a:gd name="T17" fmla="*/ 129 h 953"/>
                <a:gd name="T18" fmla="*/ 184 w 278"/>
                <a:gd name="T19" fmla="*/ 209 h 953"/>
                <a:gd name="T20" fmla="*/ 182 w 278"/>
                <a:gd name="T21" fmla="*/ 249 h 953"/>
                <a:gd name="T22" fmla="*/ 200 w 278"/>
                <a:gd name="T23" fmla="*/ 339 h 953"/>
                <a:gd name="T24" fmla="*/ 186 w 278"/>
                <a:gd name="T25" fmla="*/ 481 h 953"/>
                <a:gd name="T26" fmla="*/ 176 w 278"/>
                <a:gd name="T27" fmla="*/ 521 h 953"/>
                <a:gd name="T28" fmla="*/ 156 w 278"/>
                <a:gd name="T29" fmla="*/ 601 h 953"/>
                <a:gd name="T30" fmla="*/ 172 w 278"/>
                <a:gd name="T31" fmla="*/ 681 h 953"/>
                <a:gd name="T32" fmla="*/ 138 w 278"/>
                <a:gd name="T33" fmla="*/ 765 h 953"/>
                <a:gd name="T34" fmla="*/ 96 w 278"/>
                <a:gd name="T35" fmla="*/ 847 h 953"/>
                <a:gd name="T36" fmla="*/ 50 w 278"/>
                <a:gd name="T37" fmla="*/ 899 h 953"/>
                <a:gd name="T38" fmla="*/ 0 w 278"/>
                <a:gd name="T39" fmla="*/ 953 h 953"/>
                <a:gd name="T40" fmla="*/ 278 w 278"/>
                <a:gd name="T41" fmla="*/ 953 h 953"/>
                <a:gd name="T42" fmla="*/ 278 w 278"/>
                <a:gd name="T43" fmla="*/ 24 h 953"/>
                <a:gd name="T44" fmla="*/ 278 w 278"/>
                <a:gd name="T45" fmla="*/ 24 h 953"/>
                <a:gd name="T46" fmla="*/ 278 w 278"/>
                <a:gd name="T47" fmla="*/ 24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8" h="953">
                  <a:moveTo>
                    <a:pt x="278" y="24"/>
                  </a:moveTo>
                  <a:lnTo>
                    <a:pt x="272" y="24"/>
                  </a:lnTo>
                  <a:lnTo>
                    <a:pt x="272" y="18"/>
                  </a:lnTo>
                  <a:lnTo>
                    <a:pt x="266" y="18"/>
                  </a:lnTo>
                  <a:lnTo>
                    <a:pt x="254" y="12"/>
                  </a:lnTo>
                  <a:lnTo>
                    <a:pt x="236" y="6"/>
                  </a:lnTo>
                  <a:lnTo>
                    <a:pt x="212" y="0"/>
                  </a:lnTo>
                  <a:lnTo>
                    <a:pt x="206" y="6"/>
                  </a:lnTo>
                  <a:lnTo>
                    <a:pt x="198" y="129"/>
                  </a:lnTo>
                  <a:lnTo>
                    <a:pt x="184" y="209"/>
                  </a:lnTo>
                  <a:lnTo>
                    <a:pt x="182" y="249"/>
                  </a:lnTo>
                  <a:lnTo>
                    <a:pt x="200" y="339"/>
                  </a:lnTo>
                  <a:lnTo>
                    <a:pt x="186" y="481"/>
                  </a:lnTo>
                  <a:lnTo>
                    <a:pt x="176" y="521"/>
                  </a:lnTo>
                  <a:lnTo>
                    <a:pt x="156" y="601"/>
                  </a:lnTo>
                  <a:lnTo>
                    <a:pt x="172" y="681"/>
                  </a:lnTo>
                  <a:lnTo>
                    <a:pt x="138" y="765"/>
                  </a:lnTo>
                  <a:lnTo>
                    <a:pt x="96" y="847"/>
                  </a:lnTo>
                  <a:lnTo>
                    <a:pt x="50" y="899"/>
                  </a:lnTo>
                  <a:lnTo>
                    <a:pt x="0" y="953"/>
                  </a:lnTo>
                  <a:lnTo>
                    <a:pt x="278" y="953"/>
                  </a:lnTo>
                  <a:lnTo>
                    <a:pt x="278" y="24"/>
                  </a:lnTo>
                  <a:lnTo>
                    <a:pt x="278" y="24"/>
                  </a:lnTo>
                  <a:lnTo>
                    <a:pt x="278" y="24"/>
                  </a:lnTo>
                </a:path>
              </a:pathLst>
            </a:custGeom>
            <a:gradFill rotWithShape="0">
              <a:gsLst>
                <a:gs pos="0">
                  <a:schemeClr val="bg2">
                    <a:gamma/>
                    <a:shade val="90980"/>
                    <a:invGamma/>
                  </a:schemeClr>
                </a:gs>
                <a:gs pos="100000">
                  <a:schemeClr val="bg2"/>
                </a:gs>
              </a:gsLst>
              <a:lin ang="2700000" scaled="1"/>
            </a:gradFill>
            <a:ln>
              <a:noFill/>
            </a:ln>
            <a:extLst>
              <a:ext uri="{91240B29-F687-4F45-9708-019B960494DF}">
                <a14:hiddenLine xmlns:a14="http://schemas.microsoft.com/office/drawing/2010/main" w="9525">
                  <a:solidFill>
                    <a:srgbClr val="FF6FB8"/>
                  </a:solidFill>
                  <a:prstDash val="solid"/>
                  <a:round/>
                  <a:headEnd/>
                  <a:tailEnd/>
                </a14:hiddenLine>
              </a:ext>
            </a:extLst>
          </p:spPr>
          <p:txBody>
            <a:bodyPr/>
            <a:lstStyle/>
            <a:p>
              <a:endParaRPr lang="en-US"/>
            </a:p>
          </p:txBody>
        </p:sp>
      </p:grpSp>
      <p:sp>
        <p:nvSpPr>
          <p:cNvPr id="4114" name="Rectangle 18"/>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4115" name="Rectangle 19"/>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000000"/>
                  </a:outerShdw>
                </a:effectLst>
              </a:defRPr>
            </a:lvl1pPr>
          </a:lstStyle>
          <a:p>
            <a:endParaRPr lang="en-US"/>
          </a:p>
        </p:txBody>
      </p:sp>
      <p:sp>
        <p:nvSpPr>
          <p:cNvPr id="4116" name="Rectangle 20"/>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effectLst>
                  <a:outerShdw blurRad="38100" dist="38100" dir="2700000" algn="tl">
                    <a:srgbClr val="000000"/>
                  </a:outerShdw>
                </a:effectLst>
              </a:defRPr>
            </a:lvl1pPr>
          </a:lstStyle>
          <a:p>
            <a:endParaRPr lang="en-US"/>
          </a:p>
        </p:txBody>
      </p:sp>
      <p:sp>
        <p:nvSpPr>
          <p:cNvPr id="4117" name="Rectangle 21"/>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effectLst>
                  <a:outerShdw blurRad="38100" dist="38100" dir="2700000" algn="tl">
                    <a:srgbClr val="000000"/>
                  </a:outerShdw>
                </a:effectLst>
              </a:defRPr>
            </a:lvl1pPr>
          </a:lstStyle>
          <a:p>
            <a:fld id="{B7C8BEEB-CAA3-4F3E-8080-E0011DAB7B25}" type="slidenum">
              <a:rPr lang="en-US"/>
              <a:pPr/>
              <a:t>‹#›</a:t>
            </a:fld>
            <a:endParaRPr lang="en-US"/>
          </a:p>
        </p:txBody>
      </p:sp>
      <p:sp>
        <p:nvSpPr>
          <p:cNvPr id="4118" name="Rectangle 22"/>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294681"/>
      </p:ext>
    </p:extLst>
  </p:cSld>
  <p:clrMap bg1="dk2" tx1="lt1" bg2="dk1"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fontAlgn="base">
        <a:spcBef>
          <a:spcPct val="20000"/>
        </a:spcBef>
        <a:spcAft>
          <a:spcPct val="0"/>
        </a:spcAft>
        <a:buClr>
          <a:schemeClr val="hlink"/>
        </a:buClr>
        <a:buSzPct val="70000"/>
        <a:buFont typeface="Wingdings" pitchFamily="80" charset="2"/>
        <a:buChar char="u"/>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itchFamily="80" charset="2"/>
        <a:buChar char="u"/>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itchFamily="80" charset="2"/>
        <a:buChar char="u"/>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itchFamily="80" charset="2"/>
        <a:buChar char="u"/>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itchFamily="80" charset="2"/>
        <a:buChar char="u"/>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itchFamily="80" charset="2"/>
        <a:buChar char="u"/>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itchFamily="80" charset="2"/>
        <a:buChar char="u"/>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446213"/>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First Level</a:t>
            </a:r>
          </a:p>
          <a:p>
            <a:pPr lvl="1"/>
            <a:r>
              <a:rPr lang="en-US" altLang="en-US"/>
              <a:t>Second level</a:t>
            </a:r>
          </a:p>
          <a:p>
            <a:pPr lvl="2"/>
            <a:r>
              <a:rPr lang="en-US" altLang="en-US"/>
              <a:t>Third level</a:t>
            </a:r>
          </a:p>
        </p:txBody>
      </p:sp>
      <p:sp>
        <p:nvSpPr>
          <p:cNvPr id="7" name="Rectangle 28"/>
          <p:cNvSpPr>
            <a:spLocks noGrp="1" noChangeArrowheads="1"/>
          </p:cNvSpPr>
          <p:nvPr>
            <p:ph type="sldNum" sz="quarter" idx="4"/>
          </p:nvPr>
        </p:nvSpPr>
        <p:spPr bwMode="auto">
          <a:xfrm>
            <a:off x="482600" y="6384925"/>
            <a:ext cx="584200" cy="374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fontAlgn="auto">
              <a:spcBef>
                <a:spcPts val="0"/>
              </a:spcBef>
              <a:spcAft>
                <a:spcPts val="0"/>
              </a:spcAft>
              <a:defRPr sz="1400" smtClean="0">
                <a:solidFill>
                  <a:schemeClr val="tx1"/>
                </a:solidFill>
                <a:latin typeface="Arial" charset="0"/>
                <a:ea typeface="ＭＳ Ｐゴシック" pitchFamily="48" charset="-128"/>
                <a:cs typeface="+mn-cs"/>
              </a:defRPr>
            </a:lvl1pPr>
          </a:lstStyle>
          <a:p>
            <a:pPr defTabSz="457200">
              <a:defRPr/>
            </a:pPr>
            <a:fld id="{58EB6AA0-2E1B-47B7-907D-F9C1621CEC58}" type="slidenum">
              <a:rPr lang="en-US">
                <a:solidFill>
                  <a:prstClr val="black"/>
                </a:solidFill>
              </a:rPr>
              <a:pPr defTabSz="457200">
                <a:defRPr/>
              </a:pPr>
              <a:t>‹#›</a:t>
            </a:fld>
            <a:endParaRPr lang="en-US" dirty="0">
              <a:solidFill>
                <a:prstClr val="black"/>
              </a:solidFill>
            </a:endParaRPr>
          </a:p>
        </p:txBody>
      </p:sp>
      <p:pic>
        <p:nvPicPr>
          <p:cNvPr id="1028" name="Picture 29" descr="StackedLockup_Tag_PMS copy"/>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037388" y="6202363"/>
            <a:ext cx="16922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101600"/>
            <a:ext cx="91440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32"/>
          <p:cNvSpPr>
            <a:spLocks noChangeArrowheads="1"/>
          </p:cNvSpPr>
          <p:nvPr/>
        </p:nvSpPr>
        <p:spPr bwMode="auto">
          <a:xfrm>
            <a:off x="0" y="0"/>
            <a:ext cx="9144000" cy="104775"/>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endParaRPr lang="en-US" altLang="en-US">
              <a:solidFill>
                <a:prstClr val="black"/>
              </a:solidFill>
              <a:ea typeface="MS PGothic" pitchFamily="34" charset="-128"/>
            </a:endParaRPr>
          </a:p>
        </p:txBody>
      </p:sp>
      <p:sp>
        <p:nvSpPr>
          <p:cNvPr id="1031" name="Line 33"/>
          <p:cNvSpPr>
            <a:spLocks noChangeShapeType="1"/>
          </p:cNvSpPr>
          <p:nvPr/>
        </p:nvSpPr>
        <p:spPr bwMode="auto">
          <a:xfrm flipH="1">
            <a:off x="533400" y="6311900"/>
            <a:ext cx="6261100"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a:lstStyle/>
          <a:p>
            <a:pPr defTabSz="457200"/>
            <a:endParaRPr lang="en-US">
              <a:solidFill>
                <a:prstClr val="black"/>
              </a:solidFill>
              <a:latin typeface="Arial" pitchFamily="34" charset="0"/>
            </a:endParaRPr>
          </a:p>
        </p:txBody>
      </p:sp>
      <p:sp>
        <p:nvSpPr>
          <p:cNvPr id="1032" name="Rectangle 36"/>
          <p:cNvSpPr>
            <a:spLocks noGrp="1" noChangeArrowheads="1"/>
          </p:cNvSpPr>
          <p:nvPr>
            <p:ph type="title"/>
          </p:nvPr>
        </p:nvSpPr>
        <p:spPr bwMode="auto">
          <a:xfrm>
            <a:off x="422275" y="144463"/>
            <a:ext cx="8294688"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add title</a:t>
            </a:r>
          </a:p>
        </p:txBody>
      </p:sp>
    </p:spTree>
    <p:extLst>
      <p:ext uri="{BB962C8B-B14F-4D97-AF65-F5344CB8AC3E}">
        <p14:creationId xmlns:p14="http://schemas.microsoft.com/office/powerpoint/2010/main" val="410530301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hf hdr="0" ftr="0" dt="0"/>
  <p:txStyles>
    <p:titleStyle>
      <a:lvl1pPr algn="l" defTabSz="457200" rtl="0" fontAlgn="base">
        <a:spcBef>
          <a:spcPct val="0"/>
        </a:spcBef>
        <a:spcAft>
          <a:spcPct val="0"/>
        </a:spcAft>
        <a:defRPr sz="3200" kern="1200">
          <a:solidFill>
            <a:schemeClr val="bg1"/>
          </a:solidFill>
          <a:latin typeface="Arial"/>
          <a:ea typeface="+mj-ea"/>
          <a:cs typeface="Arial"/>
        </a:defRPr>
      </a:lvl1pPr>
      <a:lvl2pPr algn="l" defTabSz="457200" rtl="0" fontAlgn="base">
        <a:spcBef>
          <a:spcPct val="0"/>
        </a:spcBef>
        <a:spcAft>
          <a:spcPct val="0"/>
        </a:spcAft>
        <a:defRPr sz="3200">
          <a:solidFill>
            <a:schemeClr val="bg1"/>
          </a:solidFill>
          <a:latin typeface="Arial" pitchFamily="34" charset="0"/>
          <a:cs typeface="Arial" pitchFamily="34" charset="0"/>
        </a:defRPr>
      </a:lvl2pPr>
      <a:lvl3pPr algn="l" defTabSz="457200" rtl="0" fontAlgn="base">
        <a:spcBef>
          <a:spcPct val="0"/>
        </a:spcBef>
        <a:spcAft>
          <a:spcPct val="0"/>
        </a:spcAft>
        <a:defRPr sz="3200">
          <a:solidFill>
            <a:schemeClr val="bg1"/>
          </a:solidFill>
          <a:latin typeface="Arial" pitchFamily="34" charset="0"/>
          <a:cs typeface="Arial" pitchFamily="34" charset="0"/>
        </a:defRPr>
      </a:lvl3pPr>
      <a:lvl4pPr algn="l" defTabSz="457200" rtl="0" fontAlgn="base">
        <a:spcBef>
          <a:spcPct val="0"/>
        </a:spcBef>
        <a:spcAft>
          <a:spcPct val="0"/>
        </a:spcAft>
        <a:defRPr sz="3200">
          <a:solidFill>
            <a:schemeClr val="bg1"/>
          </a:solidFill>
          <a:latin typeface="Arial" pitchFamily="34" charset="0"/>
          <a:cs typeface="Arial" pitchFamily="34" charset="0"/>
        </a:defRPr>
      </a:lvl4pPr>
      <a:lvl5pPr algn="l" defTabSz="457200" rtl="0" fontAlgn="base">
        <a:spcBef>
          <a:spcPct val="0"/>
        </a:spcBef>
        <a:spcAft>
          <a:spcPct val="0"/>
        </a:spcAft>
        <a:defRPr sz="3200">
          <a:solidFill>
            <a:schemeClr val="bg1"/>
          </a:solidFill>
          <a:latin typeface="Arial" pitchFamily="34" charset="0"/>
          <a:cs typeface="Arial" pitchFamily="34" charset="0"/>
        </a:defRPr>
      </a:lvl5pPr>
      <a:lvl6pPr marL="457200" algn="l" defTabSz="457200" rtl="0" fontAlgn="base">
        <a:spcBef>
          <a:spcPct val="0"/>
        </a:spcBef>
        <a:spcAft>
          <a:spcPct val="0"/>
        </a:spcAft>
        <a:defRPr sz="3200">
          <a:solidFill>
            <a:schemeClr val="bg1"/>
          </a:solidFill>
          <a:latin typeface="Arial" pitchFamily="34" charset="0"/>
          <a:cs typeface="Arial" pitchFamily="34" charset="0"/>
        </a:defRPr>
      </a:lvl6pPr>
      <a:lvl7pPr marL="914400" algn="l" defTabSz="457200" rtl="0" fontAlgn="base">
        <a:spcBef>
          <a:spcPct val="0"/>
        </a:spcBef>
        <a:spcAft>
          <a:spcPct val="0"/>
        </a:spcAft>
        <a:defRPr sz="3200">
          <a:solidFill>
            <a:schemeClr val="bg1"/>
          </a:solidFill>
          <a:latin typeface="Arial" pitchFamily="34" charset="0"/>
          <a:cs typeface="Arial" pitchFamily="34" charset="0"/>
        </a:defRPr>
      </a:lvl7pPr>
      <a:lvl8pPr marL="1371600" algn="l" defTabSz="457200" rtl="0" fontAlgn="base">
        <a:spcBef>
          <a:spcPct val="0"/>
        </a:spcBef>
        <a:spcAft>
          <a:spcPct val="0"/>
        </a:spcAft>
        <a:defRPr sz="3200">
          <a:solidFill>
            <a:schemeClr val="bg1"/>
          </a:solidFill>
          <a:latin typeface="Arial" pitchFamily="34" charset="0"/>
          <a:cs typeface="Arial" pitchFamily="34" charset="0"/>
        </a:defRPr>
      </a:lvl8pPr>
      <a:lvl9pPr marL="1828800" algn="l" defTabSz="457200" rtl="0" fontAlgn="base">
        <a:spcBef>
          <a:spcPct val="0"/>
        </a:spcBef>
        <a:spcAft>
          <a:spcPct val="0"/>
        </a:spcAft>
        <a:defRPr sz="3200">
          <a:solidFill>
            <a:schemeClr val="bg1"/>
          </a:solidFill>
          <a:latin typeface="Arial" pitchFamily="34" charset="0"/>
          <a:cs typeface="Arial" pitchFamily="34" charset="0"/>
        </a:defRPr>
      </a:lvl9pPr>
    </p:titleStyle>
    <p:bodyStyle>
      <a:lvl1pPr marL="341313" indent="-341313" algn="l" defTabSz="457200" rtl="0" fontAlgn="base">
        <a:spcBef>
          <a:spcPct val="20000"/>
        </a:spcBef>
        <a:spcAft>
          <a:spcPct val="0"/>
        </a:spcAft>
        <a:buClr>
          <a:srgbClr val="CC0000"/>
        </a:buClr>
        <a:buFont typeface="Wingdings" pitchFamily="2" charset="2"/>
        <a:buChar char="§"/>
        <a:defRPr sz="3000" kern="1200">
          <a:solidFill>
            <a:schemeClr val="tx1"/>
          </a:solidFill>
          <a:latin typeface="Arial"/>
          <a:ea typeface="+mn-ea"/>
          <a:cs typeface="Arial"/>
        </a:defRPr>
      </a:lvl1pPr>
      <a:lvl2pPr marL="742950" indent="-285750" algn="l" defTabSz="457200" rtl="0" fontAlgn="base">
        <a:spcBef>
          <a:spcPct val="20000"/>
        </a:spcBef>
        <a:spcAft>
          <a:spcPct val="0"/>
        </a:spcAft>
        <a:buClr>
          <a:srgbClr val="000090"/>
        </a:buClr>
        <a:buFont typeface="Wingdings" pitchFamily="2" charset="2"/>
        <a:buChar char="§"/>
        <a:defRPr sz="2600" kern="1200">
          <a:solidFill>
            <a:schemeClr val="tx1"/>
          </a:solidFill>
          <a:latin typeface="Arial"/>
          <a:ea typeface="+mn-ea"/>
          <a:cs typeface="Arial"/>
        </a:defRPr>
      </a:lvl2pPr>
      <a:lvl3pPr marL="1143000" indent="-228600" algn="l" defTabSz="457200" rtl="0" fontAlgn="base">
        <a:spcBef>
          <a:spcPct val="20000"/>
        </a:spcBef>
        <a:spcAft>
          <a:spcPct val="0"/>
        </a:spcAft>
        <a:buFont typeface="Lucida Grande"/>
        <a:buChar char="-"/>
        <a:defRPr sz="2400" kern="1200">
          <a:solidFill>
            <a:schemeClr val="tx1"/>
          </a:solidFill>
          <a:latin typeface="Arial"/>
          <a:ea typeface="+mn-ea"/>
          <a:cs typeface="Arial"/>
        </a:defRPr>
      </a:lvl3pPr>
      <a:lvl4pPr marL="1600200" indent="-228600" algn="l" defTabSz="457200" rtl="0" fontAlgn="base">
        <a:spcBef>
          <a:spcPct val="20000"/>
        </a:spcBef>
        <a:spcAft>
          <a:spcPct val="0"/>
        </a:spcAft>
        <a:buFont typeface="Arial" pitchFamily="34" charset="0"/>
        <a:buChar char="–"/>
        <a:defRPr sz="2000" kern="1200">
          <a:solidFill>
            <a:schemeClr val="tx1"/>
          </a:solidFill>
          <a:latin typeface="Arial"/>
          <a:ea typeface="+mn-ea"/>
          <a:cs typeface="Arial"/>
        </a:defRPr>
      </a:lvl4pPr>
      <a:lvl5pPr marL="2057400" indent="-228600" algn="l" defTabSz="457200" rtl="0" fontAlgn="base">
        <a:spcBef>
          <a:spcPct val="20000"/>
        </a:spcBef>
        <a:spcAft>
          <a:spcPct val="0"/>
        </a:spcAft>
        <a:buFont typeface="Arial" pitchFamily="34" charset="0"/>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solidFill>
                  <a:schemeClr val="tx1"/>
                </a:solidFill>
                <a:latin typeface="+mn-lt"/>
              </a:defRPr>
            </a:lvl1pPr>
          </a:lstStyle>
          <a:p>
            <a:pPr>
              <a:defRPr/>
            </a:pPr>
            <a:fld id="{F7C400A5-DB81-4B94-8AD7-24FDC3E68BA6}" type="slidenum">
              <a:rPr lang="en-US"/>
              <a:pPr>
                <a:defRPr/>
              </a:pPr>
              <a:t>‹#›</a:t>
            </a:fld>
            <a:endParaRPr lang="en-US"/>
          </a:p>
        </p:txBody>
      </p:sp>
    </p:spTree>
    <p:extLst>
      <p:ext uri="{BB962C8B-B14F-4D97-AF65-F5344CB8AC3E}">
        <p14:creationId xmlns:p14="http://schemas.microsoft.com/office/powerpoint/2010/main" val="116979691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50" smtClean="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50" smtClean="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50" smtClean="0">
                <a:solidFill>
                  <a:schemeClr val="tx1"/>
                </a:solidFill>
                <a:latin typeface="+mn-lt"/>
              </a:defRPr>
            </a:lvl1pPr>
          </a:lstStyle>
          <a:p>
            <a:pPr>
              <a:defRPr/>
            </a:pPr>
            <a:fld id="{F7C400A5-DB81-4B94-8AD7-24FDC3E68BA6}" type="slidenum">
              <a:rPr lang="en-US"/>
              <a:pPr>
                <a:defRPr/>
              </a:pPr>
              <a:t>‹#›</a:t>
            </a:fld>
            <a:endParaRPr lang="en-US"/>
          </a:p>
        </p:txBody>
      </p:sp>
    </p:spTree>
    <p:extLst>
      <p:ext uri="{BB962C8B-B14F-4D97-AF65-F5344CB8AC3E}">
        <p14:creationId xmlns:p14="http://schemas.microsoft.com/office/powerpoint/2010/main" val="1342461029"/>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469622-5D14-D627-2829-E86621DF5B5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ED4DCB-32BC-0E19-CFF0-851F19BA7A3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13B416-B6EA-0545-F577-412BA0EFA13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41222D3-C4B0-4B25-B56B-4A5CBBD212FF}" type="datetimeFigureOut">
              <a:rPr lang="en-US" smtClean="0"/>
              <a:t>11/4/2024</a:t>
            </a:fld>
            <a:endParaRPr lang="en-US"/>
          </a:p>
        </p:txBody>
      </p:sp>
      <p:sp>
        <p:nvSpPr>
          <p:cNvPr id="5" name="Footer Placeholder 4">
            <a:extLst>
              <a:ext uri="{FF2B5EF4-FFF2-40B4-BE49-F238E27FC236}">
                <a16:creationId xmlns:a16="http://schemas.microsoft.com/office/drawing/2014/main" id="{DBC6FE39-3230-9208-67FE-17FCF166629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CA6CC4-72B4-2D8A-F552-2FA33A5FE0B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A75D858-0776-4B66-8993-4C4B294AFC95}" type="slidenum">
              <a:rPr lang="en-US" smtClean="0"/>
              <a:t>‹#›</a:t>
            </a:fld>
            <a:endParaRPr lang="en-US"/>
          </a:p>
        </p:txBody>
      </p:sp>
    </p:spTree>
    <p:extLst>
      <p:ext uri="{BB962C8B-B14F-4D97-AF65-F5344CB8AC3E}">
        <p14:creationId xmlns:p14="http://schemas.microsoft.com/office/powerpoint/2010/main" val="1092643811"/>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9.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5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1.bin"/><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hyperlink" Target="https://www.nhlbi.nih.gov/health/sleep-deprivation" TargetMode="External"/><Relationship Id="rId3" Type="http://schemas.openxmlformats.org/officeDocument/2006/relationships/hyperlink" Target="https://www.nhlbi.nih.gov/health/coronary-heart-disease/causes" TargetMode="External"/><Relationship Id="rId7" Type="http://schemas.openxmlformats.org/officeDocument/2006/relationships/hyperlink" Target="https://www.nhlbi.nih.gov/health/sleep-apnea" TargetMode="External"/><Relationship Id="rId2" Type="http://schemas.openxmlformats.org/officeDocument/2006/relationships/image" Target="../media/image21.jpeg"/><Relationship Id="rId1" Type="http://schemas.openxmlformats.org/officeDocument/2006/relationships/slideLayout" Target="../slideLayouts/slideLayout53.xml"/><Relationship Id="rId6" Type="http://schemas.openxmlformats.org/officeDocument/2006/relationships/hyperlink" Target="https://www.nhlbi.nih.gov/health/metabolic-syndrome" TargetMode="External"/><Relationship Id="rId5" Type="http://schemas.openxmlformats.org/officeDocument/2006/relationships/hyperlink" Target="https://www.niaid.nih.gov/diseases-conditions/hivaids" TargetMode="External"/><Relationship Id="rId4" Type="http://schemas.openxmlformats.org/officeDocument/2006/relationships/hyperlink" Target="https://www.niddk.nih.gov/health-information/diabete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hyperlink" Target="https://www.nhlbi.nih.gov/health/peripheral-artery-disease/treatment" TargetMode="External"/><Relationship Id="rId4" Type="http://schemas.openxmlformats.org/officeDocument/2006/relationships/hyperlink" Target="https://www.nhlbi.nih.gov/health/coronary-artery-bypass-grafting"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61.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2" Type="http://schemas.openxmlformats.org/officeDocument/2006/relationships/hyperlink" Target="http://heartdisease.about.com/cs/cholesterol/a/metsynx.htm" TargetMode="Externa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86029" y="937399"/>
            <a:ext cx="6172200" cy="765572"/>
          </a:xfrm>
        </p:spPr>
        <p:txBody>
          <a:bodyPr/>
          <a:lstStyle/>
          <a:p>
            <a:r>
              <a:rPr lang="en-US" sz="2700" dirty="0"/>
              <a:t>Cardiovascular Pathology</a:t>
            </a:r>
            <a:br>
              <a:rPr lang="en-US" sz="2700" dirty="0"/>
            </a:br>
            <a:r>
              <a:rPr lang="en-US" sz="2700" dirty="0"/>
              <a:t>Atherosclerosis</a:t>
            </a:r>
          </a:p>
        </p:txBody>
      </p:sp>
      <p:pic>
        <p:nvPicPr>
          <p:cNvPr id="6" name="Picture 2">
            <a:extLst>
              <a:ext uri="{FF2B5EF4-FFF2-40B4-BE49-F238E27FC236}">
                <a16:creationId xmlns:a16="http://schemas.microsoft.com/office/drawing/2014/main" id="{523D2E9F-1CBE-68B9-AFDE-2FD85F7AFC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849" y="1806361"/>
            <a:ext cx="7277029" cy="41142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5165BCD-BEF5-25EE-11E6-0AD1980D1702}"/>
              </a:ext>
            </a:extLst>
          </p:cNvPr>
          <p:cNvSpPr txBox="1"/>
          <p:nvPr/>
        </p:nvSpPr>
        <p:spPr>
          <a:xfrm>
            <a:off x="7315200" y="6324600"/>
            <a:ext cx="1752600" cy="369332"/>
          </a:xfrm>
          <a:prstGeom prst="rect">
            <a:avLst/>
          </a:prstGeom>
          <a:noFill/>
        </p:spPr>
        <p:txBody>
          <a:bodyPr wrap="square" rtlCol="0">
            <a:spAutoFit/>
          </a:bodyPr>
          <a:lstStyle/>
          <a:p>
            <a:r>
              <a:rPr lang="en-US" dirty="0"/>
              <a:t>November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yers Of Blood Vessels - Blood vessels - human anatomy organs ...">
            <a:extLst>
              <a:ext uri="{FF2B5EF4-FFF2-40B4-BE49-F238E27FC236}">
                <a16:creationId xmlns:a16="http://schemas.microsoft.com/office/drawing/2014/main" id="{975310EE-CFF4-8CA3-5D71-F6B2D5B7F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 y="857250"/>
            <a:ext cx="786384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820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10" name="Picture 4109">
            <a:extLst>
              <a:ext uri="{FF2B5EF4-FFF2-40B4-BE49-F238E27FC236}">
                <a16:creationId xmlns:a16="http://schemas.microsoft.com/office/drawing/2014/main" id="{98C737C6-2FC4-FF3C-EBDF-D11C53FE4E9D}"/>
              </a:ext>
            </a:extLst>
          </p:cNvPr>
          <p:cNvPicPr>
            <a:picLocks noChangeAspect="1"/>
          </p:cNvPicPr>
          <p:nvPr/>
        </p:nvPicPr>
        <p:blipFill rotWithShape="1">
          <a:blip r:embed="rId3">
            <a:duotone>
              <a:schemeClr val="bg2">
                <a:shade val="45000"/>
                <a:satMod val="135000"/>
              </a:schemeClr>
              <a:prstClr val="white"/>
            </a:duotone>
          </a:blip>
          <a:srcRect t="15730"/>
          <a:stretch/>
        </p:blipFill>
        <p:spPr>
          <a:xfrm>
            <a:off x="15" y="-1619250"/>
            <a:ext cx="9143985" cy="5143493"/>
          </a:xfrm>
          <a:prstGeom prst="rect">
            <a:avLst/>
          </a:prstGeom>
        </p:spPr>
      </p:pic>
      <p:sp>
        <p:nvSpPr>
          <p:cNvPr id="4114" name="Rectangle 41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srgbClr val="FFFFFF"/>
              </a:solidFill>
              <a:latin typeface="Arial"/>
            </a:endParaRPr>
          </a:p>
        </p:txBody>
      </p:sp>
      <p:sp>
        <p:nvSpPr>
          <p:cNvPr id="4099" name="Text Box 3"/>
          <p:cNvSpPr txBox="1">
            <a:spLocks noChangeArrowheads="1"/>
          </p:cNvSpPr>
          <p:nvPr/>
        </p:nvSpPr>
        <p:spPr bwMode="auto">
          <a:xfrm>
            <a:off x="628650" y="1368028"/>
            <a:ext cx="8012430" cy="603384"/>
          </a:xfrm>
          <a:prstGeom prst="rect">
            <a:avLst/>
          </a:prstGeom>
        </p:spPr>
        <p:txBody>
          <a:bodyPr vert="horz" lIns="68580" tIns="34290" rIns="68580" bIns="34290" rtlCol="0" anchor="t">
            <a:noAutofit/>
          </a:bodyPr>
          <a:lstStyle/>
          <a:p>
            <a:pPr defTabSz="685800">
              <a:lnSpc>
                <a:spcPct val="90000"/>
              </a:lnSpc>
              <a:spcBef>
                <a:spcPct val="50000"/>
              </a:spcBef>
            </a:pPr>
            <a:r>
              <a:rPr lang="en-US" sz="1950" b="1" dirty="0">
                <a:latin typeface="Arial"/>
              </a:rPr>
              <a:t>Structural and Functional Properties of Vascular Endothelial Cells </a:t>
            </a:r>
          </a:p>
        </p:txBody>
      </p:sp>
      <p:graphicFrame>
        <p:nvGraphicFramePr>
          <p:cNvPr id="4109" name="Text Box 4">
            <a:extLst>
              <a:ext uri="{FF2B5EF4-FFF2-40B4-BE49-F238E27FC236}">
                <a16:creationId xmlns:a16="http://schemas.microsoft.com/office/drawing/2014/main" id="{2D79297F-3AE4-B7B2-3A33-29BD6C06AE4C}"/>
              </a:ext>
            </a:extLst>
          </p:cNvPr>
          <p:cNvGraphicFramePr/>
          <p:nvPr/>
        </p:nvGraphicFramePr>
        <p:xfrm>
          <a:off x="628650" y="2226469"/>
          <a:ext cx="7886700" cy="32635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yers Of Blood Vessels - Blood vessels - human anatomy organs ...">
            <a:extLst>
              <a:ext uri="{FF2B5EF4-FFF2-40B4-BE49-F238E27FC236}">
                <a16:creationId xmlns:a16="http://schemas.microsoft.com/office/drawing/2014/main" id="{975310EE-CFF4-8CA3-5D71-F6B2D5B7F2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 y="857250"/>
            <a:ext cx="786384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173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2133600" y="830263"/>
            <a:ext cx="5105400" cy="457200"/>
          </a:xfrm>
          <a:prstGeom prst="rect">
            <a:avLst/>
          </a:prstGeom>
          <a:noFill/>
          <a:ln w="9525">
            <a:noFill/>
            <a:miter lim="800000"/>
            <a:headEnd/>
            <a:tailEnd/>
          </a:ln>
        </p:spPr>
        <p:txBody>
          <a:bodyPr>
            <a:spAutoFit/>
          </a:bodyPr>
          <a:lstStyle/>
          <a:p>
            <a:pPr>
              <a:spcBef>
                <a:spcPct val="50000"/>
              </a:spcBef>
            </a:pPr>
            <a:r>
              <a:rPr lang="en-US">
                <a:latin typeface="Arial" charset="0"/>
              </a:rPr>
              <a:t>	</a:t>
            </a:r>
            <a:r>
              <a:rPr lang="en-US" sz="2400" b="1">
                <a:latin typeface="Arial" charset="0"/>
              </a:rPr>
              <a:t>Arteriosclerosis</a:t>
            </a:r>
          </a:p>
        </p:txBody>
      </p:sp>
      <p:sp>
        <p:nvSpPr>
          <p:cNvPr id="6147" name="Text Box 3"/>
          <p:cNvSpPr txBox="1">
            <a:spLocks noChangeArrowheads="1"/>
          </p:cNvSpPr>
          <p:nvPr/>
        </p:nvSpPr>
        <p:spPr bwMode="auto">
          <a:xfrm>
            <a:off x="1371600" y="1752600"/>
            <a:ext cx="7010400" cy="2970044"/>
          </a:xfrm>
          <a:prstGeom prst="rect">
            <a:avLst/>
          </a:prstGeom>
          <a:noFill/>
          <a:ln w="9525">
            <a:noFill/>
            <a:miter lim="800000"/>
            <a:headEnd/>
            <a:tailEnd/>
          </a:ln>
        </p:spPr>
        <p:txBody>
          <a:bodyPr>
            <a:spAutoFit/>
          </a:bodyPr>
          <a:lstStyle/>
          <a:p>
            <a:pPr>
              <a:spcBef>
                <a:spcPct val="50000"/>
              </a:spcBef>
            </a:pPr>
            <a:r>
              <a:rPr lang="en-US" sz="2000" dirty="0">
                <a:latin typeface="Arial" charset="0"/>
              </a:rPr>
              <a:t>A generic term that describes thickening and hardening of the arteries; four general patterns:</a:t>
            </a:r>
          </a:p>
          <a:p>
            <a:pPr>
              <a:spcBef>
                <a:spcPct val="50000"/>
              </a:spcBef>
            </a:pPr>
            <a:endParaRPr lang="en-US" dirty="0">
              <a:latin typeface="Arial" charset="0"/>
            </a:endParaRPr>
          </a:p>
          <a:p>
            <a:pPr>
              <a:spcBef>
                <a:spcPct val="50000"/>
              </a:spcBef>
            </a:pPr>
            <a:r>
              <a:rPr lang="en-US" dirty="0">
                <a:latin typeface="Arial" charset="0"/>
              </a:rPr>
              <a:t>	</a:t>
            </a:r>
            <a:r>
              <a:rPr lang="en-US" sz="2000" dirty="0">
                <a:latin typeface="Arial" charset="0"/>
              </a:rPr>
              <a:t>-  Atherosclerosis</a:t>
            </a:r>
          </a:p>
          <a:p>
            <a:pPr>
              <a:spcBef>
                <a:spcPct val="50000"/>
              </a:spcBef>
            </a:pPr>
            <a:r>
              <a:rPr lang="en-US" sz="2000" dirty="0">
                <a:latin typeface="Arial" charset="0"/>
              </a:rPr>
              <a:t>	-  </a:t>
            </a:r>
            <a:r>
              <a:rPr lang="en-US" sz="2000" dirty="0" err="1">
                <a:latin typeface="Arial" charset="0"/>
              </a:rPr>
              <a:t>Monckeberg’s</a:t>
            </a:r>
            <a:r>
              <a:rPr lang="en-US" sz="2000" dirty="0">
                <a:latin typeface="Arial" charset="0"/>
              </a:rPr>
              <a:t> medial calcific sclerosis</a:t>
            </a:r>
          </a:p>
          <a:p>
            <a:pPr>
              <a:spcBef>
                <a:spcPct val="50000"/>
              </a:spcBef>
            </a:pPr>
            <a:r>
              <a:rPr lang="en-US" sz="2000" dirty="0">
                <a:latin typeface="Arial" charset="0"/>
              </a:rPr>
              <a:t>	-  Fibromuscular intimal hyperplasia</a:t>
            </a:r>
          </a:p>
          <a:p>
            <a:pPr>
              <a:spcBef>
                <a:spcPct val="50000"/>
              </a:spcBef>
            </a:pPr>
            <a:r>
              <a:rPr lang="en-US" sz="2000" dirty="0">
                <a:latin typeface="Arial" charset="0"/>
              </a:rPr>
              <a:t>	-  Arteriolar sclerosis</a:t>
            </a:r>
          </a:p>
        </p:txBody>
      </p:sp>
      <p:sp>
        <p:nvSpPr>
          <p:cNvPr id="6148" name="Text Box 10"/>
          <p:cNvSpPr txBox="1">
            <a:spLocks noChangeArrowheads="1"/>
          </p:cNvSpPr>
          <p:nvPr/>
        </p:nvSpPr>
        <p:spPr bwMode="auto">
          <a:xfrm>
            <a:off x="3336925" y="4608513"/>
            <a:ext cx="184150" cy="366712"/>
          </a:xfrm>
          <a:prstGeom prst="rect">
            <a:avLst/>
          </a:prstGeom>
          <a:noFill/>
          <a:ln w="9525">
            <a:noFill/>
            <a:miter lim="800000"/>
            <a:headEnd/>
            <a:tailEnd/>
          </a:ln>
        </p:spPr>
        <p:txBody>
          <a:bodyPr wrap="none">
            <a:spAutoFit/>
          </a:bodyPr>
          <a:lstStyle/>
          <a:p>
            <a:endParaRPr lang="en-US">
              <a:latin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3"/>
          <p:cNvSpPr txBox="1">
            <a:spLocks noChangeArrowheads="1"/>
          </p:cNvSpPr>
          <p:nvPr/>
        </p:nvSpPr>
        <p:spPr bwMode="auto">
          <a:xfrm>
            <a:off x="152400" y="1143000"/>
            <a:ext cx="8936670" cy="861774"/>
          </a:xfrm>
          <a:prstGeom prst="rect">
            <a:avLst/>
          </a:prstGeom>
          <a:noFill/>
          <a:ln w="9525">
            <a:noFill/>
            <a:miter lim="800000"/>
            <a:headEnd/>
            <a:tailEnd/>
          </a:ln>
        </p:spPr>
        <p:txBody>
          <a:bodyPr wrap="square">
            <a:spAutoFit/>
          </a:bodyPr>
          <a:lstStyle/>
          <a:p>
            <a:pPr>
              <a:spcBef>
                <a:spcPct val="50000"/>
              </a:spcBef>
            </a:pPr>
            <a:r>
              <a:rPr lang="en-US" dirty="0"/>
              <a:t>  </a:t>
            </a:r>
            <a:r>
              <a:rPr lang="en-US" sz="2000" b="1" u="sng" dirty="0"/>
              <a:t>Atherosclerosis</a:t>
            </a:r>
            <a:r>
              <a:rPr lang="en-US" sz="2000" b="1" dirty="0"/>
              <a:t>		</a:t>
            </a:r>
            <a:r>
              <a:rPr lang="en-US" sz="2000" b="1" u="sng" dirty="0" err="1"/>
              <a:t>Monckeberg’s</a:t>
            </a:r>
            <a:r>
              <a:rPr lang="en-US" sz="2000" b="1" dirty="0"/>
              <a:t>	   </a:t>
            </a:r>
            <a:r>
              <a:rPr lang="en-US" b="1" u="sng" dirty="0"/>
              <a:t>Fibromuscular</a:t>
            </a:r>
            <a:r>
              <a:rPr lang="en-US" sz="2000" b="1" dirty="0"/>
              <a:t>     </a:t>
            </a:r>
            <a:r>
              <a:rPr lang="en-US" sz="2000" b="1" u="sng" dirty="0"/>
              <a:t>Arteriolar sclerosis</a:t>
            </a:r>
          </a:p>
          <a:p>
            <a:pPr>
              <a:spcBef>
                <a:spcPct val="50000"/>
              </a:spcBef>
            </a:pPr>
            <a:r>
              <a:rPr lang="en-US" sz="2000" b="1" dirty="0"/>
              <a:t>                                                                       </a:t>
            </a:r>
            <a:r>
              <a:rPr lang="en-US" b="1" u="sng" dirty="0"/>
              <a:t> Intimal Hyperplasia</a:t>
            </a:r>
          </a:p>
        </p:txBody>
      </p:sp>
      <p:sp>
        <p:nvSpPr>
          <p:cNvPr id="7172" name="Text Box 4"/>
          <p:cNvSpPr txBox="1">
            <a:spLocks noChangeArrowheads="1"/>
          </p:cNvSpPr>
          <p:nvPr/>
        </p:nvSpPr>
        <p:spPr bwMode="auto">
          <a:xfrm>
            <a:off x="46238" y="2193538"/>
            <a:ext cx="2895600" cy="3693319"/>
          </a:xfrm>
          <a:prstGeom prst="rect">
            <a:avLst/>
          </a:prstGeom>
          <a:noFill/>
          <a:ln w="9525">
            <a:noFill/>
            <a:miter lim="800000"/>
            <a:headEnd/>
            <a:tailEnd/>
          </a:ln>
        </p:spPr>
        <p:txBody>
          <a:bodyPr>
            <a:spAutoFit/>
          </a:bodyPr>
          <a:lstStyle/>
          <a:p>
            <a:pPr>
              <a:spcBef>
                <a:spcPct val="50000"/>
              </a:spcBef>
            </a:pPr>
            <a:r>
              <a:rPr lang="en-US" dirty="0"/>
              <a:t>       </a:t>
            </a:r>
            <a:r>
              <a:rPr lang="en-US" dirty="0" err="1"/>
              <a:t>Fibrointima</a:t>
            </a:r>
            <a:r>
              <a:rPr lang="en-US" dirty="0"/>
              <a:t> Plaques                                                     </a:t>
            </a:r>
          </a:p>
          <a:p>
            <a:pPr>
              <a:spcBef>
                <a:spcPct val="50000"/>
              </a:spcBef>
            </a:pPr>
            <a:endParaRPr lang="en-US" dirty="0"/>
          </a:p>
          <a:p>
            <a:pPr>
              <a:spcBef>
                <a:spcPct val="50000"/>
              </a:spcBef>
            </a:pPr>
            <a:r>
              <a:rPr lang="en-US" dirty="0"/>
              <a:t>Aorta,  Coronary, Cerebral</a:t>
            </a:r>
          </a:p>
          <a:p>
            <a:pPr>
              <a:spcBef>
                <a:spcPct val="50000"/>
              </a:spcBef>
            </a:pPr>
            <a:endParaRPr lang="en-US" dirty="0"/>
          </a:p>
          <a:p>
            <a:pPr>
              <a:spcBef>
                <a:spcPct val="50000"/>
              </a:spcBef>
            </a:pPr>
            <a:r>
              <a:rPr lang="en-US" dirty="0"/>
              <a:t>Aortic	        Cerebral</a:t>
            </a:r>
          </a:p>
          <a:p>
            <a:pPr>
              <a:spcBef>
                <a:spcPct val="50000"/>
              </a:spcBef>
            </a:pPr>
            <a:r>
              <a:rPr lang="en-US" dirty="0"/>
              <a:t>Aneurysm        Infarcts</a:t>
            </a:r>
          </a:p>
          <a:p>
            <a:pPr>
              <a:spcBef>
                <a:spcPct val="50000"/>
              </a:spcBef>
            </a:pPr>
            <a:endParaRPr lang="en-US" dirty="0"/>
          </a:p>
          <a:p>
            <a:pPr>
              <a:spcBef>
                <a:spcPct val="50000"/>
              </a:spcBef>
            </a:pPr>
            <a:r>
              <a:rPr lang="en-US" dirty="0"/>
              <a:t>           Myocardial</a:t>
            </a:r>
          </a:p>
          <a:p>
            <a:pPr>
              <a:spcBef>
                <a:spcPct val="50000"/>
              </a:spcBef>
            </a:pPr>
            <a:r>
              <a:rPr lang="en-US" dirty="0"/>
              <a:t>	Infarcts</a:t>
            </a:r>
          </a:p>
        </p:txBody>
      </p:sp>
      <p:sp>
        <p:nvSpPr>
          <p:cNvPr id="7173" name="Text Box 22"/>
          <p:cNvSpPr txBox="1">
            <a:spLocks noChangeArrowheads="1"/>
          </p:cNvSpPr>
          <p:nvPr/>
        </p:nvSpPr>
        <p:spPr bwMode="auto">
          <a:xfrm>
            <a:off x="685800" y="1600200"/>
            <a:ext cx="1295400" cy="366713"/>
          </a:xfrm>
          <a:prstGeom prst="rect">
            <a:avLst/>
          </a:prstGeom>
          <a:noFill/>
          <a:ln w="9525">
            <a:noFill/>
            <a:miter lim="800000"/>
            <a:headEnd/>
            <a:tailEnd/>
          </a:ln>
        </p:spPr>
        <p:txBody>
          <a:bodyPr>
            <a:spAutoFit/>
          </a:bodyPr>
          <a:lstStyle/>
          <a:p>
            <a:pPr>
              <a:spcBef>
                <a:spcPct val="50000"/>
              </a:spcBef>
            </a:pPr>
            <a:endParaRPr lang="en-US"/>
          </a:p>
        </p:txBody>
      </p:sp>
      <p:sp>
        <p:nvSpPr>
          <p:cNvPr id="7174" name="Line 23"/>
          <p:cNvSpPr>
            <a:spLocks noChangeShapeType="1"/>
          </p:cNvSpPr>
          <p:nvPr/>
        </p:nvSpPr>
        <p:spPr bwMode="auto">
          <a:xfrm>
            <a:off x="1219200" y="2514600"/>
            <a:ext cx="0" cy="533400"/>
          </a:xfrm>
          <a:prstGeom prst="line">
            <a:avLst/>
          </a:prstGeom>
          <a:noFill/>
          <a:ln w="9525">
            <a:solidFill>
              <a:schemeClr val="tx1"/>
            </a:solidFill>
            <a:round/>
            <a:headEnd/>
            <a:tailEnd type="triangle" w="med" len="med"/>
          </a:ln>
        </p:spPr>
        <p:txBody>
          <a:bodyPr/>
          <a:lstStyle/>
          <a:p>
            <a:endParaRPr lang="en-US"/>
          </a:p>
        </p:txBody>
      </p:sp>
      <p:sp>
        <p:nvSpPr>
          <p:cNvPr id="7175" name="Line 24"/>
          <p:cNvSpPr>
            <a:spLocks noChangeShapeType="1"/>
          </p:cNvSpPr>
          <p:nvPr/>
        </p:nvSpPr>
        <p:spPr bwMode="auto">
          <a:xfrm>
            <a:off x="485498" y="3334065"/>
            <a:ext cx="0" cy="533400"/>
          </a:xfrm>
          <a:prstGeom prst="line">
            <a:avLst/>
          </a:prstGeom>
          <a:noFill/>
          <a:ln w="9525">
            <a:solidFill>
              <a:schemeClr val="tx1"/>
            </a:solidFill>
            <a:round/>
            <a:headEnd/>
            <a:tailEnd type="triangle" w="med" len="med"/>
          </a:ln>
        </p:spPr>
        <p:txBody>
          <a:bodyPr/>
          <a:lstStyle/>
          <a:p>
            <a:endParaRPr lang="en-US"/>
          </a:p>
        </p:txBody>
      </p:sp>
      <p:sp>
        <p:nvSpPr>
          <p:cNvPr id="7176" name="Line 25"/>
          <p:cNvSpPr>
            <a:spLocks noChangeShapeType="1"/>
          </p:cNvSpPr>
          <p:nvPr/>
        </p:nvSpPr>
        <p:spPr bwMode="auto">
          <a:xfrm>
            <a:off x="1905000" y="3372165"/>
            <a:ext cx="0" cy="533400"/>
          </a:xfrm>
          <a:prstGeom prst="line">
            <a:avLst/>
          </a:prstGeom>
          <a:noFill/>
          <a:ln w="9525">
            <a:solidFill>
              <a:schemeClr val="tx1"/>
            </a:solidFill>
            <a:round/>
            <a:headEnd/>
            <a:tailEnd type="triangle" w="med" len="med"/>
          </a:ln>
        </p:spPr>
        <p:txBody>
          <a:bodyPr/>
          <a:lstStyle/>
          <a:p>
            <a:endParaRPr lang="en-US"/>
          </a:p>
        </p:txBody>
      </p:sp>
      <p:sp>
        <p:nvSpPr>
          <p:cNvPr id="7177" name="Line 26"/>
          <p:cNvSpPr>
            <a:spLocks noChangeShapeType="1"/>
          </p:cNvSpPr>
          <p:nvPr/>
        </p:nvSpPr>
        <p:spPr bwMode="auto">
          <a:xfrm>
            <a:off x="1333500" y="3400887"/>
            <a:ext cx="0" cy="1752600"/>
          </a:xfrm>
          <a:prstGeom prst="line">
            <a:avLst/>
          </a:prstGeom>
          <a:noFill/>
          <a:ln w="9525">
            <a:solidFill>
              <a:schemeClr val="tx1"/>
            </a:solidFill>
            <a:round/>
            <a:headEnd/>
            <a:tailEnd type="triangle" w="med" len="med"/>
          </a:ln>
        </p:spPr>
        <p:txBody>
          <a:bodyPr/>
          <a:lstStyle/>
          <a:p>
            <a:endParaRPr lang="en-US"/>
          </a:p>
        </p:txBody>
      </p:sp>
      <p:sp>
        <p:nvSpPr>
          <p:cNvPr id="7178" name="Text Box 27"/>
          <p:cNvSpPr txBox="1">
            <a:spLocks noChangeArrowheads="1"/>
          </p:cNvSpPr>
          <p:nvPr/>
        </p:nvSpPr>
        <p:spPr bwMode="auto">
          <a:xfrm>
            <a:off x="2665335" y="2190579"/>
            <a:ext cx="2804512" cy="3668713"/>
          </a:xfrm>
          <a:prstGeom prst="rect">
            <a:avLst/>
          </a:prstGeom>
          <a:noFill/>
          <a:ln w="9525">
            <a:noFill/>
            <a:miter lim="800000"/>
            <a:headEnd/>
            <a:tailEnd/>
          </a:ln>
        </p:spPr>
        <p:txBody>
          <a:bodyPr wrap="square">
            <a:spAutoFit/>
          </a:bodyPr>
          <a:lstStyle/>
          <a:p>
            <a:pPr>
              <a:spcBef>
                <a:spcPct val="50000"/>
              </a:spcBef>
            </a:pPr>
            <a:endParaRPr lang="en-US" dirty="0"/>
          </a:p>
          <a:p>
            <a:pPr>
              <a:spcBef>
                <a:spcPct val="50000"/>
              </a:spcBef>
            </a:pPr>
            <a:r>
              <a:rPr lang="en-US" dirty="0"/>
              <a:t>Medial Calcium Deposits </a:t>
            </a:r>
          </a:p>
          <a:p>
            <a:pPr>
              <a:spcBef>
                <a:spcPct val="50000"/>
              </a:spcBef>
            </a:pPr>
            <a:endParaRPr lang="en-US" dirty="0"/>
          </a:p>
          <a:p>
            <a:pPr>
              <a:spcBef>
                <a:spcPct val="50000"/>
              </a:spcBef>
            </a:pPr>
            <a:r>
              <a:rPr lang="en-US" dirty="0"/>
              <a:t>    Muscular Arteries</a:t>
            </a:r>
          </a:p>
          <a:p>
            <a:pPr>
              <a:spcBef>
                <a:spcPct val="50000"/>
              </a:spcBef>
            </a:pPr>
            <a:endParaRPr lang="en-US" dirty="0"/>
          </a:p>
          <a:p>
            <a:pPr>
              <a:spcBef>
                <a:spcPct val="50000"/>
              </a:spcBef>
            </a:pPr>
            <a:endParaRPr lang="en-US" dirty="0"/>
          </a:p>
          <a:p>
            <a:pPr>
              <a:spcBef>
                <a:spcPct val="50000"/>
              </a:spcBef>
            </a:pPr>
            <a:r>
              <a:rPr lang="en-US" dirty="0"/>
              <a:t>Calcifications of Arteries</a:t>
            </a:r>
          </a:p>
          <a:p>
            <a:pPr>
              <a:spcBef>
                <a:spcPct val="50000"/>
              </a:spcBef>
            </a:pPr>
            <a:r>
              <a:rPr lang="en-US" dirty="0"/>
              <a:t>    In Upper and Lower</a:t>
            </a:r>
          </a:p>
          <a:p>
            <a:pPr>
              <a:spcBef>
                <a:spcPct val="50000"/>
              </a:spcBef>
            </a:pPr>
            <a:r>
              <a:rPr lang="en-US" dirty="0"/>
              <a:t>            Extremities           </a:t>
            </a:r>
          </a:p>
        </p:txBody>
      </p:sp>
      <p:sp>
        <p:nvSpPr>
          <p:cNvPr id="7179" name="Line 28"/>
          <p:cNvSpPr>
            <a:spLocks noChangeShapeType="1"/>
          </p:cNvSpPr>
          <p:nvPr/>
        </p:nvSpPr>
        <p:spPr bwMode="auto">
          <a:xfrm>
            <a:off x="3886200" y="2932120"/>
            <a:ext cx="0" cy="533400"/>
          </a:xfrm>
          <a:prstGeom prst="line">
            <a:avLst/>
          </a:prstGeom>
          <a:noFill/>
          <a:ln w="9525">
            <a:solidFill>
              <a:schemeClr val="tx1"/>
            </a:solidFill>
            <a:round/>
            <a:headEnd/>
            <a:tailEnd type="triangle" w="med" len="med"/>
          </a:ln>
        </p:spPr>
        <p:txBody>
          <a:bodyPr/>
          <a:lstStyle/>
          <a:p>
            <a:endParaRPr lang="en-US"/>
          </a:p>
        </p:txBody>
      </p:sp>
      <p:sp>
        <p:nvSpPr>
          <p:cNvPr id="7180" name="Line 29"/>
          <p:cNvSpPr>
            <a:spLocks noChangeShapeType="1"/>
          </p:cNvSpPr>
          <p:nvPr/>
        </p:nvSpPr>
        <p:spPr bwMode="auto">
          <a:xfrm>
            <a:off x="3886200" y="3867465"/>
            <a:ext cx="0" cy="762000"/>
          </a:xfrm>
          <a:prstGeom prst="line">
            <a:avLst/>
          </a:prstGeom>
          <a:noFill/>
          <a:ln w="9525">
            <a:solidFill>
              <a:schemeClr val="tx1"/>
            </a:solidFill>
            <a:round/>
            <a:headEnd/>
            <a:tailEnd type="triangle" w="med" len="med"/>
          </a:ln>
        </p:spPr>
        <p:txBody>
          <a:bodyPr/>
          <a:lstStyle/>
          <a:p>
            <a:endParaRPr lang="en-US"/>
          </a:p>
        </p:txBody>
      </p:sp>
      <p:sp>
        <p:nvSpPr>
          <p:cNvPr id="7181" name="Text Box 30"/>
          <p:cNvSpPr txBox="1">
            <a:spLocks noChangeArrowheads="1"/>
          </p:cNvSpPr>
          <p:nvPr/>
        </p:nvSpPr>
        <p:spPr bwMode="auto">
          <a:xfrm>
            <a:off x="7488870" y="2514599"/>
            <a:ext cx="1600200" cy="2017713"/>
          </a:xfrm>
          <a:prstGeom prst="rect">
            <a:avLst/>
          </a:prstGeom>
          <a:noFill/>
          <a:ln w="9525">
            <a:noFill/>
            <a:miter lim="800000"/>
            <a:headEnd/>
            <a:tailEnd/>
          </a:ln>
        </p:spPr>
        <p:txBody>
          <a:bodyPr>
            <a:spAutoFit/>
          </a:bodyPr>
          <a:lstStyle/>
          <a:p>
            <a:pPr>
              <a:spcBef>
                <a:spcPct val="50000"/>
              </a:spcBef>
            </a:pPr>
            <a:r>
              <a:rPr lang="en-US" dirty="0"/>
              <a:t>Small Vessels</a:t>
            </a:r>
          </a:p>
          <a:p>
            <a:pPr>
              <a:spcBef>
                <a:spcPct val="50000"/>
              </a:spcBef>
            </a:pPr>
            <a:endParaRPr lang="en-US" dirty="0"/>
          </a:p>
          <a:p>
            <a:pPr>
              <a:spcBef>
                <a:spcPct val="50000"/>
              </a:spcBef>
            </a:pPr>
            <a:endParaRPr lang="en-US" dirty="0"/>
          </a:p>
          <a:p>
            <a:pPr>
              <a:spcBef>
                <a:spcPct val="50000"/>
              </a:spcBef>
            </a:pPr>
            <a:endParaRPr lang="en-US" dirty="0"/>
          </a:p>
          <a:p>
            <a:pPr>
              <a:spcBef>
                <a:spcPct val="50000"/>
              </a:spcBef>
            </a:pPr>
            <a:endParaRPr lang="en-US" dirty="0"/>
          </a:p>
        </p:txBody>
      </p:sp>
      <p:sp>
        <p:nvSpPr>
          <p:cNvPr id="7182" name="Text Box 31"/>
          <p:cNvSpPr txBox="1">
            <a:spLocks noChangeArrowheads="1"/>
          </p:cNvSpPr>
          <p:nvPr/>
        </p:nvSpPr>
        <p:spPr bwMode="auto">
          <a:xfrm>
            <a:off x="5920109" y="4233062"/>
            <a:ext cx="3230362" cy="369332"/>
          </a:xfrm>
          <a:prstGeom prst="rect">
            <a:avLst/>
          </a:prstGeom>
          <a:noFill/>
          <a:ln w="9525">
            <a:noFill/>
            <a:miter lim="800000"/>
            <a:headEnd/>
            <a:tailEnd/>
          </a:ln>
        </p:spPr>
        <p:txBody>
          <a:bodyPr wrap="square">
            <a:spAutoFit/>
          </a:bodyPr>
          <a:lstStyle/>
          <a:p>
            <a:pPr>
              <a:spcBef>
                <a:spcPct val="50000"/>
              </a:spcBef>
            </a:pPr>
            <a:r>
              <a:rPr lang="en-US" dirty="0"/>
              <a:t>              Hyaline	Hyperplastic</a:t>
            </a:r>
          </a:p>
        </p:txBody>
      </p:sp>
      <p:sp>
        <p:nvSpPr>
          <p:cNvPr id="7183" name="Line 32"/>
          <p:cNvSpPr>
            <a:spLocks noChangeShapeType="1"/>
          </p:cNvSpPr>
          <p:nvPr/>
        </p:nvSpPr>
        <p:spPr bwMode="auto">
          <a:xfrm flipH="1">
            <a:off x="7429500" y="3120270"/>
            <a:ext cx="533400" cy="1066800"/>
          </a:xfrm>
          <a:prstGeom prst="line">
            <a:avLst/>
          </a:prstGeom>
          <a:noFill/>
          <a:ln w="9525">
            <a:solidFill>
              <a:schemeClr val="tx1"/>
            </a:solidFill>
            <a:round/>
            <a:headEnd/>
            <a:tailEnd type="triangle" w="med" len="med"/>
          </a:ln>
        </p:spPr>
        <p:txBody>
          <a:bodyPr/>
          <a:lstStyle/>
          <a:p>
            <a:endParaRPr lang="en-US"/>
          </a:p>
        </p:txBody>
      </p:sp>
      <p:sp>
        <p:nvSpPr>
          <p:cNvPr id="7184" name="Line 33"/>
          <p:cNvSpPr>
            <a:spLocks noChangeShapeType="1"/>
          </p:cNvSpPr>
          <p:nvPr/>
        </p:nvSpPr>
        <p:spPr bwMode="auto">
          <a:xfrm>
            <a:off x="8288229" y="3120270"/>
            <a:ext cx="533400" cy="1066800"/>
          </a:xfrm>
          <a:prstGeom prst="line">
            <a:avLst/>
          </a:prstGeom>
          <a:noFill/>
          <a:ln w="9525">
            <a:solidFill>
              <a:schemeClr val="tx1"/>
            </a:solidFill>
            <a:round/>
            <a:headEnd/>
            <a:tailEnd type="triangle" w="med" len="med"/>
          </a:ln>
        </p:spPr>
        <p:txBody>
          <a:bodyPr/>
          <a:lstStyle/>
          <a:p>
            <a:endParaRPr lang="en-US"/>
          </a:p>
        </p:txBody>
      </p:sp>
      <p:sp>
        <p:nvSpPr>
          <p:cNvPr id="7185" name="Line 34"/>
          <p:cNvSpPr>
            <a:spLocks noChangeShapeType="1"/>
          </p:cNvSpPr>
          <p:nvPr/>
        </p:nvSpPr>
        <p:spPr bwMode="auto">
          <a:xfrm flipH="1">
            <a:off x="492156" y="2590800"/>
            <a:ext cx="228600" cy="457200"/>
          </a:xfrm>
          <a:prstGeom prst="line">
            <a:avLst/>
          </a:prstGeom>
          <a:noFill/>
          <a:ln w="9525">
            <a:solidFill>
              <a:schemeClr val="tx1"/>
            </a:solidFill>
            <a:round/>
            <a:headEnd/>
            <a:tailEnd type="triangle" w="med" len="med"/>
          </a:ln>
        </p:spPr>
        <p:txBody>
          <a:bodyPr/>
          <a:lstStyle/>
          <a:p>
            <a:endParaRPr lang="en-US"/>
          </a:p>
        </p:txBody>
      </p:sp>
      <p:sp>
        <p:nvSpPr>
          <p:cNvPr id="7186" name="Line 35"/>
          <p:cNvSpPr>
            <a:spLocks noChangeShapeType="1"/>
          </p:cNvSpPr>
          <p:nvPr/>
        </p:nvSpPr>
        <p:spPr bwMode="auto">
          <a:xfrm>
            <a:off x="1750381" y="2520888"/>
            <a:ext cx="457200" cy="533400"/>
          </a:xfrm>
          <a:prstGeom prst="line">
            <a:avLst/>
          </a:prstGeom>
          <a:noFill/>
          <a:ln w="9525">
            <a:solidFill>
              <a:schemeClr val="tx1"/>
            </a:solidFill>
            <a:round/>
            <a:headEnd/>
            <a:tailEnd type="triangle" w="med" len="med"/>
          </a:ln>
        </p:spPr>
        <p:txBody>
          <a:bodyPr/>
          <a:lstStyle/>
          <a:p>
            <a:endParaRPr lang="en-US"/>
          </a:p>
        </p:txBody>
      </p:sp>
      <p:sp>
        <p:nvSpPr>
          <p:cNvPr id="2" name="TextBox 1">
            <a:extLst>
              <a:ext uri="{FF2B5EF4-FFF2-40B4-BE49-F238E27FC236}">
                <a16:creationId xmlns:a16="http://schemas.microsoft.com/office/drawing/2014/main" id="{6B23484E-61F2-49D1-9401-751442B8F289}"/>
              </a:ext>
            </a:extLst>
          </p:cNvPr>
          <p:cNvSpPr txBox="1"/>
          <p:nvPr/>
        </p:nvSpPr>
        <p:spPr>
          <a:xfrm>
            <a:off x="5175495" y="3416099"/>
            <a:ext cx="1981200" cy="369332"/>
          </a:xfrm>
          <a:prstGeom prst="rect">
            <a:avLst/>
          </a:prstGeom>
          <a:noFill/>
        </p:spPr>
        <p:txBody>
          <a:bodyPr wrap="square" rtlCol="0">
            <a:spAutoFit/>
          </a:bodyPr>
          <a:lstStyle/>
          <a:p>
            <a:r>
              <a:rPr lang="en-US" dirty="0"/>
              <a:t>Muscular Arteries</a:t>
            </a:r>
          </a:p>
        </p:txBody>
      </p:sp>
      <p:sp>
        <p:nvSpPr>
          <p:cNvPr id="3" name="TextBox 2">
            <a:extLst>
              <a:ext uri="{FF2B5EF4-FFF2-40B4-BE49-F238E27FC236}">
                <a16:creationId xmlns:a16="http://schemas.microsoft.com/office/drawing/2014/main" id="{92B26D31-C6DA-42FB-A025-DBD25DB60DEF}"/>
              </a:ext>
            </a:extLst>
          </p:cNvPr>
          <p:cNvSpPr txBox="1"/>
          <p:nvPr/>
        </p:nvSpPr>
        <p:spPr>
          <a:xfrm>
            <a:off x="4876800" y="2297529"/>
            <a:ext cx="2719612" cy="646331"/>
          </a:xfrm>
          <a:prstGeom prst="rect">
            <a:avLst/>
          </a:prstGeom>
          <a:noFill/>
        </p:spPr>
        <p:txBody>
          <a:bodyPr wrap="square" rtlCol="0">
            <a:spAutoFit/>
          </a:bodyPr>
          <a:lstStyle/>
          <a:p>
            <a:r>
              <a:rPr lang="en-US" dirty="0"/>
              <a:t>Inflammation; Mechanical</a:t>
            </a:r>
          </a:p>
          <a:p>
            <a:r>
              <a:rPr lang="en-US" dirty="0"/>
              <a:t>               Injury </a:t>
            </a:r>
          </a:p>
        </p:txBody>
      </p:sp>
      <p:pic>
        <p:nvPicPr>
          <p:cNvPr id="4" name="Picture 3">
            <a:extLst>
              <a:ext uri="{FF2B5EF4-FFF2-40B4-BE49-F238E27FC236}">
                <a16:creationId xmlns:a16="http://schemas.microsoft.com/office/drawing/2014/main" id="{E31CC861-F09E-452B-8CCA-9E55CE6CAF0D}"/>
              </a:ext>
            </a:extLst>
          </p:cNvPr>
          <p:cNvPicPr>
            <a:picLocks noChangeAspect="1"/>
          </p:cNvPicPr>
          <p:nvPr/>
        </p:nvPicPr>
        <p:blipFill>
          <a:blip r:embed="rId3"/>
          <a:stretch>
            <a:fillRect/>
          </a:stretch>
        </p:blipFill>
        <p:spPr>
          <a:xfrm>
            <a:off x="5927601" y="2955811"/>
            <a:ext cx="192257" cy="609653"/>
          </a:xfrm>
          <a:prstGeom prst="rect">
            <a:avLst/>
          </a:prstGeom>
        </p:spPr>
      </p:pic>
      <p:pic>
        <p:nvPicPr>
          <p:cNvPr id="5" name="Picture 4">
            <a:extLst>
              <a:ext uri="{FF2B5EF4-FFF2-40B4-BE49-F238E27FC236}">
                <a16:creationId xmlns:a16="http://schemas.microsoft.com/office/drawing/2014/main" id="{68DABC7B-81FA-4F90-8852-A4CD86DEF530}"/>
              </a:ext>
            </a:extLst>
          </p:cNvPr>
          <p:cNvPicPr>
            <a:picLocks noChangeAspect="1"/>
          </p:cNvPicPr>
          <p:nvPr/>
        </p:nvPicPr>
        <p:blipFill>
          <a:blip r:embed="rId4"/>
          <a:stretch>
            <a:fillRect/>
          </a:stretch>
        </p:blipFill>
        <p:spPr>
          <a:xfrm>
            <a:off x="5888426" y="3732876"/>
            <a:ext cx="195089" cy="609653"/>
          </a:xfrm>
          <a:prstGeom prst="rect">
            <a:avLst/>
          </a:prstGeom>
        </p:spPr>
      </p:pic>
      <p:sp>
        <p:nvSpPr>
          <p:cNvPr id="7" name="TextBox 6">
            <a:extLst>
              <a:ext uri="{FF2B5EF4-FFF2-40B4-BE49-F238E27FC236}">
                <a16:creationId xmlns:a16="http://schemas.microsoft.com/office/drawing/2014/main" id="{BB781CF3-C4A0-4E25-90FB-5C53412B5D31}"/>
              </a:ext>
            </a:extLst>
          </p:cNvPr>
          <p:cNvSpPr txBox="1"/>
          <p:nvPr/>
        </p:nvSpPr>
        <p:spPr>
          <a:xfrm>
            <a:off x="4867471" y="4277187"/>
            <a:ext cx="1665658" cy="369332"/>
          </a:xfrm>
          <a:prstGeom prst="rect">
            <a:avLst/>
          </a:prstGeom>
          <a:noFill/>
        </p:spPr>
        <p:txBody>
          <a:bodyPr wrap="square" rtlCol="0">
            <a:spAutoFit/>
          </a:bodyPr>
          <a:lstStyle/>
          <a:p>
            <a:r>
              <a:rPr lang="en-US" dirty="0"/>
              <a:t>Healed Arteritis</a:t>
            </a:r>
          </a:p>
        </p:txBody>
      </p:sp>
      <p:sp>
        <p:nvSpPr>
          <p:cNvPr id="6" name="TextBox 5">
            <a:extLst>
              <a:ext uri="{FF2B5EF4-FFF2-40B4-BE49-F238E27FC236}">
                <a16:creationId xmlns:a16="http://schemas.microsoft.com/office/drawing/2014/main" id="{98D96104-69E7-4B5F-95D7-812BDB0E0DF4}"/>
              </a:ext>
            </a:extLst>
          </p:cNvPr>
          <p:cNvSpPr txBox="1"/>
          <p:nvPr/>
        </p:nvSpPr>
        <p:spPr>
          <a:xfrm>
            <a:off x="3396818" y="212045"/>
            <a:ext cx="2686697" cy="461665"/>
          </a:xfrm>
          <a:prstGeom prst="rect">
            <a:avLst/>
          </a:prstGeom>
          <a:noFill/>
        </p:spPr>
        <p:txBody>
          <a:bodyPr wrap="square" rtlCol="0">
            <a:spAutoFit/>
          </a:bodyPr>
          <a:lstStyle/>
          <a:p>
            <a:r>
              <a:rPr lang="en-US" sz="2400" b="1" dirty="0"/>
              <a:t>Arteriosclerosis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http://www.pathguy.com/~tdemark/0001.jpg"/>
          <p:cNvPicPr/>
          <p:nvPr/>
        </p:nvPicPr>
        <p:blipFill>
          <a:blip r:embed="rId2">
            <a:extLst>
              <a:ext uri="{28A0092B-C50C-407E-A947-70E740481C1C}">
                <a14:useLocalDpi xmlns:a14="http://schemas.microsoft.com/office/drawing/2010/main" val="0"/>
              </a:ext>
            </a:extLst>
          </a:blip>
          <a:stretch>
            <a:fillRect/>
          </a:stretch>
        </p:blipFill>
        <p:spPr bwMode="auto">
          <a:xfrm>
            <a:off x="606827" y="643466"/>
            <a:ext cx="7930344" cy="5571067"/>
          </a:xfrm>
          <a:prstGeom prst="rect">
            <a:avLst/>
          </a:prstGeom>
          <a:noFill/>
        </p:spPr>
      </p:pic>
    </p:spTree>
    <p:extLst>
      <p:ext uri="{BB962C8B-B14F-4D97-AF65-F5344CB8AC3E}">
        <p14:creationId xmlns:p14="http://schemas.microsoft.com/office/powerpoint/2010/main" val="2031709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08"/>
          <p:cNvPicPr>
            <a:picLocks noChangeAspect="1" noChangeArrowheads="1"/>
          </p:cNvPicPr>
          <p:nvPr/>
        </p:nvPicPr>
        <p:blipFill>
          <a:blip r:embed="rId3" cstate="print"/>
          <a:stretch>
            <a:fillRect/>
          </a:stretch>
        </p:blipFill>
        <p:spPr bwMode="auto">
          <a:xfrm>
            <a:off x="482600" y="719772"/>
            <a:ext cx="8178799" cy="5418454"/>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srgbClr val="FFFFFF"/>
              </a:solidFill>
              <a:latin typeface="Arial"/>
            </a:endParaRPr>
          </a:p>
        </p:txBody>
      </p:sp>
      <p:sp>
        <p:nvSpPr>
          <p:cNvPr id="1033" name="Right Triangle 103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59150"/>
            <a:ext cx="2468880" cy="24003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srgbClr val="FFFFFF"/>
              </a:solidFill>
              <a:latin typeface="Arial"/>
            </a:endParaRPr>
          </a:p>
        </p:txBody>
      </p:sp>
      <p:sp>
        <p:nvSpPr>
          <p:cNvPr id="1035" name="Rectangle 1034">
            <a:extLst>
              <a:ext uri="{FF2B5EF4-FFF2-40B4-BE49-F238E27FC236}">
                <a16:creationId xmlns:a16="http://schemas.microsoft.com/office/drawing/2014/main" id="{C37E9D4B-7BFA-4D10-B666-547BAC499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1" y="1324706"/>
            <a:ext cx="8178790" cy="420591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srgbClr val="FFFFFF"/>
              </a:solidFill>
              <a:latin typeface="Arial"/>
            </a:endParaRPr>
          </a:p>
        </p:txBody>
      </p:sp>
      <p:pic>
        <p:nvPicPr>
          <p:cNvPr id="1026" name="Picture 2" descr="Atherosclerosis Complications">
            <a:extLst>
              <a:ext uri="{FF2B5EF4-FFF2-40B4-BE49-F238E27FC236}">
                <a16:creationId xmlns:a16="http://schemas.microsoft.com/office/drawing/2014/main" id="{2A68C7D4-090F-2E3C-82BB-DC00E5F1A47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75365" y="1560411"/>
            <a:ext cx="4985750" cy="3734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549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1143000" y="152400"/>
            <a:ext cx="5791200" cy="461665"/>
          </a:xfrm>
          <a:prstGeom prst="rect">
            <a:avLst/>
          </a:prstGeom>
          <a:noFill/>
          <a:ln w="9525">
            <a:noFill/>
            <a:miter lim="800000"/>
            <a:headEnd/>
            <a:tailEnd/>
          </a:ln>
        </p:spPr>
        <p:txBody>
          <a:bodyPr wrap="square">
            <a:spAutoFit/>
          </a:bodyPr>
          <a:lstStyle/>
          <a:p>
            <a:pPr>
              <a:spcBef>
                <a:spcPct val="50000"/>
              </a:spcBef>
            </a:pPr>
            <a:r>
              <a:rPr lang="en-US" dirty="0">
                <a:latin typeface="Arial" charset="0"/>
              </a:rPr>
              <a:t>	</a:t>
            </a:r>
            <a:r>
              <a:rPr lang="en-US" sz="2400" b="1" dirty="0">
                <a:latin typeface="Arial" charset="0"/>
              </a:rPr>
              <a:t>Congenital Vascular Anomalies </a:t>
            </a:r>
          </a:p>
        </p:txBody>
      </p:sp>
      <p:sp>
        <p:nvSpPr>
          <p:cNvPr id="5123" name="Text Box 3"/>
          <p:cNvSpPr txBox="1">
            <a:spLocks noChangeArrowheads="1"/>
          </p:cNvSpPr>
          <p:nvPr/>
        </p:nvSpPr>
        <p:spPr bwMode="auto">
          <a:xfrm>
            <a:off x="457200" y="990600"/>
            <a:ext cx="7010400" cy="6709529"/>
          </a:xfrm>
          <a:prstGeom prst="rect">
            <a:avLst/>
          </a:prstGeom>
          <a:noFill/>
          <a:ln w="9525">
            <a:noFill/>
            <a:miter lim="800000"/>
            <a:headEnd/>
            <a:tailEnd/>
          </a:ln>
        </p:spPr>
        <p:txBody>
          <a:bodyPr wrap="square">
            <a:spAutoFit/>
          </a:bodyPr>
          <a:lstStyle/>
          <a:p>
            <a:pPr>
              <a:spcBef>
                <a:spcPct val="50000"/>
              </a:spcBef>
            </a:pPr>
            <a:r>
              <a:rPr lang="en-US" sz="2000" dirty="0">
                <a:latin typeface="Arial" charset="0"/>
              </a:rPr>
              <a:t>Berry aneurysms - A</a:t>
            </a:r>
            <a:r>
              <a:rPr lang="en-US" sz="2000" dirty="0"/>
              <a:t> sac-like out pouching in a cerebral blood vessel. Once a berry aneurysm has formed it is likely to rupture, causing a stroke.  Thus they are serious medical emergencies, and should be treated as soon as possible.</a:t>
            </a:r>
            <a:endParaRPr lang="en-US" sz="2000" dirty="0">
              <a:latin typeface="Arial" charset="0"/>
            </a:endParaRPr>
          </a:p>
          <a:p>
            <a:pPr>
              <a:spcBef>
                <a:spcPct val="50000"/>
              </a:spcBef>
            </a:pPr>
            <a:endParaRPr lang="en-US" sz="2000" dirty="0">
              <a:latin typeface="Arial" charset="0"/>
            </a:endParaRPr>
          </a:p>
          <a:p>
            <a:pPr>
              <a:spcBef>
                <a:spcPct val="50000"/>
              </a:spcBef>
            </a:pPr>
            <a:r>
              <a:rPr lang="en-US" sz="2000" dirty="0">
                <a:latin typeface="Arial" charset="0"/>
              </a:rPr>
              <a:t>Arteriovenous fistulas - </a:t>
            </a:r>
            <a:r>
              <a:rPr lang="en-US" sz="2000" dirty="0"/>
              <a:t>An </a:t>
            </a:r>
            <a:r>
              <a:rPr lang="en-US" sz="2000" b="1" dirty="0"/>
              <a:t>arteriovenous fistula</a:t>
            </a:r>
            <a:r>
              <a:rPr lang="en-US" sz="2000" dirty="0"/>
              <a:t> is an abnormal connection or passageway between an artery and a vein.  It may be congenital, surgically created for hemodialysis treatments, or acquired due to pathologic process, such as trauma or erosion of an arterial aneurysm.</a:t>
            </a:r>
          </a:p>
          <a:p>
            <a:pPr>
              <a:spcBef>
                <a:spcPct val="50000"/>
              </a:spcBef>
            </a:pPr>
            <a:endParaRPr lang="en-US" sz="2000" dirty="0">
              <a:latin typeface="Arial" charset="0"/>
            </a:endParaRPr>
          </a:p>
          <a:p>
            <a:pPr>
              <a:spcBef>
                <a:spcPct val="50000"/>
              </a:spcBef>
            </a:pPr>
            <a:r>
              <a:rPr lang="en-US" sz="2000" dirty="0">
                <a:latin typeface="Arial" charset="0"/>
              </a:rPr>
              <a:t>Fibromuscular dysplasia - </a:t>
            </a:r>
            <a:r>
              <a:rPr lang="en-US" sz="2000" b="1" dirty="0"/>
              <a:t>Fibromuscular dysplasia</a:t>
            </a:r>
            <a:r>
              <a:rPr lang="en-US" sz="2000" dirty="0"/>
              <a:t> is a disease that can cause stenosis  of arteries in the kidneys, the carotid arteries supplying the brain, and, less commonly, the arteries of the abdomen.</a:t>
            </a:r>
            <a:r>
              <a:rPr lang="en-US" sz="2000" dirty="0">
                <a:latin typeface="Arial" charset="0"/>
              </a:rPr>
              <a:t> </a:t>
            </a:r>
          </a:p>
          <a:p>
            <a:pPr>
              <a:spcBef>
                <a:spcPct val="50000"/>
              </a:spcBef>
            </a:pPr>
            <a:endParaRPr lang="en-US" sz="2000" dirty="0">
              <a:latin typeface="Arial" charset="0"/>
            </a:endParaRPr>
          </a:p>
          <a:p>
            <a:pPr>
              <a:spcBef>
                <a:spcPct val="50000"/>
              </a:spcBef>
            </a:pPr>
            <a:endParaRPr lang="en-US" sz="2000" dirty="0">
              <a:latin typeface="Arial" charset="0"/>
            </a:endParaRPr>
          </a:p>
          <a:p>
            <a:pPr>
              <a:spcBef>
                <a:spcPct val="50000"/>
              </a:spcBef>
            </a:pPr>
            <a:endParaRPr lang="en-US" sz="2000" dirty="0">
              <a:latin typeface="Arial"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1026" descr="berry aneury"/>
          <p:cNvPicPr>
            <a:picLocks noChangeAspect="1" noChangeArrowheads="1"/>
          </p:cNvPicPr>
          <p:nvPr/>
        </p:nvPicPr>
        <p:blipFill>
          <a:blip r:embed="rId3" cstate="print">
            <a:lum bright="22000"/>
          </a:blip>
          <a:srcRect/>
          <a:stretch>
            <a:fillRect/>
          </a:stretch>
        </p:blipFill>
        <p:spPr bwMode="auto">
          <a:xfrm>
            <a:off x="685800" y="1371600"/>
            <a:ext cx="7848600" cy="5087938"/>
          </a:xfrm>
          <a:prstGeom prst="rect">
            <a:avLst/>
          </a:prstGeom>
          <a:noFill/>
        </p:spPr>
      </p:pic>
      <p:sp>
        <p:nvSpPr>
          <p:cNvPr id="119811" name="Text Box 1027"/>
          <p:cNvSpPr txBox="1">
            <a:spLocks noChangeArrowheads="1"/>
          </p:cNvSpPr>
          <p:nvPr/>
        </p:nvSpPr>
        <p:spPr bwMode="auto">
          <a:xfrm>
            <a:off x="2514600" y="304800"/>
            <a:ext cx="5105400" cy="701675"/>
          </a:xfrm>
          <a:prstGeom prst="rect">
            <a:avLst/>
          </a:prstGeom>
          <a:noFill/>
          <a:ln w="9525">
            <a:noFill/>
            <a:miter lim="800000"/>
            <a:headEnd/>
            <a:tailEnd/>
          </a:ln>
          <a:effectLst/>
        </p:spPr>
        <p:txBody>
          <a:bodyPr>
            <a:spAutoFit/>
          </a:bodyPr>
          <a:lstStyle/>
          <a:p>
            <a:pPr>
              <a:spcBef>
                <a:spcPct val="50000"/>
              </a:spcBef>
            </a:pPr>
            <a:r>
              <a:rPr lang="en-US" sz="4000"/>
              <a:t>Berry Aneurysm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0" y="1752600"/>
            <a:ext cx="3733800" cy="369332"/>
          </a:xfrm>
          <a:prstGeom prst="rect">
            <a:avLst/>
          </a:prstGeom>
          <a:noFill/>
        </p:spPr>
        <p:txBody>
          <a:bodyPr wrap="square" rtlCol="0">
            <a:spAutoFit/>
          </a:bodyPr>
          <a:lstStyle/>
          <a:p>
            <a:r>
              <a:rPr lang="en-US" dirty="0"/>
              <a:t>C</a:t>
            </a:r>
          </a:p>
        </p:txBody>
      </p:sp>
      <p:pic>
        <p:nvPicPr>
          <p:cNvPr id="45058" name="Picture 2" descr="http://www.nature.com/ki/journal/v70/n2/images/5001569f1.jpg"/>
          <p:cNvPicPr>
            <a:picLocks noChangeAspect="1" noChangeArrowheads="1"/>
          </p:cNvPicPr>
          <p:nvPr/>
        </p:nvPicPr>
        <p:blipFill>
          <a:blip r:embed="rId3" cstate="print"/>
          <a:srcRect/>
          <a:stretch>
            <a:fillRect/>
          </a:stretch>
        </p:blipFill>
        <p:spPr bwMode="auto">
          <a:xfrm>
            <a:off x="1828800" y="762000"/>
            <a:ext cx="4267200" cy="4800600"/>
          </a:xfrm>
          <a:prstGeom prst="rect">
            <a:avLst/>
          </a:prstGeom>
          <a:noFill/>
        </p:spPr>
      </p:pic>
      <p:sp>
        <p:nvSpPr>
          <p:cNvPr id="7" name="Rectangle 6"/>
          <p:cNvSpPr/>
          <p:nvPr/>
        </p:nvSpPr>
        <p:spPr>
          <a:xfrm>
            <a:off x="1905000" y="5715000"/>
            <a:ext cx="4572000" cy="646331"/>
          </a:xfrm>
          <a:prstGeom prst="rect">
            <a:avLst/>
          </a:prstGeom>
        </p:spPr>
        <p:txBody>
          <a:bodyPr>
            <a:spAutoFit/>
          </a:bodyPr>
          <a:lstStyle/>
          <a:p>
            <a:r>
              <a:rPr lang="en-US" dirty="0">
                <a:solidFill>
                  <a:schemeClr val="tx1"/>
                </a:solidFill>
              </a:rPr>
              <a:t>Schematic representation of Arteriovenous fistula-associated lesion formation in mice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5D36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Fibromuscular dysplasia">
            <a:extLst>
              <a:ext uri="{FF2B5EF4-FFF2-40B4-BE49-F238E27FC236}">
                <a16:creationId xmlns:a16="http://schemas.microsoft.com/office/drawing/2014/main" id="{9DD08E02-5928-4183-8E8F-B2EB063453D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81454" y="643467"/>
            <a:ext cx="5181091" cy="5571066"/>
          </a:xfrm>
          <a:prstGeom prst="rect">
            <a:avLst/>
          </a:prstGeom>
          <a:noFill/>
        </p:spPr>
      </p:pic>
    </p:spTree>
    <p:extLst>
      <p:ext uri="{BB962C8B-B14F-4D97-AF65-F5344CB8AC3E}">
        <p14:creationId xmlns:p14="http://schemas.microsoft.com/office/powerpoint/2010/main" val="1612036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00-2870 10X"/>
          <p:cNvPicPr>
            <a:picLocks noChangeAspect="1" noChangeArrowheads="1"/>
          </p:cNvPicPr>
          <p:nvPr/>
        </p:nvPicPr>
        <p:blipFill>
          <a:blip r:embed="rId3" cstate="print">
            <a:lum bright="12000" contrast="24000"/>
          </a:blip>
          <a:srcRect/>
          <a:stretch>
            <a:fillRect/>
          </a:stretch>
        </p:blipFill>
        <p:spPr bwMode="auto">
          <a:xfrm>
            <a:off x="1219200" y="152400"/>
            <a:ext cx="5715000" cy="4953000"/>
          </a:xfrm>
          <a:prstGeom prst="rect">
            <a:avLst/>
          </a:prstGeom>
          <a:noFill/>
          <a:ln w="76200">
            <a:solidFill>
              <a:schemeClr val="tx1"/>
            </a:solidFill>
            <a:miter lim="800000"/>
            <a:headEnd/>
            <a:tailEnd/>
          </a:ln>
        </p:spPr>
      </p:pic>
      <p:sp>
        <p:nvSpPr>
          <p:cNvPr id="3" name="TextBox 2"/>
          <p:cNvSpPr txBox="1"/>
          <p:nvPr/>
        </p:nvSpPr>
        <p:spPr>
          <a:xfrm>
            <a:off x="1752600" y="5486400"/>
            <a:ext cx="4800600" cy="923330"/>
          </a:xfrm>
          <a:prstGeom prst="rect">
            <a:avLst/>
          </a:prstGeom>
          <a:noFill/>
        </p:spPr>
        <p:txBody>
          <a:bodyPr wrap="square" rtlCol="0">
            <a:spAutoFit/>
          </a:bodyPr>
          <a:lstStyle/>
          <a:p>
            <a:r>
              <a:rPr lang="en-US" dirty="0">
                <a:solidFill>
                  <a:schemeClr val="tx1"/>
                </a:solidFill>
              </a:rPr>
              <a:t>Fibromuscular dysplasia; 25 year old woman with thickened media alternating with thinned media  aneurysmal dilatation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Content Placeholder 4"/>
          <p:cNvGraphicFramePr>
            <a:graphicFrameLocks noGrp="1" noChangeAspect="1"/>
          </p:cNvGraphicFramePr>
          <p:nvPr>
            <p:ph idx="1"/>
            <p:extLst>
              <p:ext uri="{D42A27DB-BD31-4B8C-83A1-F6EECF244321}">
                <p14:modId xmlns:p14="http://schemas.microsoft.com/office/powerpoint/2010/main" val="3717776925"/>
              </p:ext>
            </p:extLst>
          </p:nvPr>
        </p:nvGraphicFramePr>
        <p:xfrm>
          <a:off x="1136650" y="1836738"/>
          <a:ext cx="6915150" cy="3576637"/>
        </p:xfrm>
        <a:graphic>
          <a:graphicData uri="http://schemas.openxmlformats.org/presentationml/2006/ole">
            <mc:AlternateContent xmlns:mc="http://schemas.openxmlformats.org/markup-compatibility/2006">
              <mc:Choice xmlns:v="urn:schemas-microsoft-com:vml" Requires="v">
                <p:oleObj r:id="rId2" imgW="6919560" imgH="3578662" progId="Excel.Chart.8">
                  <p:embed/>
                </p:oleObj>
              </mc:Choice>
              <mc:Fallback>
                <p:oleObj r:id="rId2" imgW="6919560" imgH="3578662" progId="Excel.Chart.8">
                  <p:embed/>
                  <p:pic>
                    <p:nvPicPr>
                      <p:cNvPr id="6146" name="Content Placeholder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650" y="1836738"/>
                        <a:ext cx="6915150" cy="3576637"/>
                      </a:xfrm>
                      <a:prstGeom prst="rect">
                        <a:avLst/>
                      </a:prstGeom>
                    </p:spPr>
                  </p:pic>
                </p:oleObj>
              </mc:Fallback>
            </mc:AlternateContent>
          </a:graphicData>
        </a:graphic>
      </p:graphicFrame>
      <p:sp>
        <p:nvSpPr>
          <p:cNvPr id="6147"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fontAlgn="base">
              <a:spcBef>
                <a:spcPct val="0"/>
              </a:spcBef>
              <a:spcAft>
                <a:spcPct val="0"/>
              </a:spcAft>
            </a:pPr>
            <a:fld id="{0C983F79-3BEB-42D8-9184-49848EB338C7}" type="slidenum">
              <a:rPr lang="en-US" altLang="en-US">
                <a:solidFill>
                  <a:prstClr val="black"/>
                </a:solidFill>
                <a:ea typeface="MS PGothic" pitchFamily="34" charset="-128"/>
              </a:rPr>
              <a:pPr fontAlgn="base">
                <a:spcBef>
                  <a:spcPct val="0"/>
                </a:spcBef>
                <a:spcAft>
                  <a:spcPct val="0"/>
                </a:spcAft>
              </a:pPr>
              <a:t>15</a:t>
            </a:fld>
            <a:endParaRPr lang="en-US" altLang="en-US">
              <a:solidFill>
                <a:prstClr val="black"/>
              </a:solidFill>
              <a:ea typeface="MS PGothic" pitchFamily="34" charset="-128"/>
            </a:endParaRPr>
          </a:p>
        </p:txBody>
      </p:sp>
      <p:sp>
        <p:nvSpPr>
          <p:cNvPr id="4" name="Title 3"/>
          <p:cNvSpPr>
            <a:spLocks noGrp="1"/>
          </p:cNvSpPr>
          <p:nvPr>
            <p:ph type="title"/>
          </p:nvPr>
        </p:nvSpPr>
        <p:spPr>
          <a:xfrm>
            <a:off x="290513" y="144463"/>
            <a:ext cx="8426450" cy="846137"/>
          </a:xfrm>
          <a:ln/>
        </p:spPr>
        <p:txBody>
          <a:bodyPr>
            <a:normAutofit fontScale="90000"/>
          </a:bodyPr>
          <a:lstStyle/>
          <a:p>
            <a:pPr algn="ctr" fontAlgn="auto">
              <a:spcAft>
                <a:spcPts val="0"/>
              </a:spcAft>
              <a:defRPr/>
            </a:pPr>
            <a:r>
              <a:rPr lang="en-US" dirty="0"/>
              <a:t> Deaths From Cardiovascular Diseases, Percent by Subgroup, U.S.</a:t>
            </a:r>
          </a:p>
        </p:txBody>
      </p:sp>
      <p:sp>
        <p:nvSpPr>
          <p:cNvPr id="6149" name="TextBox 6"/>
          <p:cNvSpPr txBox="1">
            <a:spLocks noChangeArrowheads="1"/>
          </p:cNvSpPr>
          <p:nvPr/>
        </p:nvSpPr>
        <p:spPr bwMode="auto">
          <a:xfrm>
            <a:off x="6326188" y="2770188"/>
            <a:ext cx="26463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algn="ctr" defTabSz="457200"/>
            <a:r>
              <a:rPr lang="en-US" altLang="en-US">
                <a:solidFill>
                  <a:prstClr val="black"/>
                </a:solidFill>
              </a:rPr>
              <a:t>Coronary Heart Disease</a:t>
            </a:r>
          </a:p>
          <a:p>
            <a:pPr algn="ctr" defTabSz="457200"/>
            <a:r>
              <a:rPr lang="en-US" altLang="en-US">
                <a:solidFill>
                  <a:prstClr val="black"/>
                </a:solidFill>
              </a:rPr>
              <a:t>49.9%</a:t>
            </a:r>
          </a:p>
        </p:txBody>
      </p:sp>
      <p:sp>
        <p:nvSpPr>
          <p:cNvPr id="6150" name="TextBox 7"/>
          <p:cNvSpPr txBox="1">
            <a:spLocks noChangeArrowheads="1"/>
          </p:cNvSpPr>
          <p:nvPr/>
        </p:nvSpPr>
        <p:spPr bwMode="auto">
          <a:xfrm>
            <a:off x="0" y="3562350"/>
            <a:ext cx="2838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algn="ctr" defTabSz="457200"/>
            <a:r>
              <a:rPr lang="en-US" altLang="en-US">
                <a:solidFill>
                  <a:prstClr val="black"/>
                </a:solidFill>
              </a:rPr>
              <a:t>Other Cardiovascular</a:t>
            </a:r>
          </a:p>
          <a:p>
            <a:pPr algn="ctr" defTabSz="457200"/>
            <a:r>
              <a:rPr lang="en-US" altLang="en-US">
                <a:solidFill>
                  <a:prstClr val="black"/>
                </a:solidFill>
              </a:rPr>
              <a:t>Diseases 15.6% </a:t>
            </a:r>
          </a:p>
        </p:txBody>
      </p:sp>
      <p:sp>
        <p:nvSpPr>
          <p:cNvPr id="6151" name="TextBox 8"/>
          <p:cNvSpPr txBox="1">
            <a:spLocks noChangeArrowheads="1"/>
          </p:cNvSpPr>
          <p:nvPr/>
        </p:nvSpPr>
        <p:spPr bwMode="auto">
          <a:xfrm>
            <a:off x="2324100" y="4846638"/>
            <a:ext cx="1027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r>
              <a:rPr lang="en-US" altLang="en-US">
                <a:solidFill>
                  <a:prstClr val="black"/>
                </a:solidFill>
              </a:rPr>
              <a:t>Stroke</a:t>
            </a:r>
          </a:p>
          <a:p>
            <a:pPr defTabSz="457200"/>
            <a:r>
              <a:rPr lang="en-US" altLang="en-US">
                <a:solidFill>
                  <a:prstClr val="black"/>
                </a:solidFill>
              </a:rPr>
              <a:t>16.5%</a:t>
            </a:r>
          </a:p>
        </p:txBody>
      </p:sp>
      <p:sp>
        <p:nvSpPr>
          <p:cNvPr id="6152" name="TextBox 9"/>
          <p:cNvSpPr txBox="1">
            <a:spLocks noChangeArrowheads="1"/>
          </p:cNvSpPr>
          <p:nvPr/>
        </p:nvSpPr>
        <p:spPr bwMode="auto">
          <a:xfrm>
            <a:off x="4686300" y="1169988"/>
            <a:ext cx="25209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algn="ctr" defTabSz="457200"/>
            <a:r>
              <a:rPr lang="en-US" altLang="en-US">
                <a:solidFill>
                  <a:prstClr val="black"/>
                </a:solidFill>
              </a:rPr>
              <a:t>Diseases of Arteries 3.4%</a:t>
            </a:r>
          </a:p>
        </p:txBody>
      </p:sp>
      <p:sp>
        <p:nvSpPr>
          <p:cNvPr id="6153" name="TextBox 10"/>
          <p:cNvSpPr txBox="1">
            <a:spLocks noChangeArrowheads="1"/>
          </p:cNvSpPr>
          <p:nvPr/>
        </p:nvSpPr>
        <p:spPr bwMode="auto">
          <a:xfrm>
            <a:off x="2890838" y="1179513"/>
            <a:ext cx="1985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endParaRPr lang="en-US" altLang="en-US">
              <a:solidFill>
                <a:prstClr val="black"/>
              </a:solidFill>
            </a:endParaRPr>
          </a:p>
        </p:txBody>
      </p:sp>
      <p:sp>
        <p:nvSpPr>
          <p:cNvPr id="6154" name="TextBox 12"/>
          <p:cNvSpPr txBox="1">
            <a:spLocks noChangeArrowheads="1"/>
          </p:cNvSpPr>
          <p:nvPr/>
        </p:nvSpPr>
        <p:spPr bwMode="auto">
          <a:xfrm>
            <a:off x="1860550" y="1104900"/>
            <a:ext cx="2286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algn="ctr" defTabSz="457200"/>
            <a:r>
              <a:rPr lang="en-US" altLang="en-US">
                <a:solidFill>
                  <a:prstClr val="black"/>
                </a:solidFill>
              </a:rPr>
              <a:t>Heart Failure</a:t>
            </a:r>
          </a:p>
          <a:p>
            <a:pPr algn="ctr" defTabSz="457200"/>
            <a:r>
              <a:rPr lang="en-US" altLang="en-US">
                <a:solidFill>
                  <a:prstClr val="black"/>
                </a:solidFill>
              </a:rPr>
              <a:t>(Underlying)* 7.0%</a:t>
            </a:r>
          </a:p>
        </p:txBody>
      </p:sp>
      <p:sp>
        <p:nvSpPr>
          <p:cNvPr id="6155" name="TextBox 13"/>
          <p:cNvSpPr txBox="1">
            <a:spLocks noChangeArrowheads="1"/>
          </p:cNvSpPr>
          <p:nvPr/>
        </p:nvSpPr>
        <p:spPr bwMode="auto">
          <a:xfrm>
            <a:off x="446088" y="1962150"/>
            <a:ext cx="25574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algn="ctr" defTabSz="457200"/>
            <a:r>
              <a:rPr lang="en-US" altLang="en-US">
                <a:solidFill>
                  <a:prstClr val="black"/>
                </a:solidFill>
              </a:rPr>
              <a:t>Hypertensive Diseases</a:t>
            </a:r>
          </a:p>
          <a:p>
            <a:pPr algn="ctr" defTabSz="457200"/>
            <a:r>
              <a:rPr lang="en-US" altLang="en-US">
                <a:solidFill>
                  <a:prstClr val="black"/>
                </a:solidFill>
              </a:rPr>
              <a:t>7.5%</a:t>
            </a:r>
          </a:p>
        </p:txBody>
      </p:sp>
      <p:cxnSp>
        <p:nvCxnSpPr>
          <p:cNvPr id="49" name="Straight Connector 48"/>
          <p:cNvCxnSpPr/>
          <p:nvPr/>
        </p:nvCxnSpPr>
        <p:spPr>
          <a:xfrm flipH="1">
            <a:off x="4408488" y="1751013"/>
            <a:ext cx="373062" cy="27781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3802063" y="1778000"/>
            <a:ext cx="68262" cy="42545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2681288" y="2447925"/>
            <a:ext cx="527050" cy="36830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flipH="1">
            <a:off x="3108325" y="4846638"/>
            <a:ext cx="450850" cy="13493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462213" y="4044950"/>
            <a:ext cx="587375"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6111875" y="3114675"/>
            <a:ext cx="387350" cy="3492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162" name="TextBox 31"/>
          <p:cNvSpPr txBox="1">
            <a:spLocks noChangeArrowheads="1"/>
          </p:cNvSpPr>
          <p:nvPr/>
        </p:nvSpPr>
        <p:spPr bwMode="auto">
          <a:xfrm>
            <a:off x="482600" y="5554663"/>
            <a:ext cx="83280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defTabSz="457200" fontAlgn="base">
              <a:spcBef>
                <a:spcPct val="0"/>
              </a:spcBef>
              <a:spcAft>
                <a:spcPct val="0"/>
              </a:spcAft>
              <a:defRPr>
                <a:solidFill>
                  <a:schemeClr val="tx1"/>
                </a:solidFill>
                <a:latin typeface="Arial" pitchFamily="34" charset="0"/>
              </a:defRPr>
            </a:lvl6pPr>
            <a:lvl7pPr marL="2971800" indent="-228600" defTabSz="457200" fontAlgn="base">
              <a:spcBef>
                <a:spcPct val="0"/>
              </a:spcBef>
              <a:spcAft>
                <a:spcPct val="0"/>
              </a:spcAft>
              <a:defRPr>
                <a:solidFill>
                  <a:schemeClr val="tx1"/>
                </a:solidFill>
                <a:latin typeface="Arial" pitchFamily="34" charset="0"/>
              </a:defRPr>
            </a:lvl7pPr>
            <a:lvl8pPr marL="3429000" indent="-228600" defTabSz="457200" fontAlgn="base">
              <a:spcBef>
                <a:spcPct val="0"/>
              </a:spcBef>
              <a:spcAft>
                <a:spcPct val="0"/>
              </a:spcAft>
              <a:defRPr>
                <a:solidFill>
                  <a:schemeClr val="tx1"/>
                </a:solidFill>
                <a:latin typeface="Arial" pitchFamily="34" charset="0"/>
              </a:defRPr>
            </a:lvl8pPr>
            <a:lvl9pPr marL="3886200" indent="-228600" defTabSz="457200" fontAlgn="base">
              <a:spcBef>
                <a:spcPct val="0"/>
              </a:spcBef>
              <a:spcAft>
                <a:spcPct val="0"/>
              </a:spcAft>
              <a:defRPr>
                <a:solidFill>
                  <a:schemeClr val="tx1"/>
                </a:solidFill>
                <a:latin typeface="Arial" pitchFamily="34" charset="0"/>
              </a:defRPr>
            </a:lvl9pPr>
          </a:lstStyle>
          <a:p>
            <a:pPr defTabSz="457200"/>
            <a:r>
              <a:rPr lang="en-US" altLang="en-US" sz="1200">
                <a:solidFill>
                  <a:prstClr val="black"/>
                </a:solidFill>
              </a:rPr>
              <a:t>* Heart failure as an underlying cause or otherwise mentioned on the death certificate accounted for 35% (281,437) of</a:t>
            </a:r>
          </a:p>
          <a:p>
            <a:pPr defTabSz="457200"/>
            <a:r>
              <a:rPr lang="en-US" altLang="en-US" sz="1200">
                <a:solidFill>
                  <a:prstClr val="black"/>
                </a:solidFill>
              </a:rPr>
              <a:t>  total CVD deaths.</a:t>
            </a:r>
          </a:p>
          <a:p>
            <a:pPr defTabSz="457200"/>
            <a:r>
              <a:rPr lang="en-US" altLang="en-US" sz="1200">
                <a:solidFill>
                  <a:prstClr val="black"/>
                </a:solidFill>
              </a:rPr>
              <a:t>  Total deaths = 811,940 (100%), including 3,415 due to congenital CVD defects. </a:t>
            </a:r>
          </a:p>
          <a:p>
            <a:pPr defTabSz="457200"/>
            <a:r>
              <a:rPr lang="en-US" altLang="en-US" sz="1200">
                <a:solidFill>
                  <a:prstClr val="black"/>
                </a:solidFill>
              </a:rPr>
              <a:t>  Compiled from Vital Statistics of the United States, NCHS.</a:t>
            </a:r>
          </a:p>
        </p:txBody>
      </p:sp>
    </p:spTree>
    <p:extLst>
      <p:ext uri="{BB962C8B-B14F-4D97-AF65-F5344CB8AC3E}">
        <p14:creationId xmlns:p14="http://schemas.microsoft.com/office/powerpoint/2010/main" val="437209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914400" y="609600"/>
            <a:ext cx="7620000" cy="457200"/>
          </a:xfrm>
          <a:prstGeom prst="rect">
            <a:avLst/>
          </a:prstGeom>
          <a:noFill/>
          <a:ln w="9525">
            <a:noFill/>
            <a:miter lim="800000"/>
            <a:headEnd/>
            <a:tailEnd/>
          </a:ln>
        </p:spPr>
        <p:txBody>
          <a:bodyPr>
            <a:spAutoFit/>
          </a:bodyPr>
          <a:lstStyle/>
          <a:p>
            <a:pPr>
              <a:spcBef>
                <a:spcPct val="50000"/>
              </a:spcBef>
            </a:pPr>
            <a:r>
              <a:rPr lang="en-US" sz="2400" b="1" dirty="0"/>
              <a:t>	Modifiable (potentially controllable) Risk Factors</a:t>
            </a:r>
          </a:p>
        </p:txBody>
      </p:sp>
      <p:sp>
        <p:nvSpPr>
          <p:cNvPr id="14339" name="Text Box 3"/>
          <p:cNvSpPr txBox="1">
            <a:spLocks noChangeArrowheads="1"/>
          </p:cNvSpPr>
          <p:nvPr/>
        </p:nvSpPr>
        <p:spPr bwMode="auto">
          <a:xfrm>
            <a:off x="381000" y="1524000"/>
            <a:ext cx="8229600" cy="4524315"/>
          </a:xfrm>
          <a:prstGeom prst="rect">
            <a:avLst/>
          </a:prstGeom>
          <a:noFill/>
          <a:ln w="9525">
            <a:noFill/>
            <a:miter lim="800000"/>
            <a:headEnd/>
            <a:tailEnd/>
          </a:ln>
        </p:spPr>
        <p:txBody>
          <a:bodyPr>
            <a:spAutoFit/>
          </a:bodyPr>
          <a:lstStyle/>
          <a:p>
            <a:pPr marL="342900" indent="-342900">
              <a:spcBef>
                <a:spcPct val="50000"/>
              </a:spcBef>
              <a:buClr>
                <a:srgbClr val="FFCC00"/>
              </a:buClr>
              <a:buFontTx/>
              <a:buChar char="•"/>
            </a:pPr>
            <a:r>
              <a:rPr lang="en-US" dirty="0"/>
              <a:t>Hyperlipidemia – most evidence specifically implicates hypercholesterolemia, the</a:t>
            </a:r>
          </a:p>
          <a:p>
            <a:pPr marL="342900" indent="-342900">
              <a:spcBef>
                <a:spcPct val="50000"/>
              </a:spcBef>
            </a:pPr>
            <a:r>
              <a:rPr lang="en-US" dirty="0"/>
              <a:t>	major component of total cholesterol that is associated with increased risk is LDL cholesterol.</a:t>
            </a:r>
          </a:p>
          <a:p>
            <a:pPr marL="342900" indent="-342900">
              <a:spcBef>
                <a:spcPct val="50000"/>
              </a:spcBef>
            </a:pPr>
            <a:endParaRPr lang="en-US" dirty="0"/>
          </a:p>
          <a:p>
            <a:pPr marL="342900" indent="-342900">
              <a:spcBef>
                <a:spcPct val="50000"/>
              </a:spcBef>
              <a:buClr>
                <a:srgbClr val="FFCC00"/>
              </a:buClr>
              <a:buFontTx/>
              <a:buChar char="•"/>
            </a:pPr>
            <a:r>
              <a:rPr lang="en-US" dirty="0"/>
              <a:t>Hypertension –(BP </a:t>
            </a:r>
            <a:r>
              <a:rPr lang="en-US" dirty="0">
                <a:sym typeface="Symbol" pitchFamily="18" charset="2"/>
              </a:rPr>
              <a:t>140/90 mmHg or on antihypertensive medication)</a:t>
            </a:r>
            <a:r>
              <a:rPr lang="en-US" dirty="0"/>
              <a:t>; severity as a risk factor increases with age; both systolic and diastolic levels are important in increasing risk; antihypertensive therapy reduces the incidence of atherosclerosis.  </a:t>
            </a:r>
          </a:p>
          <a:p>
            <a:pPr marL="342900" indent="-342900">
              <a:spcBef>
                <a:spcPct val="50000"/>
              </a:spcBef>
            </a:pPr>
            <a:endParaRPr lang="en-US" dirty="0"/>
          </a:p>
          <a:p>
            <a:pPr marL="342900" indent="-342900">
              <a:spcBef>
                <a:spcPct val="50000"/>
              </a:spcBef>
              <a:buClr>
                <a:srgbClr val="FFCC00"/>
              </a:buClr>
              <a:buFontTx/>
              <a:buChar char="•"/>
            </a:pPr>
            <a:r>
              <a:rPr lang="en-US" dirty="0"/>
              <a:t>Cigarette Smoking - </a:t>
            </a:r>
            <a:r>
              <a:rPr lang="en-US" u="sng" dirty="0"/>
              <a:t>&gt;</a:t>
            </a:r>
            <a:r>
              <a:rPr lang="en-US" dirty="0"/>
              <a:t> 1 package/day </a:t>
            </a:r>
            <a:r>
              <a:rPr lang="en-US" dirty="0">
                <a:sym typeface="Symbol" pitchFamily="18" charset="2"/>
              </a:rPr>
              <a:t> death rate from CHD by up to 200%; smoke cessation  risk by </a:t>
            </a:r>
            <a:r>
              <a:rPr lang="en-US" dirty="0">
                <a:cs typeface="Times New Roman" pitchFamily="18" charset="0"/>
                <a:sym typeface="Symbol" pitchFamily="18" charset="2"/>
              </a:rPr>
              <a:t>½; nicotine can produce calcification and necrosis of the arterial media.</a:t>
            </a:r>
          </a:p>
          <a:p>
            <a:pPr marL="342900" indent="-342900">
              <a:spcBef>
                <a:spcPct val="50000"/>
              </a:spcBef>
              <a:buClr>
                <a:srgbClr val="FFCC00"/>
              </a:buClr>
              <a:buFontTx/>
              <a:buChar char="•"/>
            </a:pPr>
            <a:r>
              <a:rPr lang="en-US" dirty="0"/>
              <a:t>Diabetes – incidence of MI 2X as high than nondiabetics; 100–fold </a:t>
            </a:r>
            <a:r>
              <a:rPr lang="en-US" dirty="0">
                <a:sym typeface="Symbol" pitchFamily="18" charset="2"/>
              </a:rPr>
              <a:t> risk of AS-induced gangrene; metabolic derangements, mainly hyperglycemia.</a:t>
            </a: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026"/>
          <p:cNvSpPr txBox="1">
            <a:spLocks noChangeArrowheads="1"/>
          </p:cNvSpPr>
          <p:nvPr/>
        </p:nvSpPr>
        <p:spPr bwMode="auto">
          <a:xfrm>
            <a:off x="914400" y="381000"/>
            <a:ext cx="7086600" cy="461665"/>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Times New Roman" pitchFamily="18" charset="0"/>
                <a:ea typeface="+mn-ea"/>
                <a:cs typeface="+mn-cs"/>
              </a:rPr>
              <a:t>	N</a:t>
            </a:r>
            <a:r>
              <a:rPr kumimoji="0" lang="en-US" sz="2400" b="1" i="0" u="none" strike="noStrike" kern="1200" cap="none" spc="0" normalizeH="0" baseline="0" noProof="0" dirty="0">
                <a:ln>
                  <a:noFill/>
                </a:ln>
                <a:solidFill>
                  <a:srgbClr val="FFFFFF"/>
                </a:solidFill>
                <a:effectLst/>
                <a:uLnTx/>
                <a:uFillTx/>
                <a:latin typeface="Times New Roman" pitchFamily="18" charset="0"/>
                <a:ea typeface="+mn-ea"/>
                <a:cs typeface="+mn-cs"/>
              </a:rPr>
              <a:t>onmodifiable (Constitutional) Risk Factors</a:t>
            </a:r>
          </a:p>
        </p:txBody>
      </p:sp>
      <p:sp>
        <p:nvSpPr>
          <p:cNvPr id="27651" name="Text Box 1027"/>
          <p:cNvSpPr txBox="1">
            <a:spLocks noChangeArrowheads="1"/>
          </p:cNvSpPr>
          <p:nvPr/>
        </p:nvSpPr>
        <p:spPr bwMode="auto">
          <a:xfrm>
            <a:off x="381000" y="1364188"/>
            <a:ext cx="8458200" cy="5493812"/>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r>
              <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rPr>
              <a:t>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Age –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sym typeface="Symbol" pitchFamily="18" charset="2"/>
              </a:rPr>
              <a:t>men 45 years; women 55 years);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death rates from IHD rise with each decade.</a:t>
            </a: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r>
              <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rPr>
              <a:t>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Gender – men are more prone to develop AS than women possibly due to estrogen; after menopause incidence in women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sym typeface="Symbol" pitchFamily="18" charset="2"/>
              </a:rPr>
              <a:t></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 .</a:t>
            </a: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endPar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endParaRP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r>
              <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rPr>
              <a:t>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Family history – familial clustering of  risk factors; hereditary genetic   derangements in lipoprotein metabolism.</a:t>
            </a: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r>
              <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rPr>
              <a:t> </a:t>
            </a: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r>
              <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rPr>
              <a:t>  </a:t>
            </a:r>
            <a:r>
              <a:rPr kumimoji="0" lang="en-US" sz="2000" b="0" i="0" u="none" strike="noStrike" kern="1200" cap="none" spc="0" normalizeH="0" baseline="0" noProof="0" dirty="0">
                <a:ln>
                  <a:noFill/>
                </a:ln>
                <a:solidFill>
                  <a:srgbClr val="FFFFFF"/>
                </a:solidFill>
                <a:effectLst/>
                <a:uLnTx/>
                <a:uFillTx/>
                <a:latin typeface="Times New Roman" pitchFamily="18" charset="0"/>
                <a:ea typeface="+mn-ea"/>
                <a:cs typeface="+mn-cs"/>
              </a:rPr>
              <a:t>Genetic Abnormalities – incidence in atherosclerosis is increased in individuals with familial hyperlipidemia; other risk factors such as hypertension and diabetes mellitus can also be inherited.</a:t>
            </a:r>
          </a:p>
          <a:p>
            <a:pPr marL="0" marR="0" lvl="0" indent="0" algn="l" defTabSz="914400" rtl="0" eaLnBrk="1" fontAlgn="base" latinLnBrk="0" hangingPunct="1">
              <a:lnSpc>
                <a:spcPct val="100000"/>
              </a:lnSpc>
              <a:spcBef>
                <a:spcPct val="50000"/>
              </a:spcBef>
              <a:spcAft>
                <a:spcPct val="0"/>
              </a:spcAft>
              <a:buClr>
                <a:srgbClr val="FFCC00"/>
              </a:buClr>
              <a:buSzTx/>
              <a:buFontTx/>
              <a:buChar char="•"/>
              <a:tabLst/>
              <a:defRPr/>
            </a:pPr>
            <a:endPar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endParaRPr>
          </a:p>
          <a:p>
            <a:pPr marL="0" marR="0" lvl="0" indent="0" algn="l" defTabSz="914400" rtl="0" eaLnBrk="1" fontAlgn="base" latinLnBrk="0" hangingPunct="1">
              <a:lnSpc>
                <a:spcPct val="100000"/>
              </a:lnSpc>
              <a:spcBef>
                <a:spcPct val="50000"/>
              </a:spcBef>
              <a:spcAft>
                <a:spcPct val="0"/>
              </a:spcAft>
              <a:buClr>
                <a:srgbClr val="FFCC00"/>
              </a:buClr>
              <a:buSzTx/>
              <a:buFontTx/>
              <a:buNone/>
              <a:tabLst/>
              <a:defRPr/>
            </a:pPr>
            <a:endParaRPr kumimoji="0" lang="en-US" sz="1800" b="0" i="0" u="none" strike="noStrike" kern="1200" cap="none" spc="0" normalizeH="0" baseline="0" noProof="0" dirty="0">
              <a:ln>
                <a:noFill/>
              </a:ln>
              <a:solidFill>
                <a:srgbClr val="FFFFFF"/>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170329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066800" y="381000"/>
            <a:ext cx="7162800" cy="457200"/>
          </a:xfrm>
          <a:prstGeom prst="rect">
            <a:avLst/>
          </a:prstGeom>
          <a:noFill/>
          <a:ln w="9525">
            <a:noFill/>
            <a:miter lim="800000"/>
            <a:headEnd/>
            <a:tailEnd/>
          </a:ln>
        </p:spPr>
        <p:txBody>
          <a:bodyPr>
            <a:spAutoFit/>
          </a:bodyPr>
          <a:lstStyle/>
          <a:p>
            <a:pPr>
              <a:spcBef>
                <a:spcPct val="50000"/>
              </a:spcBef>
            </a:pPr>
            <a:r>
              <a:rPr lang="en-US" sz="2400" dirty="0"/>
              <a:t>	    Additional Risk Factors</a:t>
            </a:r>
          </a:p>
        </p:txBody>
      </p:sp>
      <p:sp>
        <p:nvSpPr>
          <p:cNvPr id="16387" name="Text Box 3"/>
          <p:cNvSpPr txBox="1">
            <a:spLocks noChangeArrowheads="1"/>
          </p:cNvSpPr>
          <p:nvPr/>
        </p:nvSpPr>
        <p:spPr bwMode="auto">
          <a:xfrm>
            <a:off x="1104900" y="1371600"/>
            <a:ext cx="6248400" cy="5324535"/>
          </a:xfrm>
          <a:prstGeom prst="rect">
            <a:avLst/>
          </a:prstGeom>
          <a:noFill/>
          <a:ln w="9525">
            <a:noFill/>
            <a:miter lim="800000"/>
            <a:headEnd/>
            <a:tailEnd/>
          </a:ln>
        </p:spPr>
        <p:txBody>
          <a:bodyPr>
            <a:spAutoFit/>
          </a:bodyPr>
          <a:lstStyle/>
          <a:p>
            <a:pPr lvl="1">
              <a:spcBef>
                <a:spcPct val="50000"/>
              </a:spcBef>
              <a:buClr>
                <a:srgbClr val="FFCC00"/>
              </a:buClr>
              <a:buFontTx/>
              <a:buChar char="•"/>
            </a:pPr>
            <a:r>
              <a:rPr lang="en-US" dirty="0"/>
              <a:t>	</a:t>
            </a:r>
            <a:r>
              <a:rPr lang="en-US" sz="2000" dirty="0"/>
              <a:t>Homocysteine -  reacts with </a:t>
            </a:r>
            <a:r>
              <a:rPr lang="en-US" sz="2000" dirty="0" err="1"/>
              <a:t>apoB</a:t>
            </a:r>
            <a:r>
              <a:rPr lang="en-US" sz="2000" dirty="0"/>
              <a:t> to generate 	modified LDL species; decrease vitamin B12</a:t>
            </a:r>
          </a:p>
          <a:p>
            <a:pPr lvl="1">
              <a:spcBef>
                <a:spcPct val="50000"/>
              </a:spcBef>
              <a:buClr>
                <a:srgbClr val="FFCC00"/>
              </a:buClr>
              <a:buFontTx/>
              <a:buChar char="•"/>
            </a:pPr>
            <a:r>
              <a:rPr lang="en-US" dirty="0"/>
              <a:t> 	</a:t>
            </a:r>
            <a:r>
              <a:rPr lang="en-US" sz="2000" dirty="0"/>
              <a:t>Obesity</a:t>
            </a:r>
          </a:p>
          <a:p>
            <a:pPr lvl="1">
              <a:spcBef>
                <a:spcPct val="50000"/>
              </a:spcBef>
              <a:buClr>
                <a:srgbClr val="FFCC00"/>
              </a:buClr>
              <a:buFontTx/>
              <a:buChar char="•"/>
            </a:pPr>
            <a:r>
              <a:rPr lang="en-US" dirty="0"/>
              <a:t> 	</a:t>
            </a:r>
            <a:r>
              <a:rPr lang="en-US" sz="2000" dirty="0"/>
              <a:t>Personality type</a:t>
            </a:r>
          </a:p>
          <a:p>
            <a:pPr lvl="1">
              <a:spcBef>
                <a:spcPct val="50000"/>
              </a:spcBef>
              <a:buClr>
                <a:srgbClr val="FFCC00"/>
              </a:buClr>
              <a:buFontTx/>
              <a:buChar char="•"/>
            </a:pPr>
            <a:r>
              <a:rPr lang="en-US" dirty="0"/>
              <a:t> 	</a:t>
            </a:r>
            <a:r>
              <a:rPr lang="en-US" sz="2000" dirty="0"/>
              <a:t>Stress</a:t>
            </a:r>
          </a:p>
          <a:p>
            <a:pPr lvl="1">
              <a:spcBef>
                <a:spcPct val="50000"/>
              </a:spcBef>
              <a:buClr>
                <a:srgbClr val="FFCC00"/>
              </a:buClr>
              <a:buFontTx/>
              <a:buChar char="•"/>
            </a:pPr>
            <a:r>
              <a:rPr lang="en-US" dirty="0"/>
              <a:t> 	</a:t>
            </a:r>
            <a:r>
              <a:rPr lang="en-US" sz="2000" dirty="0"/>
              <a:t>Postmenopausal estrogen deficiency</a:t>
            </a:r>
          </a:p>
          <a:p>
            <a:pPr lvl="1">
              <a:spcBef>
                <a:spcPct val="50000"/>
              </a:spcBef>
              <a:buClr>
                <a:srgbClr val="FFCC00"/>
              </a:buClr>
              <a:buFontTx/>
              <a:buChar char="•"/>
            </a:pPr>
            <a:r>
              <a:rPr lang="en-US" dirty="0"/>
              <a:t> 	</a:t>
            </a:r>
            <a:r>
              <a:rPr lang="en-US" sz="2000" dirty="0"/>
              <a:t>Alcohol</a:t>
            </a:r>
          </a:p>
          <a:p>
            <a:pPr lvl="1">
              <a:spcBef>
                <a:spcPct val="50000"/>
              </a:spcBef>
              <a:buClr>
                <a:srgbClr val="FFCC00"/>
              </a:buClr>
              <a:buFontTx/>
              <a:buChar char="•"/>
            </a:pPr>
            <a:r>
              <a:rPr lang="en-US" dirty="0"/>
              <a:t> 	</a:t>
            </a:r>
            <a:r>
              <a:rPr lang="en-US" sz="2000" dirty="0"/>
              <a:t>Lipoprotein (a)</a:t>
            </a:r>
          </a:p>
          <a:p>
            <a:pPr lvl="1">
              <a:spcBef>
                <a:spcPct val="50000"/>
              </a:spcBef>
              <a:buClr>
                <a:srgbClr val="FFCC00"/>
              </a:buClr>
              <a:buFontTx/>
              <a:buChar char="•"/>
            </a:pPr>
            <a:r>
              <a:rPr lang="en-US" sz="2000" dirty="0"/>
              <a:t>      Low HDL Cholesterol (&lt; 40 mg/dL) </a:t>
            </a:r>
          </a:p>
          <a:p>
            <a:pPr lvl="1">
              <a:spcBef>
                <a:spcPct val="50000"/>
              </a:spcBef>
              <a:buClr>
                <a:srgbClr val="FFCC00"/>
              </a:buClr>
              <a:buFontTx/>
              <a:buChar char="•"/>
            </a:pPr>
            <a:r>
              <a:rPr lang="en-US" sz="2000" dirty="0"/>
              <a:t>     C-Reactive Protein (&gt; 3mg/L = high risk)</a:t>
            </a:r>
          </a:p>
          <a:p>
            <a:pPr lvl="1">
              <a:spcBef>
                <a:spcPct val="50000"/>
              </a:spcBef>
              <a:buClr>
                <a:srgbClr val="FFCC00"/>
              </a:buClr>
              <a:buFontTx/>
              <a:buChar char="•"/>
            </a:pPr>
            <a:endParaRPr lang="en-US" sz="2000" dirty="0"/>
          </a:p>
          <a:p>
            <a:pPr lvl="1">
              <a:spcBef>
                <a:spcPct val="50000"/>
              </a:spcBef>
              <a:buClr>
                <a:srgbClr val="FFCC00"/>
              </a:buClr>
              <a:buFontTx/>
              <a:buChar char="•"/>
            </a:pP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685800"/>
            <a:ext cx="8229600" cy="838200"/>
          </a:xfrm>
        </p:spPr>
        <p:txBody>
          <a:bodyPr/>
          <a:lstStyle/>
          <a:p>
            <a:r>
              <a:rPr lang="en-US" sz="4000"/>
              <a:t>C- REACTIVE PROTEIN</a:t>
            </a:r>
          </a:p>
        </p:txBody>
      </p:sp>
      <p:sp>
        <p:nvSpPr>
          <p:cNvPr id="30723" name="Rectangle 3"/>
          <p:cNvSpPr>
            <a:spLocks noGrp="1" noChangeArrowheads="1"/>
          </p:cNvSpPr>
          <p:nvPr>
            <p:ph type="body" idx="1"/>
          </p:nvPr>
        </p:nvSpPr>
        <p:spPr>
          <a:xfrm>
            <a:off x="453887" y="1905000"/>
            <a:ext cx="8229600" cy="3997325"/>
          </a:xfrm>
        </p:spPr>
        <p:txBody>
          <a:bodyPr/>
          <a:lstStyle/>
          <a:p>
            <a:pPr marL="0" indent="0">
              <a:buNone/>
            </a:pPr>
            <a:endParaRPr lang="en-US" sz="2400" dirty="0"/>
          </a:p>
          <a:p>
            <a:pPr marL="342900" marR="0" lvl="0" indent="-342900" algn="l" defTabSz="914400" rtl="0" eaLnBrk="1" fontAlgn="base" latinLnBrk="0" hangingPunct="1">
              <a:lnSpc>
                <a:spcPct val="100000"/>
              </a:lnSpc>
              <a:spcBef>
                <a:spcPct val="20000"/>
              </a:spcBef>
              <a:spcAft>
                <a:spcPct val="0"/>
              </a:spcAft>
              <a:buClr>
                <a:srgbClr val="EEC85E"/>
              </a:buClr>
              <a:buSzPct val="70000"/>
              <a:buFont typeface="Wingdings" pitchFamily="80" charset="2"/>
              <a:buChar char="u"/>
              <a:tabLst/>
              <a:defRPr/>
            </a:pPr>
            <a:r>
              <a:rPr kumimoji="0" lang="en-US" sz="2400" b="0" i="0" u="none" strike="noStrike" kern="0" cap="none" spc="0" normalizeH="0" baseline="0" noProof="0" dirty="0">
                <a:ln>
                  <a:noFill/>
                </a:ln>
                <a:solidFill>
                  <a:srgbClr val="EAEAEA"/>
                </a:solidFill>
                <a:effectLst>
                  <a:outerShdw blurRad="38100" dist="38100" dir="2700000" algn="tl">
                    <a:srgbClr val="000000"/>
                  </a:outerShdw>
                </a:effectLst>
                <a:uLnTx/>
                <a:uFillTx/>
                <a:latin typeface="Verdana"/>
                <a:ea typeface="+mn-ea"/>
                <a:cs typeface="+mn-cs"/>
              </a:rPr>
              <a:t>Provides a stable plasma biomarker for low-grade systemic inflammation</a:t>
            </a:r>
          </a:p>
          <a:p>
            <a:pPr marL="0" marR="0" lvl="0" indent="0" algn="l" defTabSz="914400" rtl="0" eaLnBrk="1" fontAlgn="base" latinLnBrk="0" hangingPunct="1">
              <a:lnSpc>
                <a:spcPct val="100000"/>
              </a:lnSpc>
              <a:spcBef>
                <a:spcPct val="20000"/>
              </a:spcBef>
              <a:spcAft>
                <a:spcPct val="0"/>
              </a:spcAft>
              <a:buClr>
                <a:srgbClr val="EEC85E"/>
              </a:buClr>
              <a:buSzPct val="70000"/>
              <a:buNone/>
              <a:tabLst/>
              <a:defRPr/>
            </a:pPr>
            <a:endParaRPr kumimoji="0" lang="en-US" sz="2400" b="0" i="0" u="none" strike="noStrike" kern="0" cap="none" spc="0" normalizeH="0" baseline="0" noProof="0" dirty="0">
              <a:ln>
                <a:noFill/>
              </a:ln>
              <a:solidFill>
                <a:srgbClr val="EAEAEA"/>
              </a:solidFill>
              <a:effectLst>
                <a:outerShdw blurRad="38100" dist="38100" dir="2700000" algn="tl">
                  <a:srgbClr val="000000"/>
                </a:outerShdw>
              </a:effectLst>
              <a:uLnTx/>
              <a:uFillTx/>
              <a:latin typeface="Verdana"/>
              <a:ea typeface="+mn-ea"/>
              <a:cs typeface="+mn-cs"/>
            </a:endParaRPr>
          </a:p>
          <a:p>
            <a:r>
              <a:rPr lang="en-US" sz="2400" dirty="0"/>
              <a:t>Produced predominantly in the liver as part of the acute phase response</a:t>
            </a:r>
          </a:p>
          <a:p>
            <a:pPr marL="0" indent="0">
              <a:buNone/>
            </a:pPr>
            <a:endParaRPr lang="en-US" sz="2400" dirty="0"/>
          </a:p>
          <a:p>
            <a:r>
              <a:rPr lang="en-US" sz="2400" dirty="0"/>
              <a:t>Expressed in smooth muscle cells within diseased atherosclerotic arteries</a:t>
            </a:r>
          </a:p>
        </p:txBody>
      </p:sp>
    </p:spTree>
    <p:extLst>
      <p:ext uri="{BB962C8B-B14F-4D97-AF65-F5344CB8AC3E}">
        <p14:creationId xmlns:p14="http://schemas.microsoft.com/office/powerpoint/2010/main" val="653179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srgbClr val="FFFFFF"/>
              </a:solidFill>
              <a:latin typeface="Arial"/>
            </a:endParaRPr>
          </a:p>
        </p:txBody>
      </p:sp>
      <p:pic>
        <p:nvPicPr>
          <p:cNvPr id="8" name="Picture 7" descr="Scan of a human brain in a neurology clinic">
            <a:extLst>
              <a:ext uri="{FF2B5EF4-FFF2-40B4-BE49-F238E27FC236}">
                <a16:creationId xmlns:a16="http://schemas.microsoft.com/office/drawing/2014/main" id="{990E4300-23E3-91F1-DF25-66E40A206502}"/>
              </a:ext>
            </a:extLst>
          </p:cNvPr>
          <p:cNvPicPr>
            <a:picLocks noChangeAspect="1"/>
          </p:cNvPicPr>
          <p:nvPr/>
        </p:nvPicPr>
        <p:blipFill rotWithShape="1">
          <a:blip r:embed="rId2"/>
          <a:srcRect l="40833"/>
          <a:stretch/>
        </p:blipFill>
        <p:spPr>
          <a:xfrm>
            <a:off x="0" y="609601"/>
            <a:ext cx="3451861" cy="5486400"/>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8" y="857249"/>
            <a:ext cx="5086352" cy="17145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srgbClr val="FFFFFF"/>
              </a:solidFill>
              <a:latin typeface="Arial"/>
            </a:endParaRPr>
          </a:p>
        </p:txBody>
      </p:sp>
      <p:sp>
        <p:nvSpPr>
          <p:cNvPr id="10" name="TextBox 9">
            <a:extLst>
              <a:ext uri="{FF2B5EF4-FFF2-40B4-BE49-F238E27FC236}">
                <a16:creationId xmlns:a16="http://schemas.microsoft.com/office/drawing/2014/main" id="{BA581278-B3EF-EEE1-BCB1-BFD69BDAA862}"/>
              </a:ext>
            </a:extLst>
          </p:cNvPr>
          <p:cNvSpPr txBox="1"/>
          <p:nvPr/>
        </p:nvSpPr>
        <p:spPr>
          <a:xfrm>
            <a:off x="3550920" y="857248"/>
            <a:ext cx="5463540" cy="4914902"/>
          </a:xfrm>
          <a:prstGeom prst="rect">
            <a:avLst/>
          </a:prstGeom>
        </p:spPr>
        <p:txBody>
          <a:bodyPr vert="horz" lIns="68580" tIns="34290" rIns="68580" bIns="34290" rtlCol="0" anchor="ctr">
            <a:noAutofit/>
          </a:bodyPr>
          <a:lstStyle/>
          <a:p>
            <a:pPr indent="-171450" defTabSz="685800" fontAlgn="auto">
              <a:lnSpc>
                <a:spcPct val="90000"/>
              </a:lnSpc>
              <a:spcBef>
                <a:spcPts val="0"/>
              </a:spcBef>
              <a:spcAft>
                <a:spcPts val="450"/>
              </a:spcAft>
              <a:buFont typeface="Arial" panose="020B0604020202020204" pitchFamily="34" charset="0"/>
              <a:buChar char="•"/>
            </a:pPr>
            <a:r>
              <a:rPr lang="en-US" dirty="0">
                <a:latin typeface="Arial"/>
              </a:rPr>
              <a:t>There are also several medical conditions that are not directly related to your heart and blood vessels that may increase your risk for coronary heart disease, such as:</a:t>
            </a: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hlinkClick r:id="rId3" tooltip="Definition of autoimmune "/>
              </a:rPr>
              <a:t> autoimmune </a:t>
            </a:r>
            <a:r>
              <a:rPr lang="en-US" b="1" dirty="0">
                <a:latin typeface="Arial"/>
              </a:rPr>
              <a:t>and inflammatory diseases,</a:t>
            </a:r>
            <a:r>
              <a:rPr lang="en-US" dirty="0">
                <a:latin typeface="Arial"/>
              </a:rPr>
              <a:t> such as Crohn’s disease, ulcerative colitis, psoriasis, lichen planus, pemphigus, histiocytosis, lupus erythematosus, and rheumatoid arthritis</a:t>
            </a: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hlinkClick r:id="rId3" tooltip="Definition of Chronic kidney disease "/>
              </a:rPr>
              <a:t> Chronic kidney disease</a:t>
            </a:r>
            <a:endParaRPr lang="en-US" dirty="0">
              <a:latin typeface="Arial"/>
            </a:endParaRP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hlinkClick r:id="rId4"/>
              </a:rPr>
              <a:t>Diabetes</a:t>
            </a:r>
            <a:endParaRPr lang="en-US" dirty="0">
              <a:latin typeface="Arial"/>
            </a:endParaRP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hlinkClick r:id="rId5"/>
              </a:rPr>
              <a:t>HIV/AIDS</a:t>
            </a:r>
            <a:r>
              <a:rPr lang="en-US" b="1" dirty="0">
                <a:latin typeface="Arial"/>
              </a:rPr>
              <a:t>,</a:t>
            </a:r>
            <a:r>
              <a:rPr lang="en-US" dirty="0">
                <a:latin typeface="Arial"/>
              </a:rPr>
              <a:t> especially among older adults. Part of the risk might be due to side effects of HIV treatments.</a:t>
            </a: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rPr>
              <a:t>Mental health conditions,</a:t>
            </a:r>
            <a:r>
              <a:rPr lang="en-US" dirty="0">
                <a:latin typeface="Arial"/>
              </a:rPr>
              <a:t> including anxiety, depression, and post-traumatic stress disorder (PTSD)</a:t>
            </a: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hlinkClick r:id="rId6"/>
              </a:rPr>
              <a:t>Metabolic syndrome</a:t>
            </a:r>
            <a:endParaRPr lang="en-US" dirty="0">
              <a:latin typeface="Arial"/>
            </a:endParaRP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rPr>
              <a:t>Overweight and obesity</a:t>
            </a:r>
            <a:endParaRPr lang="en-US" dirty="0">
              <a:latin typeface="Arial"/>
            </a:endParaRPr>
          </a:p>
          <a:p>
            <a:pPr indent="-171450" defTabSz="685800" fontAlgn="auto">
              <a:lnSpc>
                <a:spcPct val="90000"/>
              </a:lnSpc>
              <a:spcBef>
                <a:spcPts val="0"/>
              </a:spcBef>
              <a:spcAft>
                <a:spcPts val="450"/>
              </a:spcAft>
              <a:buFont typeface="Arial" panose="020B0604020202020204" pitchFamily="34" charset="0"/>
              <a:buChar char="•"/>
            </a:pPr>
            <a:r>
              <a:rPr lang="en-US" b="1" dirty="0">
                <a:latin typeface="Arial"/>
              </a:rPr>
              <a:t>Sleep disorders,</a:t>
            </a:r>
            <a:r>
              <a:rPr lang="en-US" dirty="0">
                <a:latin typeface="Arial"/>
              </a:rPr>
              <a:t> such as </a:t>
            </a:r>
            <a:r>
              <a:rPr lang="en-US" dirty="0">
                <a:latin typeface="Arial"/>
                <a:hlinkClick r:id="rId7"/>
              </a:rPr>
              <a:t>sleep apnea</a:t>
            </a:r>
            <a:r>
              <a:rPr lang="en-US" dirty="0">
                <a:latin typeface="Arial"/>
              </a:rPr>
              <a:t> or </a:t>
            </a:r>
            <a:r>
              <a:rPr lang="en-US" dirty="0">
                <a:latin typeface="Arial"/>
                <a:hlinkClick r:id="rId8"/>
              </a:rPr>
              <a:t>sleep deprivation and deficiency</a:t>
            </a:r>
            <a:endParaRPr lang="en-US" dirty="0">
              <a:latin typeface="Arial"/>
            </a:endParaRPr>
          </a:p>
        </p:txBody>
      </p:sp>
    </p:spTree>
    <p:extLst>
      <p:ext uri="{BB962C8B-B14F-4D97-AF65-F5344CB8AC3E}">
        <p14:creationId xmlns:p14="http://schemas.microsoft.com/office/powerpoint/2010/main" val="575776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2438400" y="380184"/>
            <a:ext cx="3924300" cy="457200"/>
          </a:xfrm>
          <a:prstGeom prst="rect">
            <a:avLst/>
          </a:prstGeom>
          <a:noFill/>
          <a:ln w="9525">
            <a:noFill/>
            <a:miter lim="800000"/>
            <a:headEnd/>
            <a:tailEnd/>
          </a:ln>
        </p:spPr>
        <p:txBody>
          <a:bodyPr wrap="square">
            <a:spAutoFit/>
          </a:bodyPr>
          <a:lstStyle/>
          <a:p>
            <a:pPr>
              <a:spcBef>
                <a:spcPct val="50000"/>
              </a:spcBef>
            </a:pPr>
            <a:r>
              <a:rPr lang="en-US" sz="2400" dirty="0"/>
              <a:t> Treatment of Atherosclerosis</a:t>
            </a:r>
          </a:p>
        </p:txBody>
      </p:sp>
      <p:sp>
        <p:nvSpPr>
          <p:cNvPr id="29699" name="Text Box 3"/>
          <p:cNvSpPr txBox="1">
            <a:spLocks noChangeArrowheads="1"/>
          </p:cNvSpPr>
          <p:nvPr/>
        </p:nvSpPr>
        <p:spPr bwMode="auto">
          <a:xfrm>
            <a:off x="685800" y="1295400"/>
            <a:ext cx="3124200" cy="4093428"/>
          </a:xfrm>
          <a:prstGeom prst="rect">
            <a:avLst/>
          </a:prstGeom>
          <a:noFill/>
          <a:ln w="9525">
            <a:noFill/>
            <a:miter lim="800000"/>
            <a:headEnd/>
            <a:tailEnd/>
          </a:ln>
        </p:spPr>
        <p:txBody>
          <a:bodyPr wrap="square">
            <a:spAutoFit/>
          </a:bodyPr>
          <a:lstStyle/>
          <a:p>
            <a:pPr>
              <a:spcBef>
                <a:spcPct val="50000"/>
              </a:spcBef>
              <a:buClr>
                <a:srgbClr val="FFCC00"/>
              </a:buClr>
            </a:pPr>
            <a:r>
              <a:rPr lang="en-US" sz="2000" u="sng" dirty="0"/>
              <a:t>Heart-healthy lifestyle</a:t>
            </a:r>
          </a:p>
          <a:p>
            <a:pPr lvl="1">
              <a:spcBef>
                <a:spcPct val="50000"/>
              </a:spcBef>
              <a:buClr>
                <a:srgbClr val="FFCC00"/>
              </a:buClr>
              <a:buFontTx/>
              <a:buChar char="•"/>
            </a:pPr>
            <a:r>
              <a:rPr lang="en-US" sz="2000" dirty="0"/>
              <a:t>Heart healthy diet</a:t>
            </a:r>
          </a:p>
          <a:p>
            <a:pPr lvl="1">
              <a:spcBef>
                <a:spcPct val="50000"/>
              </a:spcBef>
              <a:buClr>
                <a:srgbClr val="FFCC00"/>
              </a:buClr>
              <a:buFontTx/>
              <a:buChar char="•"/>
            </a:pPr>
            <a:r>
              <a:rPr lang="en-US" sz="2000" dirty="0"/>
              <a:t>Physical activity</a:t>
            </a:r>
          </a:p>
          <a:p>
            <a:pPr lvl="1">
              <a:spcBef>
                <a:spcPct val="50000"/>
              </a:spcBef>
              <a:buClr>
                <a:srgbClr val="FFCC00"/>
              </a:buClr>
              <a:buFontTx/>
              <a:buChar char="•"/>
            </a:pPr>
            <a:r>
              <a:rPr lang="en-US" sz="2000" dirty="0"/>
              <a:t>Healthy weight</a:t>
            </a:r>
          </a:p>
          <a:p>
            <a:pPr lvl="1">
              <a:spcBef>
                <a:spcPct val="50000"/>
              </a:spcBef>
              <a:buClr>
                <a:srgbClr val="FFCC00"/>
              </a:buClr>
              <a:buFontTx/>
              <a:buChar char="•"/>
            </a:pPr>
            <a:r>
              <a:rPr lang="en-US" sz="2000" dirty="0"/>
              <a:t>Manage stress</a:t>
            </a:r>
          </a:p>
          <a:p>
            <a:pPr lvl="1">
              <a:spcBef>
                <a:spcPct val="50000"/>
              </a:spcBef>
              <a:buClr>
                <a:srgbClr val="FFCC00"/>
              </a:buClr>
              <a:buFontTx/>
              <a:buChar char="•"/>
            </a:pPr>
            <a:r>
              <a:rPr lang="en-US" sz="2000" dirty="0"/>
              <a:t>Quit smoking</a:t>
            </a:r>
          </a:p>
          <a:p>
            <a:pPr lvl="1">
              <a:spcBef>
                <a:spcPct val="50000"/>
              </a:spcBef>
              <a:buClr>
                <a:srgbClr val="FFCC00"/>
              </a:buClr>
              <a:buFontTx/>
              <a:buChar char="•"/>
            </a:pPr>
            <a:r>
              <a:rPr lang="en-US" sz="2000" dirty="0"/>
              <a:t>Quality sleep</a:t>
            </a:r>
          </a:p>
          <a:p>
            <a:pPr lvl="1">
              <a:spcBef>
                <a:spcPct val="50000"/>
              </a:spcBef>
              <a:buClr>
                <a:srgbClr val="FFCC00"/>
              </a:buClr>
              <a:buFontTx/>
              <a:buChar char="•"/>
            </a:pPr>
            <a:endParaRPr lang="en-US" sz="2000" dirty="0"/>
          </a:p>
          <a:p>
            <a:pPr>
              <a:spcBef>
                <a:spcPct val="50000"/>
              </a:spcBef>
              <a:buClr>
                <a:srgbClr val="FFCC00"/>
              </a:buClr>
            </a:pPr>
            <a:endParaRPr lang="en-US" sz="2000" dirty="0"/>
          </a:p>
        </p:txBody>
      </p:sp>
      <p:sp>
        <p:nvSpPr>
          <p:cNvPr id="3" name="TextBox 2">
            <a:extLst>
              <a:ext uri="{FF2B5EF4-FFF2-40B4-BE49-F238E27FC236}">
                <a16:creationId xmlns:a16="http://schemas.microsoft.com/office/drawing/2014/main" id="{647EBC61-9288-336F-AC14-8218BDF689BD}"/>
              </a:ext>
            </a:extLst>
          </p:cNvPr>
          <p:cNvSpPr txBox="1"/>
          <p:nvPr/>
        </p:nvSpPr>
        <p:spPr>
          <a:xfrm>
            <a:off x="4691332" y="1143000"/>
            <a:ext cx="3771900" cy="5078313"/>
          </a:xfrm>
          <a:prstGeom prst="rect">
            <a:avLst/>
          </a:prstGeom>
          <a:noFill/>
        </p:spPr>
        <p:txBody>
          <a:bodyPr wrap="square" rtlCol="0">
            <a:spAutoFit/>
          </a:bodyPr>
          <a:lstStyle/>
          <a:p>
            <a:r>
              <a:rPr lang="en-US" dirty="0"/>
              <a:t>	</a:t>
            </a:r>
            <a:r>
              <a:rPr lang="en-US" u="sng" dirty="0"/>
              <a:t>Medicines</a:t>
            </a:r>
          </a:p>
          <a:p>
            <a:r>
              <a:rPr lang="en-US" dirty="0"/>
              <a:t>Ace inhibitors and beta blockers</a:t>
            </a:r>
          </a:p>
          <a:p>
            <a:pPr marL="285750" indent="-285750">
              <a:buFont typeface="Arial" panose="020B0604020202020204" pitchFamily="34" charset="0"/>
              <a:buChar char="•"/>
            </a:pPr>
            <a:r>
              <a:rPr lang="en-US" dirty="0"/>
              <a:t>Lowers BP (Propranolol)</a:t>
            </a:r>
          </a:p>
          <a:p>
            <a:pPr marL="285750" indent="-285750">
              <a:buFont typeface="Arial" panose="020B0604020202020204" pitchFamily="34" charset="0"/>
              <a:buChar char="•"/>
            </a:pPr>
            <a:endParaRPr lang="en-US" dirty="0"/>
          </a:p>
          <a:p>
            <a:r>
              <a:rPr lang="en-US" dirty="0"/>
              <a:t>Antiplatelet or anti-clotting</a:t>
            </a:r>
          </a:p>
          <a:p>
            <a:pPr marL="285750" indent="-285750">
              <a:buFont typeface="Arial" panose="020B0604020202020204" pitchFamily="34" charset="0"/>
              <a:buChar char="•"/>
            </a:pPr>
            <a:r>
              <a:rPr lang="en-US" dirty="0"/>
              <a:t>  risk of complications (Plavix)</a:t>
            </a:r>
          </a:p>
          <a:p>
            <a:pPr marL="285750" indent="-285750">
              <a:buFont typeface="Arial" panose="020B0604020202020204" pitchFamily="34" charset="0"/>
              <a:buChar char="•"/>
            </a:pPr>
            <a:endParaRPr lang="en-US" dirty="0"/>
          </a:p>
          <a:p>
            <a:r>
              <a:rPr lang="en-US" dirty="0"/>
              <a:t>Calcium channel blockers</a:t>
            </a:r>
          </a:p>
          <a:p>
            <a:pPr marL="285750" indent="-285750">
              <a:buFont typeface="Arial" panose="020B0604020202020204" pitchFamily="34" charset="0"/>
              <a:buChar char="•"/>
            </a:pPr>
            <a:r>
              <a:rPr lang="en-US" dirty="0"/>
              <a:t>Lowers BP (Amlodipine) </a:t>
            </a:r>
          </a:p>
          <a:p>
            <a:pPr marL="285750" indent="-285750">
              <a:buFont typeface="Arial" panose="020B0604020202020204" pitchFamily="34" charset="0"/>
              <a:buChar char="•"/>
            </a:pPr>
            <a:endParaRPr lang="en-US" dirty="0"/>
          </a:p>
          <a:p>
            <a:r>
              <a:rPr lang="en-US" dirty="0"/>
              <a:t>Nitrates</a:t>
            </a:r>
          </a:p>
          <a:p>
            <a:pPr marL="285750" indent="-285750">
              <a:buFont typeface="Arial" panose="020B0604020202020204" pitchFamily="34" charset="0"/>
              <a:buChar char="•"/>
            </a:pPr>
            <a:r>
              <a:rPr lang="en-US" dirty="0"/>
              <a:t>Dilates coronaries (nitroglycerin)</a:t>
            </a:r>
          </a:p>
          <a:p>
            <a:pPr marL="285750" indent="-285750">
              <a:buFont typeface="Arial" panose="020B0604020202020204" pitchFamily="34" charset="0"/>
              <a:buChar char="•"/>
            </a:pPr>
            <a:endParaRPr lang="en-US" dirty="0"/>
          </a:p>
          <a:p>
            <a:r>
              <a:rPr lang="en-US" dirty="0"/>
              <a:t>Metformin</a:t>
            </a:r>
          </a:p>
          <a:p>
            <a:pPr marL="285750" indent="-285750">
              <a:buFont typeface="Arial" panose="020B0604020202020204" pitchFamily="34" charset="0"/>
              <a:buChar char="•"/>
            </a:pPr>
            <a:r>
              <a:rPr lang="en-US" dirty="0"/>
              <a:t>Controls plaque buildup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Statins</a:t>
            </a:r>
          </a:p>
          <a:p>
            <a:pPr marL="285750" indent="-285750">
              <a:buFont typeface="Arial" panose="020B0604020202020204" pitchFamily="34" charset="0"/>
              <a:buChar char="•"/>
            </a:pPr>
            <a:r>
              <a:rPr lang="en-US" dirty="0"/>
              <a:t>Lowers cholesterol (lovastatin)  </a:t>
            </a:r>
          </a:p>
        </p:txBody>
      </p:sp>
      <p:cxnSp>
        <p:nvCxnSpPr>
          <p:cNvPr id="5" name="Straight Arrow Connector 4">
            <a:extLst>
              <a:ext uri="{FF2B5EF4-FFF2-40B4-BE49-F238E27FC236}">
                <a16:creationId xmlns:a16="http://schemas.microsoft.com/office/drawing/2014/main" id="{B8BE1FAA-D23E-DD2E-FD63-94A0A5C0DA5C}"/>
              </a:ext>
            </a:extLst>
          </p:cNvPr>
          <p:cNvCxnSpPr>
            <a:cxnSpLocks/>
          </p:cNvCxnSpPr>
          <p:nvPr/>
        </p:nvCxnSpPr>
        <p:spPr bwMode="auto">
          <a:xfrm>
            <a:off x="5105400" y="2590800"/>
            <a:ext cx="0" cy="228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tent procedure">
            <a:extLst>
              <a:ext uri="{FF2B5EF4-FFF2-40B4-BE49-F238E27FC236}">
                <a16:creationId xmlns:a16="http://schemas.microsoft.com/office/drawing/2014/main" id="{97AB3FC9-3169-061F-20A1-7A8D935EE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251" y="3781425"/>
            <a:ext cx="4349749"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0C7EFCE9-631D-13B2-F468-7138A05AA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25"/>
            <a:ext cx="5008789" cy="349755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6D1A94F-ED46-EA39-830B-9B8F7E73AE1B}"/>
              </a:ext>
            </a:extLst>
          </p:cNvPr>
          <p:cNvSpPr txBox="1"/>
          <p:nvPr/>
        </p:nvSpPr>
        <p:spPr>
          <a:xfrm>
            <a:off x="5638800" y="762000"/>
            <a:ext cx="3238500" cy="1200329"/>
          </a:xfrm>
          <a:prstGeom prst="rect">
            <a:avLst/>
          </a:prstGeom>
          <a:noFill/>
        </p:spPr>
        <p:txBody>
          <a:bodyPr wrap="square">
            <a:spAutoFit/>
          </a:bodyPr>
          <a:lstStyle/>
          <a:p>
            <a:pPr algn="l"/>
            <a:r>
              <a:rPr lang="en-US" sz="3600" b="0" i="0" u="none" strike="noStrike" dirty="0">
                <a:solidFill>
                  <a:schemeClr val="tx1"/>
                </a:solidFill>
                <a:effectLst/>
                <a:latin typeface="Merriweather" panose="00000500000000000000" pitchFamily="2" charset="0"/>
              </a:rPr>
              <a:t>Procedures or Surgeries</a:t>
            </a:r>
          </a:p>
        </p:txBody>
      </p:sp>
      <p:sp>
        <p:nvSpPr>
          <p:cNvPr id="5" name="TextBox 4">
            <a:extLst>
              <a:ext uri="{FF2B5EF4-FFF2-40B4-BE49-F238E27FC236}">
                <a16:creationId xmlns:a16="http://schemas.microsoft.com/office/drawing/2014/main" id="{BF6ED150-38A4-AD16-F3BC-F0E44B51C519}"/>
              </a:ext>
            </a:extLst>
          </p:cNvPr>
          <p:cNvSpPr txBox="1"/>
          <p:nvPr/>
        </p:nvSpPr>
        <p:spPr>
          <a:xfrm>
            <a:off x="76200" y="3743325"/>
            <a:ext cx="4572000" cy="400110"/>
          </a:xfrm>
          <a:prstGeom prst="rect">
            <a:avLst/>
          </a:prstGeom>
          <a:noFill/>
        </p:spPr>
        <p:txBody>
          <a:bodyPr wrap="square">
            <a:spAutoFit/>
          </a:bodyPr>
          <a:lstStyle/>
          <a:p>
            <a:r>
              <a:rPr lang="en-US" sz="2000" b="1" i="0" u="none" strike="noStrike" dirty="0">
                <a:solidFill>
                  <a:srgbClr val="0051A8"/>
                </a:solidFill>
                <a:effectLst/>
                <a:latin typeface="Open Sans" panose="020B0606030504020204" pitchFamily="34" charset="0"/>
                <a:hlinkClick r:id="rId4"/>
              </a:rPr>
              <a:t>Coronary artery bypass grafting</a:t>
            </a:r>
            <a:endParaRPr lang="en-US" sz="2000" dirty="0"/>
          </a:p>
        </p:txBody>
      </p:sp>
      <p:sp>
        <p:nvSpPr>
          <p:cNvPr id="8" name="TextBox 7">
            <a:extLst>
              <a:ext uri="{FF2B5EF4-FFF2-40B4-BE49-F238E27FC236}">
                <a16:creationId xmlns:a16="http://schemas.microsoft.com/office/drawing/2014/main" id="{AEA1158A-99A3-319D-1DF7-4F5D040139A7}"/>
              </a:ext>
            </a:extLst>
          </p:cNvPr>
          <p:cNvSpPr txBox="1"/>
          <p:nvPr/>
        </p:nvSpPr>
        <p:spPr>
          <a:xfrm>
            <a:off x="6076950" y="3343215"/>
            <a:ext cx="2362200" cy="400110"/>
          </a:xfrm>
          <a:prstGeom prst="rect">
            <a:avLst/>
          </a:prstGeom>
          <a:noFill/>
        </p:spPr>
        <p:txBody>
          <a:bodyPr wrap="square">
            <a:spAutoFit/>
          </a:bodyPr>
          <a:lstStyle/>
          <a:p>
            <a:r>
              <a:rPr lang="en-US" sz="2000" b="1" i="0" u="none" strike="noStrike" dirty="0">
                <a:solidFill>
                  <a:srgbClr val="0051A8"/>
                </a:solidFill>
                <a:effectLst/>
                <a:latin typeface="Open Sans" panose="020B0606030504020204" pitchFamily="34" charset="0"/>
                <a:hlinkClick r:id="rId5" tooltip="Definition of Angioplasty"/>
              </a:rPr>
              <a:t>Angioplasty</a:t>
            </a:r>
            <a:endParaRPr lang="en-US" sz="2000" dirty="0"/>
          </a:p>
        </p:txBody>
      </p:sp>
    </p:spTree>
    <p:extLst>
      <p:ext uri="{BB962C8B-B14F-4D97-AF65-F5344CB8AC3E}">
        <p14:creationId xmlns:p14="http://schemas.microsoft.com/office/powerpoint/2010/main" val="1602865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lide of monoclonal hypothesis of atherosclerosis">
            <a:extLst>
              <a:ext uri="{FF2B5EF4-FFF2-40B4-BE49-F238E27FC236}">
                <a16:creationId xmlns:a16="http://schemas.microsoft.com/office/drawing/2014/main" id="{A00C94D7-10C8-DE6B-BF5B-615E232C2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381000"/>
            <a:ext cx="840708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566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ure.">
            <a:extLst>
              <a:ext uri="{FF2B5EF4-FFF2-40B4-BE49-F238E27FC236}">
                <a16:creationId xmlns:a16="http://schemas.microsoft.com/office/drawing/2014/main" id="{EDEB432F-0981-E9E2-76A8-40D8A24DD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13" y="685800"/>
            <a:ext cx="8839736" cy="6019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37FCF3F-AAED-170D-CC04-B13F50CCB243}"/>
              </a:ext>
            </a:extLst>
          </p:cNvPr>
          <p:cNvSpPr txBox="1"/>
          <p:nvPr/>
        </p:nvSpPr>
        <p:spPr>
          <a:xfrm>
            <a:off x="2819400" y="152400"/>
            <a:ext cx="3505200" cy="461665"/>
          </a:xfrm>
          <a:prstGeom prst="rect">
            <a:avLst/>
          </a:prstGeom>
          <a:noFill/>
        </p:spPr>
        <p:txBody>
          <a:bodyPr wrap="square" rtlCol="0">
            <a:spAutoFit/>
          </a:bodyPr>
          <a:lstStyle/>
          <a:p>
            <a:pPr defTabSz="685800" fontAlgn="auto">
              <a:spcBef>
                <a:spcPts val="0"/>
              </a:spcBef>
              <a:spcAft>
                <a:spcPts val="0"/>
              </a:spcAft>
            </a:pPr>
            <a:r>
              <a:rPr lang="en-US" sz="2400" dirty="0">
                <a:latin typeface="Arial"/>
              </a:rPr>
              <a:t>Monoclonal Hypothesis</a:t>
            </a:r>
          </a:p>
        </p:txBody>
      </p:sp>
    </p:spTree>
    <p:extLst>
      <p:ext uri="{BB962C8B-B14F-4D97-AF65-F5344CB8AC3E}">
        <p14:creationId xmlns:p14="http://schemas.microsoft.com/office/powerpoint/2010/main" val="1839639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014B-56EE-69DB-C70F-4929F7D8BFF3}"/>
            </a:ext>
          </a:extLst>
        </p:cNvPr>
        <p:cNvGrpSpPr/>
        <p:nvPr/>
      </p:nvGrpSpPr>
      <p:grpSpPr>
        <a:xfrm>
          <a:off x="0" y="0"/>
          <a:ext cx="0" cy="0"/>
          <a:chOff x="0" y="0"/>
          <a:chExt cx="0" cy="0"/>
        </a:xfrm>
      </p:grpSpPr>
      <p:sp>
        <p:nvSpPr>
          <p:cNvPr id="29698" name="Text Box 2">
            <a:extLst>
              <a:ext uri="{FF2B5EF4-FFF2-40B4-BE49-F238E27FC236}">
                <a16:creationId xmlns:a16="http://schemas.microsoft.com/office/drawing/2014/main" id="{507A0734-22D1-0A23-8AAE-00B5A258FA6F}"/>
              </a:ext>
            </a:extLst>
          </p:cNvPr>
          <p:cNvSpPr txBox="1">
            <a:spLocks noChangeArrowheads="1"/>
          </p:cNvSpPr>
          <p:nvPr/>
        </p:nvSpPr>
        <p:spPr bwMode="auto">
          <a:xfrm>
            <a:off x="1066800" y="1524000"/>
            <a:ext cx="7848600" cy="457200"/>
          </a:xfrm>
          <a:prstGeom prst="rect">
            <a:avLst/>
          </a:prstGeom>
          <a:noFill/>
          <a:ln w="9525">
            <a:noFill/>
            <a:miter lim="800000"/>
            <a:headEnd/>
            <a:tailEnd/>
          </a:ln>
        </p:spPr>
        <p:txBody>
          <a:bodyPr>
            <a:spAutoFit/>
          </a:bodyPr>
          <a:lstStyle/>
          <a:p>
            <a:pPr>
              <a:spcBef>
                <a:spcPct val="50000"/>
              </a:spcBef>
            </a:pPr>
            <a:r>
              <a:rPr lang="en-US" sz="2400" dirty="0"/>
              <a:t>LIPID INFILTRATION OR INSUDATION HYPOTHESIS</a:t>
            </a:r>
          </a:p>
        </p:txBody>
      </p:sp>
      <p:sp>
        <p:nvSpPr>
          <p:cNvPr id="29699" name="Text Box 3">
            <a:extLst>
              <a:ext uri="{FF2B5EF4-FFF2-40B4-BE49-F238E27FC236}">
                <a16:creationId xmlns:a16="http://schemas.microsoft.com/office/drawing/2014/main" id="{270E7E69-2A63-A283-4755-AC13397507F9}"/>
              </a:ext>
            </a:extLst>
          </p:cNvPr>
          <p:cNvSpPr txBox="1">
            <a:spLocks noChangeArrowheads="1"/>
          </p:cNvSpPr>
          <p:nvPr/>
        </p:nvSpPr>
        <p:spPr bwMode="auto">
          <a:xfrm>
            <a:off x="1066800" y="2743200"/>
            <a:ext cx="7315200" cy="2530475"/>
          </a:xfrm>
          <a:prstGeom prst="rect">
            <a:avLst/>
          </a:prstGeom>
          <a:noFill/>
          <a:ln w="9525">
            <a:noFill/>
            <a:miter lim="800000"/>
            <a:headEnd/>
            <a:tailEnd/>
          </a:ln>
        </p:spPr>
        <p:txBody>
          <a:bodyPr>
            <a:spAutoFit/>
          </a:bodyPr>
          <a:lstStyle/>
          <a:p>
            <a:pPr>
              <a:spcBef>
                <a:spcPct val="50000"/>
              </a:spcBef>
              <a:buClr>
                <a:srgbClr val="FFCC00"/>
              </a:buClr>
              <a:buFontTx/>
              <a:buChar char="•"/>
            </a:pPr>
            <a:r>
              <a:rPr lang="en-US" dirty="0"/>
              <a:t>  </a:t>
            </a:r>
            <a:r>
              <a:rPr lang="en-US" sz="2000" dirty="0"/>
              <a:t>High LDL levels cause high rates of LDL entry into the artery wall.</a:t>
            </a:r>
          </a:p>
          <a:p>
            <a:pPr>
              <a:spcBef>
                <a:spcPct val="50000"/>
              </a:spcBef>
              <a:buClr>
                <a:srgbClr val="FFCC00"/>
              </a:buClr>
              <a:buFontTx/>
              <a:buChar char="•"/>
            </a:pPr>
            <a:endParaRPr lang="en-US" sz="2000" dirty="0"/>
          </a:p>
          <a:p>
            <a:pPr>
              <a:spcBef>
                <a:spcPct val="50000"/>
              </a:spcBef>
              <a:buClr>
                <a:srgbClr val="FFCC00"/>
              </a:buClr>
              <a:buFontTx/>
              <a:buChar char="•"/>
            </a:pPr>
            <a:r>
              <a:rPr lang="en-US" sz="2000" dirty="0"/>
              <a:t>  LDL is taken up by cells in the artery wall.</a:t>
            </a:r>
          </a:p>
          <a:p>
            <a:pPr>
              <a:spcBef>
                <a:spcPct val="50000"/>
              </a:spcBef>
              <a:buClr>
                <a:srgbClr val="FFCC00"/>
              </a:buClr>
              <a:buFontTx/>
              <a:buChar char="•"/>
            </a:pPr>
            <a:endParaRPr lang="en-US" sz="2000" dirty="0"/>
          </a:p>
          <a:p>
            <a:pPr>
              <a:spcBef>
                <a:spcPct val="50000"/>
              </a:spcBef>
              <a:buClr>
                <a:srgbClr val="FFCC00"/>
              </a:buClr>
              <a:buFontTx/>
              <a:buChar char="•"/>
            </a:pPr>
            <a:r>
              <a:rPr lang="en-US" sz="2000" dirty="0"/>
              <a:t>  Cholesterol unloading mechanisms are overloaded resulting in accelerated atherogenesis.</a:t>
            </a:r>
            <a:endParaRPr lang="en-US" dirty="0"/>
          </a:p>
        </p:txBody>
      </p:sp>
    </p:spTree>
    <p:extLst>
      <p:ext uri="{BB962C8B-B14F-4D97-AF65-F5344CB8AC3E}">
        <p14:creationId xmlns:p14="http://schemas.microsoft.com/office/powerpoint/2010/main" val="3744229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ee the source image">
            <a:extLst>
              <a:ext uri="{FF2B5EF4-FFF2-40B4-BE49-F238E27FC236}">
                <a16:creationId xmlns:a16="http://schemas.microsoft.com/office/drawing/2014/main" id="{71DDF9EA-09C4-7A17-8069-CDBF9A8A9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04800"/>
            <a:ext cx="8949690" cy="617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217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077"/>
          <p:cNvSpPr txBox="1">
            <a:spLocks noChangeArrowheads="1"/>
          </p:cNvSpPr>
          <p:nvPr/>
        </p:nvSpPr>
        <p:spPr bwMode="auto">
          <a:xfrm>
            <a:off x="1143000" y="381000"/>
            <a:ext cx="6324600" cy="457200"/>
          </a:xfrm>
          <a:prstGeom prst="rect">
            <a:avLst/>
          </a:prstGeom>
          <a:noFill/>
          <a:ln w="9525">
            <a:noFill/>
            <a:miter lim="800000"/>
            <a:headEnd/>
            <a:tailEnd/>
          </a:ln>
        </p:spPr>
        <p:txBody>
          <a:bodyPr>
            <a:spAutoFit/>
          </a:bodyPr>
          <a:lstStyle/>
          <a:p>
            <a:pPr>
              <a:spcBef>
                <a:spcPct val="50000"/>
              </a:spcBef>
            </a:pPr>
            <a:r>
              <a:rPr lang="en-US"/>
              <a:t>	</a:t>
            </a:r>
            <a:r>
              <a:rPr lang="en-US" sz="2400" b="1"/>
              <a:t>REACTION TO INJURY THEORY</a:t>
            </a:r>
          </a:p>
        </p:txBody>
      </p:sp>
      <p:sp>
        <p:nvSpPr>
          <p:cNvPr id="30723" name="Text Box 1078"/>
          <p:cNvSpPr txBox="1">
            <a:spLocks noChangeArrowheads="1"/>
          </p:cNvSpPr>
          <p:nvPr/>
        </p:nvSpPr>
        <p:spPr bwMode="auto">
          <a:xfrm>
            <a:off x="685800" y="1371600"/>
            <a:ext cx="7848600" cy="4968875"/>
          </a:xfrm>
          <a:prstGeom prst="rect">
            <a:avLst/>
          </a:prstGeom>
          <a:noFill/>
          <a:ln w="9525">
            <a:noFill/>
            <a:miter lim="800000"/>
            <a:headEnd/>
            <a:tailEnd/>
          </a:ln>
        </p:spPr>
        <p:txBody>
          <a:bodyPr>
            <a:spAutoFit/>
          </a:bodyPr>
          <a:lstStyle/>
          <a:p>
            <a:pPr>
              <a:spcBef>
                <a:spcPct val="50000"/>
              </a:spcBef>
              <a:buClr>
                <a:srgbClr val="FFCC00"/>
              </a:buClr>
              <a:buFontTx/>
              <a:buChar char="•"/>
            </a:pPr>
            <a:r>
              <a:rPr lang="en-US" sz="2000"/>
              <a:t>  Lesions of atherosclerosis are initiated as a response to an alteration or ‘injury’ to the endothelium.</a:t>
            </a:r>
          </a:p>
          <a:p>
            <a:pPr>
              <a:spcBef>
                <a:spcPct val="50000"/>
              </a:spcBef>
              <a:buClr>
                <a:srgbClr val="FFCC00"/>
              </a:buClr>
              <a:buFontTx/>
              <a:buChar char="•"/>
            </a:pPr>
            <a:endParaRPr lang="en-US" sz="2000"/>
          </a:p>
          <a:p>
            <a:pPr>
              <a:spcBef>
                <a:spcPct val="50000"/>
              </a:spcBef>
              <a:buClr>
                <a:srgbClr val="FFCC00"/>
              </a:buClr>
              <a:buFontTx/>
              <a:buChar char="•"/>
            </a:pPr>
            <a:r>
              <a:rPr lang="en-US" sz="2000"/>
              <a:t>  Injury can result from different types of insults (i.e., mechanical forces, chemical agents, toxins, or viruses).</a:t>
            </a:r>
          </a:p>
          <a:p>
            <a:pPr>
              <a:spcBef>
                <a:spcPct val="50000"/>
              </a:spcBef>
              <a:buClr>
                <a:srgbClr val="FFCC00"/>
              </a:buClr>
              <a:buFontTx/>
              <a:buChar char="•"/>
            </a:pPr>
            <a:endParaRPr lang="en-US" sz="2000"/>
          </a:p>
          <a:p>
            <a:pPr>
              <a:spcBef>
                <a:spcPct val="50000"/>
              </a:spcBef>
              <a:buClr>
                <a:srgbClr val="FFCC00"/>
              </a:buClr>
              <a:buFontTx/>
              <a:buChar char="•"/>
            </a:pPr>
            <a:r>
              <a:rPr lang="en-US" sz="2000"/>
              <a:t>  Severe injuries may lead to platelet adhesion and thrombus formation.</a:t>
            </a:r>
          </a:p>
          <a:p>
            <a:pPr>
              <a:spcBef>
                <a:spcPct val="50000"/>
              </a:spcBef>
              <a:buClr>
                <a:srgbClr val="FFCC00"/>
              </a:buClr>
              <a:buFontTx/>
              <a:buChar char="•"/>
            </a:pPr>
            <a:endParaRPr lang="en-US" sz="2000"/>
          </a:p>
          <a:p>
            <a:pPr>
              <a:spcBef>
                <a:spcPct val="50000"/>
              </a:spcBef>
              <a:buClr>
                <a:srgbClr val="FFCC00"/>
              </a:buClr>
              <a:buFontTx/>
              <a:buChar char="•"/>
            </a:pPr>
            <a:r>
              <a:rPr lang="en-US" sz="2000"/>
              <a:t>  Limited injuries allow the vessel wall to be reconstituted.</a:t>
            </a:r>
          </a:p>
          <a:p>
            <a:pPr>
              <a:spcBef>
                <a:spcPct val="50000"/>
              </a:spcBef>
              <a:buClr>
                <a:srgbClr val="FFCC00"/>
              </a:buClr>
              <a:buFontTx/>
              <a:buChar char="•"/>
            </a:pPr>
            <a:endParaRPr lang="en-US" sz="2000"/>
          </a:p>
          <a:p>
            <a:pPr>
              <a:spcBef>
                <a:spcPct val="50000"/>
              </a:spcBef>
              <a:buClr>
                <a:srgbClr val="FFCC00"/>
              </a:buClr>
              <a:buFontTx/>
              <a:buChar char="•"/>
            </a:pPr>
            <a:r>
              <a:rPr lang="en-US" sz="2000"/>
              <a:t>  Continuous or repeated injuries may lead to lesion progression and narrowing of the arterial lumen.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CC7D65-41EB-462F-9493-767A0DFBAA3E}"/>
              </a:ext>
            </a:extLst>
          </p:cNvPr>
          <p:cNvPicPr>
            <a:picLocks noChangeAspect="1"/>
          </p:cNvPicPr>
          <p:nvPr/>
        </p:nvPicPr>
        <p:blipFill>
          <a:blip r:embed="rId2"/>
          <a:stretch>
            <a:fillRect/>
          </a:stretch>
        </p:blipFill>
        <p:spPr>
          <a:xfrm>
            <a:off x="3810000" y="-27373"/>
            <a:ext cx="5297010" cy="6858000"/>
          </a:xfrm>
          <a:prstGeom prst="rect">
            <a:avLst/>
          </a:prstGeom>
        </p:spPr>
      </p:pic>
      <p:sp>
        <p:nvSpPr>
          <p:cNvPr id="3" name="TextBox 2">
            <a:extLst>
              <a:ext uri="{FF2B5EF4-FFF2-40B4-BE49-F238E27FC236}">
                <a16:creationId xmlns:a16="http://schemas.microsoft.com/office/drawing/2014/main" id="{F3C037FA-E52F-4546-8624-AF25BE202EB3}"/>
              </a:ext>
            </a:extLst>
          </p:cNvPr>
          <p:cNvSpPr txBox="1"/>
          <p:nvPr/>
        </p:nvSpPr>
        <p:spPr>
          <a:xfrm>
            <a:off x="172721" y="-42950"/>
            <a:ext cx="3468210" cy="6863417"/>
          </a:xfrm>
          <a:prstGeom prst="rect">
            <a:avLst/>
          </a:prstGeom>
          <a:noFill/>
        </p:spPr>
        <p:txBody>
          <a:bodyPr wrap="square" rtlCol="0">
            <a:spAutoFit/>
          </a:bodyPr>
          <a:lstStyle/>
          <a:p>
            <a:r>
              <a:rPr lang="en-US" sz="2000" dirty="0"/>
              <a:t>The following are the steps involved in the Response To Injury  Hypothesis: </a:t>
            </a:r>
          </a:p>
          <a:p>
            <a:endParaRPr lang="en-US" sz="2000" dirty="0"/>
          </a:p>
          <a:p>
            <a:pPr marL="342900" indent="-342900">
              <a:buAutoNum type="arabicPeriod"/>
            </a:pPr>
            <a:r>
              <a:rPr lang="en-US" sz="2000" dirty="0"/>
              <a:t>Chronic endothelial injury </a:t>
            </a:r>
          </a:p>
          <a:p>
            <a:pPr marL="342900" indent="-342900">
              <a:buAutoNum type="arabicPeriod"/>
            </a:pPr>
            <a:endParaRPr lang="en-US" sz="2000" dirty="0"/>
          </a:p>
          <a:p>
            <a:pPr marL="342900" indent="-342900">
              <a:buAutoNum type="arabicPeriod"/>
            </a:pPr>
            <a:r>
              <a:rPr lang="en-US" sz="2000" dirty="0"/>
              <a:t>Accumulation of lipoproteins</a:t>
            </a:r>
          </a:p>
          <a:p>
            <a:pPr marL="342900" indent="-342900">
              <a:buAutoNum type="arabicPeriod"/>
            </a:pPr>
            <a:endParaRPr lang="en-US" sz="2000" dirty="0"/>
          </a:p>
          <a:p>
            <a:pPr marL="342900" indent="-342900">
              <a:buAutoNum type="arabicPeriod"/>
            </a:pPr>
            <a:r>
              <a:rPr lang="en-US" sz="2000" dirty="0"/>
              <a:t>Monocyte adhesion to the endothelium</a:t>
            </a:r>
          </a:p>
          <a:p>
            <a:pPr marL="342900" indent="-342900">
              <a:buAutoNum type="arabicPeriod"/>
            </a:pPr>
            <a:endParaRPr lang="en-US" sz="2000" dirty="0"/>
          </a:p>
          <a:p>
            <a:pPr marL="342900" indent="-342900">
              <a:buAutoNum type="arabicPeriod"/>
            </a:pPr>
            <a:r>
              <a:rPr lang="en-US" sz="2000" dirty="0"/>
              <a:t>Platelet adhesion</a:t>
            </a:r>
          </a:p>
          <a:p>
            <a:pPr marL="342900" indent="-342900">
              <a:buAutoNum type="arabicPeriod"/>
            </a:pPr>
            <a:endParaRPr lang="en-US" sz="2000" dirty="0"/>
          </a:p>
          <a:p>
            <a:pPr marL="342900" indent="-342900">
              <a:buAutoNum type="arabicPeriod"/>
            </a:pPr>
            <a:r>
              <a:rPr lang="en-US" sz="2000" dirty="0"/>
              <a:t>Factors released</a:t>
            </a:r>
          </a:p>
          <a:p>
            <a:pPr marL="342900" indent="-342900">
              <a:buAutoNum type="arabicPeriod"/>
            </a:pPr>
            <a:endParaRPr lang="en-US" sz="2000" dirty="0"/>
          </a:p>
          <a:p>
            <a:pPr marL="342900" indent="-342900">
              <a:buAutoNum type="arabicPeriod"/>
            </a:pPr>
            <a:r>
              <a:rPr lang="en-US" sz="2000" dirty="0"/>
              <a:t>SMC proliferation and ECM production</a:t>
            </a:r>
          </a:p>
          <a:p>
            <a:pPr marL="342900" indent="-342900">
              <a:buAutoNum type="arabicPeriod"/>
            </a:pPr>
            <a:endParaRPr lang="en-US" sz="2000" dirty="0"/>
          </a:p>
          <a:p>
            <a:pPr marL="342900" indent="-342900">
              <a:buAutoNum type="arabicPeriod"/>
            </a:pPr>
            <a:r>
              <a:rPr lang="en-US" sz="2000" dirty="0"/>
              <a:t>Lipid accumulation</a:t>
            </a:r>
          </a:p>
          <a:p>
            <a:pPr marL="342900" indent="-342900">
              <a:buAutoNum type="arabicPeriod"/>
            </a:pPr>
            <a:endParaRPr lang="en-US" sz="2000" dirty="0"/>
          </a:p>
          <a:p>
            <a:pPr marL="342900" indent="-342900">
              <a:buAutoNum type="arabicPeriod"/>
            </a:pPr>
            <a:r>
              <a:rPr lang="en-US" sz="2000" dirty="0"/>
              <a:t>Calcification</a:t>
            </a:r>
          </a:p>
        </p:txBody>
      </p:sp>
    </p:spTree>
    <p:extLst>
      <p:ext uri="{BB962C8B-B14F-4D97-AF65-F5344CB8AC3E}">
        <p14:creationId xmlns:p14="http://schemas.microsoft.com/office/powerpoint/2010/main" val="3784786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43000" y="0"/>
            <a:ext cx="7772400" cy="838200"/>
          </a:xfrm>
        </p:spPr>
        <p:txBody>
          <a:bodyPr/>
          <a:lstStyle/>
          <a:p>
            <a:pPr eaLnBrk="1" hangingPunct="1"/>
            <a:r>
              <a:rPr lang="en-US" sz="3200" dirty="0"/>
              <a:t>Lipoprotein/Lipid Parameter Function</a:t>
            </a:r>
            <a:endParaRPr lang="en-US" sz="3200" baseline="30000" dirty="0"/>
          </a:p>
        </p:txBody>
      </p:sp>
      <p:sp>
        <p:nvSpPr>
          <p:cNvPr id="77827" name="Rectangle 3"/>
          <p:cNvSpPr>
            <a:spLocks noGrp="1" noChangeArrowheads="1"/>
          </p:cNvSpPr>
          <p:nvPr>
            <p:ph type="body" idx="1"/>
          </p:nvPr>
        </p:nvSpPr>
        <p:spPr>
          <a:xfrm>
            <a:off x="1295400" y="762000"/>
            <a:ext cx="7772400" cy="5791200"/>
          </a:xfrm>
        </p:spPr>
        <p:txBody>
          <a:bodyPr/>
          <a:lstStyle/>
          <a:p>
            <a:pPr eaLnBrk="1" hangingPunct="1">
              <a:lnSpc>
                <a:spcPct val="90000"/>
              </a:lnSpc>
              <a:buFont typeface="Wingdings" pitchFamily="2" charset="2"/>
              <a:buChar char="§"/>
            </a:pPr>
            <a:r>
              <a:rPr lang="en-US" sz="1600" b="1" u="sng" dirty="0"/>
              <a:t>Chylomicron</a:t>
            </a:r>
          </a:p>
          <a:p>
            <a:pPr eaLnBrk="1" hangingPunct="1">
              <a:lnSpc>
                <a:spcPct val="90000"/>
              </a:lnSpc>
              <a:buFont typeface="Wingdings" pitchFamily="2" charset="2"/>
              <a:buNone/>
            </a:pPr>
            <a:r>
              <a:rPr lang="en-US" sz="1600" dirty="0"/>
              <a:t>		Transport Dietary Triglycerides</a:t>
            </a:r>
          </a:p>
          <a:p>
            <a:pPr eaLnBrk="1" hangingPunct="1">
              <a:lnSpc>
                <a:spcPct val="90000"/>
              </a:lnSpc>
              <a:buFont typeface="Wingdings" pitchFamily="2" charset="2"/>
              <a:buNone/>
            </a:pPr>
            <a:r>
              <a:rPr lang="en-US" sz="1600" dirty="0"/>
              <a:t>		Moderately associated with premature CHD</a:t>
            </a:r>
          </a:p>
          <a:p>
            <a:pPr eaLnBrk="1" hangingPunct="1">
              <a:lnSpc>
                <a:spcPct val="90000"/>
              </a:lnSpc>
              <a:buFont typeface="Wingdings" pitchFamily="2" charset="2"/>
              <a:buChar char="§"/>
            </a:pPr>
            <a:r>
              <a:rPr lang="en-US" sz="1600" b="1" u="sng" dirty="0"/>
              <a:t>VLDL</a:t>
            </a:r>
            <a:r>
              <a:rPr lang="en-US" sz="1600" dirty="0"/>
              <a:t> </a:t>
            </a:r>
          </a:p>
          <a:p>
            <a:pPr eaLnBrk="1" hangingPunct="1">
              <a:lnSpc>
                <a:spcPct val="90000"/>
              </a:lnSpc>
              <a:buFontTx/>
              <a:buNone/>
            </a:pPr>
            <a:r>
              <a:rPr lang="en-US" sz="1600" dirty="0"/>
              <a:t>		Carries triglycerides to peripheral cells </a:t>
            </a:r>
          </a:p>
          <a:p>
            <a:pPr eaLnBrk="1" hangingPunct="1">
              <a:lnSpc>
                <a:spcPct val="90000"/>
              </a:lnSpc>
              <a:buFontTx/>
              <a:buNone/>
            </a:pPr>
            <a:r>
              <a:rPr lang="en-US" sz="1600" dirty="0"/>
              <a:t>		High levels may be associated with increased CHD risk</a:t>
            </a:r>
            <a:endParaRPr lang="en-US" sz="1600" baseline="30000" dirty="0"/>
          </a:p>
          <a:p>
            <a:pPr eaLnBrk="1" hangingPunct="1">
              <a:lnSpc>
                <a:spcPct val="90000"/>
              </a:lnSpc>
              <a:buFont typeface="Wingdings" pitchFamily="2" charset="2"/>
              <a:buChar char="§"/>
            </a:pPr>
            <a:r>
              <a:rPr lang="en-US" sz="1600" b="1" u="sng" dirty="0"/>
              <a:t>LDL</a:t>
            </a:r>
            <a:endParaRPr lang="en-US" sz="1600" dirty="0"/>
          </a:p>
          <a:p>
            <a:pPr eaLnBrk="1" hangingPunct="1">
              <a:lnSpc>
                <a:spcPct val="90000"/>
              </a:lnSpc>
              <a:buFontTx/>
              <a:buNone/>
            </a:pPr>
            <a:r>
              <a:rPr lang="en-US" sz="1600" dirty="0"/>
              <a:t>		Carries cholesterol to cells</a:t>
            </a:r>
          </a:p>
          <a:p>
            <a:pPr eaLnBrk="1" hangingPunct="1">
              <a:lnSpc>
                <a:spcPct val="90000"/>
              </a:lnSpc>
              <a:buFontTx/>
              <a:buNone/>
            </a:pPr>
            <a:r>
              <a:rPr lang="en-US" sz="1600" dirty="0"/>
              <a:t>		High levels linked to increased CHD risk</a:t>
            </a:r>
          </a:p>
          <a:p>
            <a:pPr eaLnBrk="1" hangingPunct="1">
              <a:lnSpc>
                <a:spcPct val="90000"/>
              </a:lnSpc>
              <a:buFontTx/>
              <a:buNone/>
            </a:pPr>
            <a:r>
              <a:rPr lang="en-US" sz="1600" dirty="0"/>
              <a:t>		Primary target of cholesterol-reducing therapy</a:t>
            </a:r>
            <a:endParaRPr lang="en-US" sz="1600" baseline="30000" dirty="0"/>
          </a:p>
          <a:p>
            <a:pPr eaLnBrk="1" hangingPunct="1">
              <a:lnSpc>
                <a:spcPct val="90000"/>
              </a:lnSpc>
              <a:buFont typeface="Wingdings" pitchFamily="2" charset="2"/>
              <a:buChar char="§"/>
            </a:pPr>
            <a:r>
              <a:rPr lang="en-US" sz="1600" b="1" u="sng" dirty="0"/>
              <a:t>HDL</a:t>
            </a:r>
          </a:p>
          <a:p>
            <a:pPr eaLnBrk="1" hangingPunct="1">
              <a:lnSpc>
                <a:spcPct val="90000"/>
              </a:lnSpc>
              <a:buFontTx/>
              <a:buNone/>
            </a:pPr>
            <a:r>
              <a:rPr lang="en-US" sz="1600" dirty="0"/>
              <a:t>		Removes cholesterol from cells</a:t>
            </a:r>
          </a:p>
          <a:p>
            <a:pPr eaLnBrk="1" hangingPunct="1">
              <a:lnSpc>
                <a:spcPct val="90000"/>
              </a:lnSpc>
              <a:buFontTx/>
              <a:buNone/>
            </a:pPr>
            <a:r>
              <a:rPr lang="en-US" sz="1600" dirty="0"/>
              <a:t>		High HDL considered protective against CHD</a:t>
            </a:r>
          </a:p>
          <a:p>
            <a:pPr eaLnBrk="1" hangingPunct="1">
              <a:lnSpc>
                <a:spcPct val="90000"/>
              </a:lnSpc>
              <a:buFontTx/>
              <a:buNone/>
            </a:pPr>
            <a:r>
              <a:rPr lang="en-US" sz="1600" dirty="0"/>
              <a:t>		HDL </a:t>
            </a:r>
            <a:r>
              <a:rPr lang="en-US" sz="1600" u="sng" dirty="0"/>
              <a:t>&gt;</a:t>
            </a:r>
            <a:r>
              <a:rPr lang="en-US" sz="1600" dirty="0"/>
              <a:t>60 mg/</a:t>
            </a:r>
            <a:r>
              <a:rPr lang="en-US" sz="1600" dirty="0" err="1"/>
              <a:t>dL</a:t>
            </a:r>
            <a:r>
              <a:rPr lang="en-US" sz="1600" dirty="0"/>
              <a:t> </a:t>
            </a:r>
            <a:r>
              <a:rPr lang="en-US" sz="1600" i="1" dirty="0"/>
              <a:t>decreases</a:t>
            </a:r>
            <a:r>
              <a:rPr lang="en-US" sz="1600" dirty="0"/>
              <a:t> CHD risk</a:t>
            </a:r>
            <a:endParaRPr lang="en-US" sz="1600" baseline="30000" dirty="0"/>
          </a:p>
          <a:p>
            <a:pPr eaLnBrk="1" hangingPunct="1">
              <a:lnSpc>
                <a:spcPct val="90000"/>
              </a:lnSpc>
              <a:buFont typeface="Wingdings" pitchFamily="2" charset="2"/>
              <a:buChar char="§"/>
            </a:pPr>
            <a:r>
              <a:rPr lang="en-US" sz="1600" b="1" u="sng" dirty="0"/>
              <a:t>Lipoprotein(a)</a:t>
            </a:r>
            <a:r>
              <a:rPr lang="en-US" sz="1600" dirty="0"/>
              <a:t> </a:t>
            </a:r>
          </a:p>
          <a:p>
            <a:pPr eaLnBrk="1" hangingPunct="1">
              <a:lnSpc>
                <a:spcPct val="90000"/>
              </a:lnSpc>
              <a:buFontTx/>
              <a:buNone/>
            </a:pPr>
            <a:r>
              <a:rPr lang="en-US" sz="1600" dirty="0"/>
              <a:t>		A complex of LDL and apolipoprotein(a) </a:t>
            </a:r>
          </a:p>
          <a:p>
            <a:pPr eaLnBrk="1" hangingPunct="1">
              <a:lnSpc>
                <a:spcPct val="90000"/>
              </a:lnSpc>
              <a:buFontTx/>
              <a:buNone/>
            </a:pPr>
            <a:r>
              <a:rPr lang="en-US" sz="1600" dirty="0"/>
              <a:t>		Prevents LDL from being taken up by the Liver</a:t>
            </a:r>
          </a:p>
          <a:p>
            <a:pPr eaLnBrk="1" hangingPunct="1">
              <a:lnSpc>
                <a:spcPct val="90000"/>
              </a:lnSpc>
              <a:buFontTx/>
              <a:buNone/>
            </a:pPr>
            <a:r>
              <a:rPr lang="en-US" sz="1600" dirty="0"/>
              <a:t>		Elevated </a:t>
            </a:r>
            <a:r>
              <a:rPr lang="en-US" sz="1600" dirty="0" err="1"/>
              <a:t>Lp</a:t>
            </a:r>
            <a:r>
              <a:rPr lang="en-US" sz="1600" dirty="0"/>
              <a:t>(a) is an independent risk factor for premature CHD</a:t>
            </a:r>
            <a:endParaRPr lang="en-US" sz="1600" baseline="30000" dirty="0"/>
          </a:p>
          <a:p>
            <a:pPr eaLnBrk="1" hangingPunct="1">
              <a:lnSpc>
                <a:spcPct val="90000"/>
              </a:lnSpc>
              <a:buFont typeface="Wingdings" pitchFamily="2" charset="2"/>
              <a:buChar char="§"/>
            </a:pPr>
            <a:r>
              <a:rPr lang="en-US" sz="1600" b="1" u="sng" dirty="0"/>
              <a:t>Triglycerides</a:t>
            </a:r>
            <a:endParaRPr lang="en-US" sz="1600" dirty="0"/>
          </a:p>
          <a:p>
            <a:pPr eaLnBrk="1" hangingPunct="1">
              <a:lnSpc>
                <a:spcPct val="90000"/>
              </a:lnSpc>
              <a:buFontTx/>
              <a:buNone/>
            </a:pPr>
            <a:r>
              <a:rPr lang="en-US" sz="1600" dirty="0"/>
              <a:t>		A neutral fat stored in adipose cells</a:t>
            </a:r>
          </a:p>
          <a:p>
            <a:pPr eaLnBrk="1" hangingPunct="1">
              <a:lnSpc>
                <a:spcPct val="90000"/>
              </a:lnSpc>
              <a:buFontTx/>
              <a:buNone/>
            </a:pPr>
            <a:r>
              <a:rPr lang="en-US" sz="1600" dirty="0"/>
              <a:t>		Positively correlated with risk for CHD</a:t>
            </a:r>
            <a:endParaRPr lang="en-US" sz="1600" baseline="30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A 3D image of cholesterol in an artery is shown">
            <a:extLst>
              <a:ext uri="{FF2B5EF4-FFF2-40B4-BE49-F238E27FC236}">
                <a16:creationId xmlns:a16="http://schemas.microsoft.com/office/drawing/2014/main" id="{E2216CD5-C8A1-08A3-DEDC-8195863775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322" r="15567"/>
          <a:stretch/>
        </p:blipFill>
        <p:spPr bwMode="auto">
          <a:xfrm>
            <a:off x="-7414" y="857257"/>
            <a:ext cx="5679454" cy="5143493"/>
          </a:xfrm>
          <a:prstGeom prst="rect">
            <a:avLst/>
          </a:prstGeom>
          <a:noFill/>
          <a:extLst>
            <a:ext uri="{909E8E84-426E-40DD-AFC4-6F175D3DCCD1}">
              <a14:hiddenFill xmlns:a14="http://schemas.microsoft.com/office/drawing/2010/main">
                <a:solidFill>
                  <a:srgbClr val="FFFFFF"/>
                </a:solidFill>
              </a14:hiddenFill>
            </a:ext>
          </a:extLst>
        </p:spPr>
      </p:pic>
      <p:cxnSp>
        <p:nvCxnSpPr>
          <p:cNvPr id="3079" name="Straight Connector 3078">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49543" y="1510610"/>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5521AAE-B782-B5FA-CA22-CC4CBC80E2E0}"/>
              </a:ext>
            </a:extLst>
          </p:cNvPr>
          <p:cNvSpPr txBox="1"/>
          <p:nvPr/>
        </p:nvSpPr>
        <p:spPr>
          <a:xfrm>
            <a:off x="6149542" y="1644634"/>
            <a:ext cx="2864918" cy="2699264"/>
          </a:xfrm>
          <a:prstGeom prst="rect">
            <a:avLst/>
          </a:prstGeom>
        </p:spPr>
        <p:txBody>
          <a:bodyPr vert="horz" lIns="68580" tIns="34290" rIns="68580" bIns="34290" rtlCol="0">
            <a:noAutofit/>
          </a:bodyPr>
          <a:lstStyle/>
          <a:p>
            <a:pPr defTabSz="685800" fontAlgn="auto">
              <a:lnSpc>
                <a:spcPct val="90000"/>
              </a:lnSpc>
              <a:spcBef>
                <a:spcPts val="0"/>
              </a:spcBef>
              <a:spcAft>
                <a:spcPts val="450"/>
              </a:spcAft>
            </a:pPr>
            <a:r>
              <a:rPr lang="en-US" sz="3300" dirty="0">
                <a:latin typeface="Arial"/>
              </a:rPr>
              <a:t>An updated test measures how well "good cholesterol" works</a:t>
            </a:r>
          </a:p>
        </p:txBody>
      </p:sp>
    </p:spTree>
    <p:extLst>
      <p:ext uri="{BB962C8B-B14F-4D97-AF65-F5344CB8AC3E}">
        <p14:creationId xmlns:p14="http://schemas.microsoft.com/office/powerpoint/2010/main" val="1589892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lipoprotein model"/>
          <p:cNvPicPr>
            <a:picLocks noChangeAspect="1" noChangeArrowheads="1"/>
          </p:cNvPicPr>
          <p:nvPr/>
        </p:nvPicPr>
        <p:blipFill>
          <a:blip r:embed="rId3" cstate="print"/>
          <a:srcRect/>
          <a:stretch>
            <a:fillRect/>
          </a:stretch>
        </p:blipFill>
        <p:spPr bwMode="auto">
          <a:xfrm>
            <a:off x="228600" y="104775"/>
            <a:ext cx="8686800" cy="4697413"/>
          </a:xfrm>
          <a:prstGeom prst="rect">
            <a:avLst/>
          </a:prstGeom>
          <a:noFill/>
          <a:ln w="9525">
            <a:noFill/>
            <a:miter lim="800000"/>
            <a:headEnd/>
            <a:tailEnd/>
          </a:ln>
        </p:spPr>
      </p:pic>
      <p:pic>
        <p:nvPicPr>
          <p:cNvPr id="19459" name="Picture 3"/>
          <p:cNvPicPr>
            <a:picLocks noChangeAspect="1" noChangeArrowheads="1"/>
          </p:cNvPicPr>
          <p:nvPr/>
        </p:nvPicPr>
        <p:blipFill>
          <a:blip r:embed="rId4" cstate="print"/>
          <a:srcRect/>
          <a:stretch>
            <a:fillRect/>
          </a:stretch>
        </p:blipFill>
        <p:spPr bwMode="auto">
          <a:xfrm>
            <a:off x="2743200" y="4706938"/>
            <a:ext cx="3962400" cy="2046287"/>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9" name="Rectangle 9"/>
          <p:cNvSpPr>
            <a:spLocks noGrp="1" noChangeArrowheads="1"/>
          </p:cNvSpPr>
          <p:nvPr>
            <p:ph type="title"/>
          </p:nvPr>
        </p:nvSpPr>
        <p:spPr/>
        <p:txBody>
          <a:bodyPr/>
          <a:lstStyle/>
          <a:p>
            <a:r>
              <a:rPr lang="en-US" sz="3200" dirty="0"/>
              <a:t>Benefit Beyond LDL Lowering: The Metabolic Syndrome as a Secondary Target of Therapy</a:t>
            </a:r>
            <a:endParaRPr lang="en-US" dirty="0"/>
          </a:p>
        </p:txBody>
      </p:sp>
      <p:sp>
        <p:nvSpPr>
          <p:cNvPr id="1100810" name="Rectangle 10"/>
          <p:cNvSpPr>
            <a:spLocks noGrp="1" noChangeArrowheads="1"/>
          </p:cNvSpPr>
          <p:nvPr>
            <p:ph type="body" idx="1"/>
          </p:nvPr>
        </p:nvSpPr>
        <p:spPr>
          <a:xfrm>
            <a:off x="1003301" y="1752600"/>
            <a:ext cx="7636933" cy="4114800"/>
          </a:xfrm>
        </p:spPr>
        <p:txBody>
          <a:bodyPr/>
          <a:lstStyle/>
          <a:p>
            <a:pPr>
              <a:spcAft>
                <a:spcPct val="50000"/>
              </a:spcAft>
              <a:buFontTx/>
              <a:buNone/>
            </a:pPr>
            <a:r>
              <a:rPr lang="en-US" sz="2400" b="1" u="sng" dirty="0"/>
              <a:t>General Features of the Metabolic Syndrome</a:t>
            </a:r>
            <a:endParaRPr lang="en-US" sz="2400" dirty="0"/>
          </a:p>
          <a:p>
            <a:pPr>
              <a:spcBef>
                <a:spcPct val="20000"/>
              </a:spcBef>
            </a:pPr>
            <a:r>
              <a:rPr lang="en-US" sz="2400" dirty="0"/>
              <a:t>Abdominal obesity</a:t>
            </a:r>
          </a:p>
          <a:p>
            <a:pPr>
              <a:spcBef>
                <a:spcPct val="20000"/>
              </a:spcBef>
            </a:pPr>
            <a:r>
              <a:rPr lang="en-US" sz="2400" dirty="0"/>
              <a:t>Atherogenic dyslipidemia</a:t>
            </a:r>
          </a:p>
          <a:p>
            <a:pPr lvl="1">
              <a:spcBef>
                <a:spcPct val="20000"/>
              </a:spcBef>
            </a:pPr>
            <a:r>
              <a:rPr lang="en-US" sz="2400" dirty="0"/>
              <a:t>	Elevated triglycerides</a:t>
            </a:r>
          </a:p>
          <a:p>
            <a:pPr lvl="1">
              <a:spcBef>
                <a:spcPct val="20000"/>
              </a:spcBef>
            </a:pPr>
            <a:r>
              <a:rPr lang="en-US" sz="2400" dirty="0"/>
              <a:t>	Small LDL particles	Low HDL cholesterol</a:t>
            </a:r>
          </a:p>
          <a:p>
            <a:pPr>
              <a:spcBef>
                <a:spcPct val="20000"/>
              </a:spcBef>
            </a:pPr>
            <a:r>
              <a:rPr lang="en-US" sz="2400" dirty="0"/>
              <a:t>Raised blood pressure</a:t>
            </a:r>
          </a:p>
          <a:p>
            <a:pPr>
              <a:spcBef>
                <a:spcPct val="20000"/>
              </a:spcBef>
            </a:pPr>
            <a:r>
              <a:rPr lang="en-US" sz="2400" dirty="0"/>
              <a:t>Insulin resistance (</a:t>
            </a:r>
            <a:r>
              <a:rPr lang="en-US" sz="2400" dirty="0">
                <a:sym typeface="Symbol" pitchFamily="18" charset="2"/>
              </a:rPr>
              <a:t> glucose intolerance)</a:t>
            </a:r>
          </a:p>
          <a:p>
            <a:pPr>
              <a:spcBef>
                <a:spcPct val="20000"/>
              </a:spcBef>
            </a:pPr>
            <a:r>
              <a:rPr lang="en-US" sz="2400" dirty="0" err="1">
                <a:sym typeface="Symbol" pitchFamily="18" charset="2"/>
              </a:rPr>
              <a:t>Prothrombotic</a:t>
            </a:r>
            <a:r>
              <a:rPr lang="en-US" sz="2400" dirty="0">
                <a:sym typeface="Symbol" pitchFamily="18" charset="2"/>
              </a:rPr>
              <a:t> state</a:t>
            </a:r>
          </a:p>
          <a:p>
            <a:pPr>
              <a:spcBef>
                <a:spcPct val="20000"/>
              </a:spcBef>
            </a:pPr>
            <a:r>
              <a:rPr lang="en-US" sz="2400" dirty="0">
                <a:sym typeface="Symbol" pitchFamily="18" charset="2"/>
              </a:rPr>
              <a:t>Proinflammatory state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descr="A screenshot of a medical report&#10;&#10;Description automatically generated">
            <a:extLst>
              <a:ext uri="{FF2B5EF4-FFF2-40B4-BE49-F238E27FC236}">
                <a16:creationId xmlns:a16="http://schemas.microsoft.com/office/drawing/2014/main" id="{07B77B8C-F54B-D4D4-9D3A-E82014FF9823}"/>
              </a:ext>
            </a:extLst>
          </p:cNvPr>
          <p:cNvPicPr>
            <a:picLocks noGrp="1" noChangeAspect="1"/>
          </p:cNvPicPr>
          <p:nvPr>
            <p:ph idx="1"/>
          </p:nvPr>
        </p:nvPicPr>
        <p:blipFill>
          <a:blip r:embed="rId2"/>
          <a:stretch>
            <a:fillRect/>
          </a:stretch>
        </p:blipFill>
        <p:spPr>
          <a:xfrm>
            <a:off x="505527" y="643466"/>
            <a:ext cx="8132945" cy="5571067"/>
          </a:xfrm>
          <a:prstGeom prst="rect">
            <a:avLst/>
          </a:prstGeom>
        </p:spPr>
      </p:pic>
    </p:spTree>
    <p:extLst>
      <p:ext uri="{BB962C8B-B14F-4D97-AF65-F5344CB8AC3E}">
        <p14:creationId xmlns:p14="http://schemas.microsoft.com/office/powerpoint/2010/main" val="18668113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2826016D-2341-A73F-3B53-5239F9461F15}"/>
              </a:ext>
            </a:extLst>
          </p:cNvPr>
          <p:cNvPicPr>
            <a:picLocks noChangeAspect="1"/>
          </p:cNvPicPr>
          <p:nvPr/>
        </p:nvPicPr>
        <p:blipFill>
          <a:blip r:embed="rId2"/>
          <a:stretch>
            <a:fillRect/>
          </a:stretch>
        </p:blipFill>
        <p:spPr>
          <a:xfrm>
            <a:off x="799138" y="947737"/>
            <a:ext cx="7545724" cy="4962525"/>
          </a:xfrm>
          <a:prstGeom prst="rect">
            <a:avLst/>
          </a:prstGeom>
        </p:spPr>
      </p:pic>
    </p:spTree>
    <p:extLst>
      <p:ext uri="{BB962C8B-B14F-4D97-AF65-F5344CB8AC3E}">
        <p14:creationId xmlns:p14="http://schemas.microsoft.com/office/powerpoint/2010/main" val="948810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C8C70-325B-E29F-DEC4-4FEED73506EC}"/>
              </a:ext>
            </a:extLst>
          </p:cNvPr>
          <p:cNvSpPr>
            <a:spLocks noGrp="1"/>
          </p:cNvSpPr>
          <p:nvPr>
            <p:ph type="title"/>
          </p:nvPr>
        </p:nvSpPr>
        <p:spPr>
          <a:xfrm>
            <a:off x="457200" y="274638"/>
            <a:ext cx="8229600" cy="868362"/>
          </a:xfrm>
        </p:spPr>
        <p:txBody>
          <a:bodyPr/>
          <a:lstStyle/>
          <a:p>
            <a:br>
              <a:rPr lang="en-US" sz="4400" dirty="0">
                <a:latin typeface="Arial"/>
              </a:rPr>
            </a:br>
            <a:r>
              <a:rPr lang="en-US" sz="4400" dirty="0">
                <a:latin typeface="Arial"/>
              </a:rPr>
              <a:t>Diagnostic Tests</a:t>
            </a:r>
            <a:br>
              <a:rPr lang="en-US" sz="4400" dirty="0">
                <a:latin typeface="Arial"/>
              </a:rPr>
            </a:br>
            <a:endParaRPr lang="en-US" dirty="0"/>
          </a:p>
        </p:txBody>
      </p:sp>
      <p:pic>
        <p:nvPicPr>
          <p:cNvPr id="5" name="Content Placeholder 4">
            <a:extLst>
              <a:ext uri="{FF2B5EF4-FFF2-40B4-BE49-F238E27FC236}">
                <a16:creationId xmlns:a16="http://schemas.microsoft.com/office/drawing/2014/main" id="{82F7377E-4255-028D-3443-FB31B686FF78}"/>
              </a:ext>
            </a:extLst>
          </p:cNvPr>
          <p:cNvPicPr>
            <a:picLocks noGrp="1" noChangeAspect="1"/>
          </p:cNvPicPr>
          <p:nvPr>
            <p:ph idx="1"/>
          </p:nvPr>
        </p:nvPicPr>
        <p:blipFill>
          <a:blip r:embed="rId2"/>
          <a:stretch>
            <a:fillRect/>
          </a:stretch>
        </p:blipFill>
        <p:spPr>
          <a:xfrm>
            <a:off x="122776" y="1295400"/>
            <a:ext cx="2391824" cy="1792379"/>
          </a:xfrm>
          <a:prstGeom prst="rect">
            <a:avLst/>
          </a:prstGeom>
        </p:spPr>
      </p:pic>
      <p:pic>
        <p:nvPicPr>
          <p:cNvPr id="4" name="Picture 3">
            <a:extLst>
              <a:ext uri="{FF2B5EF4-FFF2-40B4-BE49-F238E27FC236}">
                <a16:creationId xmlns:a16="http://schemas.microsoft.com/office/drawing/2014/main" id="{ABFDAC18-5442-522E-0A8F-B5A5395EA608}"/>
              </a:ext>
            </a:extLst>
          </p:cNvPr>
          <p:cNvPicPr>
            <a:picLocks noChangeAspect="1"/>
          </p:cNvPicPr>
          <p:nvPr/>
        </p:nvPicPr>
        <p:blipFill>
          <a:blip r:embed="rId3"/>
          <a:stretch>
            <a:fillRect/>
          </a:stretch>
        </p:blipFill>
        <p:spPr>
          <a:xfrm>
            <a:off x="5907158" y="1295400"/>
            <a:ext cx="2743200" cy="1868579"/>
          </a:xfrm>
          <a:prstGeom prst="rect">
            <a:avLst/>
          </a:prstGeom>
        </p:spPr>
      </p:pic>
      <p:pic>
        <p:nvPicPr>
          <p:cNvPr id="6" name="Picture 5">
            <a:extLst>
              <a:ext uri="{FF2B5EF4-FFF2-40B4-BE49-F238E27FC236}">
                <a16:creationId xmlns:a16="http://schemas.microsoft.com/office/drawing/2014/main" id="{AA41FBB4-D109-8321-1D8A-3D72CE144F90}"/>
              </a:ext>
            </a:extLst>
          </p:cNvPr>
          <p:cNvPicPr>
            <a:picLocks noChangeAspect="1"/>
          </p:cNvPicPr>
          <p:nvPr/>
        </p:nvPicPr>
        <p:blipFill>
          <a:blip r:embed="rId4"/>
          <a:stretch>
            <a:fillRect/>
          </a:stretch>
        </p:blipFill>
        <p:spPr>
          <a:xfrm>
            <a:off x="2667000" y="1295400"/>
            <a:ext cx="3048000" cy="1792379"/>
          </a:xfrm>
          <a:prstGeom prst="rect">
            <a:avLst/>
          </a:prstGeom>
        </p:spPr>
      </p:pic>
      <p:pic>
        <p:nvPicPr>
          <p:cNvPr id="7" name="Picture 6">
            <a:extLst>
              <a:ext uri="{FF2B5EF4-FFF2-40B4-BE49-F238E27FC236}">
                <a16:creationId xmlns:a16="http://schemas.microsoft.com/office/drawing/2014/main" id="{282B9EF7-25F4-D86E-92F7-E72894EFFA3A}"/>
              </a:ext>
            </a:extLst>
          </p:cNvPr>
          <p:cNvPicPr>
            <a:picLocks noChangeAspect="1"/>
          </p:cNvPicPr>
          <p:nvPr/>
        </p:nvPicPr>
        <p:blipFill>
          <a:blip r:embed="rId5"/>
          <a:stretch>
            <a:fillRect/>
          </a:stretch>
        </p:blipFill>
        <p:spPr>
          <a:xfrm>
            <a:off x="122776" y="4102543"/>
            <a:ext cx="2391824" cy="2158170"/>
          </a:xfrm>
          <a:prstGeom prst="rect">
            <a:avLst/>
          </a:prstGeom>
        </p:spPr>
      </p:pic>
      <p:pic>
        <p:nvPicPr>
          <p:cNvPr id="8" name="Picture 7">
            <a:extLst>
              <a:ext uri="{FF2B5EF4-FFF2-40B4-BE49-F238E27FC236}">
                <a16:creationId xmlns:a16="http://schemas.microsoft.com/office/drawing/2014/main" id="{997C19E2-B16B-49C4-9765-1C0330F5797B}"/>
              </a:ext>
            </a:extLst>
          </p:cNvPr>
          <p:cNvPicPr>
            <a:picLocks noChangeAspect="1"/>
          </p:cNvPicPr>
          <p:nvPr/>
        </p:nvPicPr>
        <p:blipFill>
          <a:blip r:embed="rId6"/>
          <a:stretch>
            <a:fillRect/>
          </a:stretch>
        </p:blipFill>
        <p:spPr>
          <a:xfrm>
            <a:off x="2895600" y="4102544"/>
            <a:ext cx="2447723" cy="2216132"/>
          </a:xfrm>
          <a:prstGeom prst="rect">
            <a:avLst/>
          </a:prstGeom>
        </p:spPr>
      </p:pic>
      <p:pic>
        <p:nvPicPr>
          <p:cNvPr id="9" name="Picture 8">
            <a:extLst>
              <a:ext uri="{FF2B5EF4-FFF2-40B4-BE49-F238E27FC236}">
                <a16:creationId xmlns:a16="http://schemas.microsoft.com/office/drawing/2014/main" id="{0B31FB0E-F484-4827-D9E6-30C5678DF211}"/>
              </a:ext>
            </a:extLst>
          </p:cNvPr>
          <p:cNvPicPr>
            <a:picLocks noChangeAspect="1"/>
          </p:cNvPicPr>
          <p:nvPr/>
        </p:nvPicPr>
        <p:blipFill>
          <a:blip r:embed="rId7"/>
          <a:stretch>
            <a:fillRect/>
          </a:stretch>
        </p:blipFill>
        <p:spPr>
          <a:xfrm>
            <a:off x="5562600" y="4102542"/>
            <a:ext cx="2743200" cy="2158169"/>
          </a:xfrm>
          <a:prstGeom prst="rect">
            <a:avLst/>
          </a:prstGeom>
        </p:spPr>
      </p:pic>
    </p:spTree>
    <p:extLst>
      <p:ext uri="{BB962C8B-B14F-4D97-AF65-F5344CB8AC3E}">
        <p14:creationId xmlns:p14="http://schemas.microsoft.com/office/powerpoint/2010/main" val="12767226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1"/>
          <p:cNvSpPr>
            <a:spLocks noChangeArrowheads="1"/>
          </p:cNvSpPr>
          <p:nvPr/>
        </p:nvSpPr>
        <p:spPr bwMode="auto">
          <a:xfrm>
            <a:off x="152400" y="765722"/>
            <a:ext cx="8686800" cy="513986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sz="2800" b="1" i="0" u="none" strike="noStrike" cap="none" normalizeH="0" baseline="0" dirty="0">
                <a:ln>
                  <a:noFill/>
                </a:ln>
                <a:solidFill>
                  <a:schemeClr val="tx1"/>
                </a:solidFill>
                <a:effectLst/>
                <a:latin typeface="+mn-lt"/>
                <a:ea typeface="Times New Roman" pitchFamily="18" charset="0"/>
                <a:cs typeface="Times New Roman" pitchFamily="18" charset="0"/>
              </a:rPr>
              <a:t>RISK ASSESSMENT</a:t>
            </a:r>
          </a:p>
          <a:p>
            <a:pPr marL="0" marR="0" lvl="0" indent="0" algn="l" defTabSz="914400" rtl="0" eaLnBrk="1" fontAlgn="base" latinLnBrk="0" hangingPunct="1">
              <a:lnSpc>
                <a:spcPct val="100000"/>
              </a:lnSpc>
              <a:spcBef>
                <a:spcPct val="0"/>
              </a:spcBef>
              <a:spcAft>
                <a:spcPct val="0"/>
              </a:spcAft>
              <a:buClrTx/>
              <a:buSzTx/>
              <a:buFontTx/>
              <a:buNone/>
              <a:tabLst>
                <a:tab pos="457200" algn="l"/>
              </a:tabLst>
            </a:pPr>
            <a:endParaRPr kumimoji="0" lang="en-US" sz="2400" b="0"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2400" b="1" i="0" u="sng" strike="noStrike" cap="none" normalizeH="0" baseline="0" dirty="0">
                <a:ln>
                  <a:noFill/>
                </a:ln>
                <a:solidFill>
                  <a:schemeClr val="tx1"/>
                </a:solidFill>
                <a:effectLst/>
                <a:latin typeface="+mn-lt"/>
                <a:ea typeface="Times New Roman" pitchFamily="18" charset="0"/>
                <a:cs typeface="Times New Roman" pitchFamily="18" charset="0"/>
              </a:rPr>
              <a:t>The following information should be gathered to make a risk assessment: </a:t>
            </a:r>
            <a:endParaRPr kumimoji="0" lang="en-US" sz="2400" b="1" i="0" u="sng"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smokes or not</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total and HDL cholesterol levels</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blood pressure</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diabetes or </a:t>
            </a: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hlinkClick r:id="rId2"/>
              </a:rPr>
              <a:t>metabolic syndrome</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overweight for age and height</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close relatives have or had premature heart disease</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With this information, you can place the person into one of three categories: </a:t>
            </a:r>
            <a:r>
              <a:rPr kumimoji="0" lang="en-US" sz="2400" b="1" i="1" u="none" strike="noStrike" cap="none" normalizeH="0" baseline="0" dirty="0">
                <a:ln>
                  <a:noFill/>
                </a:ln>
                <a:solidFill>
                  <a:schemeClr val="tx1"/>
                </a:solidFill>
                <a:effectLst/>
                <a:latin typeface="+mn-lt"/>
                <a:ea typeface="Times New Roman" pitchFamily="18" charset="0"/>
                <a:cs typeface="Times New Roman" pitchFamily="18" charset="0"/>
              </a:rPr>
              <a:t>low, intermediate, or high</a:t>
            </a:r>
            <a:r>
              <a:rPr kumimoji="0" lang="en-US" sz="2400" b="1" i="0" u="none" strike="noStrike" cap="none" normalizeH="0" baseline="0" dirty="0">
                <a:ln>
                  <a:noFill/>
                </a:ln>
                <a:solidFill>
                  <a:schemeClr val="tx1"/>
                </a:solidFill>
                <a:effectLst/>
                <a:latin typeface="+mn-lt"/>
                <a:ea typeface="Times New Roman" pitchFamily="18" charset="0"/>
                <a:cs typeface="Times New Roman" pitchFamily="18" charset="0"/>
              </a:rPr>
              <a:t>. </a:t>
            </a:r>
            <a:endParaRPr kumimoji="0" lang="en-US" sz="2400" b="1" i="0" u="none" strike="noStrike" cap="none" normalizeH="0" baseline="0" dirty="0">
              <a:ln>
                <a:noFill/>
              </a:ln>
              <a:solidFill>
                <a:schemeClr val="tx1"/>
              </a:solidFill>
              <a:effectLst/>
              <a:latin typeface="+mn-lt"/>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b="0" i="0" u="none" strike="noStrike" cap="none" normalizeH="0" baseline="0" dirty="0">
              <a:ln>
                <a:noFill/>
              </a:ln>
              <a:solidFill>
                <a:schemeClr val="tx1"/>
              </a:solidFill>
              <a:effectLst/>
              <a:latin typeface="+mn-lt"/>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n-US" b="0" i="0" u="none" strike="noStrike" cap="none" normalizeH="0" baseline="0" dirty="0">
              <a:ln>
                <a:noFill/>
              </a:ln>
              <a:solidFill>
                <a:schemeClr val="tx1"/>
              </a:solidFill>
              <a:effectLst/>
              <a:latin typeface="+mn-lt"/>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605" name="Group 77"/>
          <p:cNvGraphicFramePr>
            <a:graphicFrameLocks noGrp="1"/>
          </p:cNvGraphicFramePr>
          <p:nvPr/>
        </p:nvGraphicFramePr>
        <p:xfrm>
          <a:off x="0" y="304800"/>
          <a:ext cx="8839200" cy="6553011"/>
        </p:xfrm>
        <a:graphic>
          <a:graphicData uri="http://schemas.openxmlformats.org/drawingml/2006/table">
            <a:tbl>
              <a:tblPr/>
              <a:tblGrid>
                <a:gridCol w="29464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946400">
                  <a:extLst>
                    <a:ext uri="{9D8B030D-6E8A-4147-A177-3AD203B41FA5}">
                      <a16:colId xmlns:a16="http://schemas.microsoft.com/office/drawing/2014/main" val="20002"/>
                    </a:ext>
                  </a:extLst>
                </a:gridCol>
              </a:tblGrid>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FFFFFF"/>
                          </a:solidFill>
                          <a:effectLst/>
                          <a:latin typeface="Times New Roman" charset="0"/>
                        </a:rPr>
                        <a:t>APOPROTEIN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rgbClr val="FFFFFF"/>
                          </a:solidFill>
                          <a:effectLst/>
                          <a:latin typeface="Times New Roman" charset="0"/>
                        </a:rPr>
                        <a:t>ASSOCIATION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rgbClr val="FFFFFF"/>
                          </a:solidFill>
                          <a:effectLst/>
                          <a:latin typeface="Times New Roman" charset="0"/>
                        </a:rPr>
                        <a:t>COMMENTS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apoA-I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Activates LCAT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apoA-II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Enhances hepatic lipase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apoB-48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Found in </a:t>
                      </a:r>
                      <a:r>
                        <a:rPr kumimoji="0" lang="en-US" sz="1800" b="0" i="0" u="none" strike="noStrike" cap="none" normalizeH="0" baseline="0" dirty="0" err="1">
                          <a:ln>
                            <a:noFill/>
                          </a:ln>
                          <a:solidFill>
                            <a:srgbClr val="FFFFFF"/>
                          </a:solidFill>
                          <a:effectLst/>
                          <a:latin typeface="Times New Roman" charset="0"/>
                        </a:rPr>
                        <a:t>chylomicrons</a:t>
                      </a:r>
                      <a:r>
                        <a:rPr kumimoji="0" lang="en-US" sz="1800" b="0" i="0" u="none" strike="noStrike" cap="none" normalizeH="0" baseline="0" dirty="0">
                          <a:ln>
                            <a:noFill/>
                          </a:ln>
                          <a:solidFill>
                            <a:srgbClr val="FFFFFF"/>
                          </a:solidFill>
                          <a:effectLst/>
                          <a:latin typeface="Times New Roman" charset="0"/>
                        </a:rPr>
                        <a:t>; derived from apo-B-100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5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apoB-100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VLDL, IDL, LDL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Binds LDL receptor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apoC-I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remnants, VLDL, LDL and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Activates LCAT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apoC-II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remnants, VLDL, LDL and HDL</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rgbClr val="FFFFFF"/>
                        </a:solidFill>
                        <a:effectLst/>
                        <a:latin typeface="Times New Roman"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Activates lipoprotein lipase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699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apoC-III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remnants, VLDL, LDL and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Inhibits lipoprotein lipase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rgbClr val="FFFFFF"/>
                        </a:solidFill>
                        <a:effectLst/>
                        <a:latin typeface="Times New Roman"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rgbClr val="FFFFFF"/>
                        </a:solidFill>
                        <a:effectLst/>
                        <a:latin typeface="Times New Roman"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Cholesterol Ester Exchange Protein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8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Chylomicron remnants, VLDL, LDL and HDL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Binds LDL receptor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98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apo(a)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FFFFFF"/>
                          </a:solidFill>
                          <a:effectLst/>
                          <a:latin typeface="Times New Roman" charset="0"/>
                        </a:rPr>
                        <a:t>LDL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FFFFFF"/>
                          </a:solidFill>
                          <a:effectLst/>
                          <a:latin typeface="Times New Roman" charset="0"/>
                        </a:rPr>
                        <a:t>Disulfide bonded to B-100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descr="18"/>
          <p:cNvSpPr>
            <a:spLocks noGrp="1" noChangeAspect="1" noChangeArrowheads="1"/>
          </p:cNvSpPr>
          <p:nvPr/>
        </p:nvSpPr>
        <p:spPr bwMode="auto">
          <a:xfrm>
            <a:off x="0" y="0"/>
            <a:ext cx="9144000" cy="6858000"/>
          </a:xfrm>
          <a:prstGeom prst="rect">
            <a:avLst/>
          </a:prstGeom>
          <a:blipFill dpi="0" rotWithShape="1">
            <a:blip r:embed="rId3" cstate="print"/>
            <a:srcRect/>
            <a:stretch>
              <a:fillRect/>
            </a:stretch>
          </a:blipFill>
          <a:ln w="9525">
            <a:solidFill>
              <a:schemeClr val="tx1"/>
            </a:solidFill>
            <a:miter lim="800000"/>
            <a:headEnd/>
            <a:tailEnd/>
          </a:ln>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9AEB5A9-FC45-914C-7ED2-166C476BDF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0"/>
            <a:ext cx="70103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08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30C4D7-F36E-48EF-8710-5A6C53BA5E1C}"/>
              </a:ext>
            </a:extLst>
          </p:cNvPr>
          <p:cNvPicPr>
            <a:picLocks noChangeAspect="1"/>
          </p:cNvPicPr>
          <p:nvPr/>
        </p:nvPicPr>
        <p:blipFill>
          <a:blip r:embed="rId3"/>
          <a:stretch>
            <a:fillRect/>
          </a:stretch>
        </p:blipFill>
        <p:spPr>
          <a:xfrm>
            <a:off x="304800" y="381000"/>
            <a:ext cx="8686799" cy="5638800"/>
          </a:xfrm>
          <a:prstGeom prst="rect">
            <a:avLst/>
          </a:prstGeom>
        </p:spPr>
      </p:pic>
      <p:sp>
        <p:nvSpPr>
          <p:cNvPr id="3" name="TextBox 2">
            <a:extLst>
              <a:ext uri="{FF2B5EF4-FFF2-40B4-BE49-F238E27FC236}">
                <a16:creationId xmlns:a16="http://schemas.microsoft.com/office/drawing/2014/main" id="{5FA75075-4EE8-4C5A-BDE9-D9E2F1CCD93C}"/>
              </a:ext>
            </a:extLst>
          </p:cNvPr>
          <p:cNvSpPr txBox="1"/>
          <p:nvPr/>
        </p:nvSpPr>
        <p:spPr>
          <a:xfrm>
            <a:off x="723899" y="6138446"/>
            <a:ext cx="7848600" cy="338554"/>
          </a:xfrm>
          <a:prstGeom prst="rect">
            <a:avLst/>
          </a:prstGeom>
          <a:noFill/>
        </p:spPr>
        <p:txBody>
          <a:bodyPr wrap="square" rtlCol="0">
            <a:spAutoFit/>
          </a:bodyPr>
          <a:lstStyle/>
          <a:p>
            <a:r>
              <a:rPr lang="en-GB" altLang="en-US" sz="1600" b="1">
                <a:solidFill>
                  <a:srgbClr val="000000"/>
                </a:solidFill>
                <a:latin typeface="Arial" panose="020B0604020202020204" pitchFamily="34" charset="0"/>
                <a:cs typeface="msgothic" charset="0"/>
              </a:rPr>
              <a:t>Vascular endothelial cells and the development of early atherosclerotic lesions</a:t>
            </a:r>
            <a:endParaRPr lang="en-US" dirty="0"/>
          </a:p>
        </p:txBody>
      </p:sp>
    </p:spTree>
    <p:extLst>
      <p:ext uri="{BB962C8B-B14F-4D97-AF65-F5344CB8AC3E}">
        <p14:creationId xmlns:p14="http://schemas.microsoft.com/office/powerpoint/2010/main" val="675840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329C1D-901D-AA77-287D-D4712C14F8AE}"/>
              </a:ext>
            </a:extLst>
          </p:cNvPr>
          <p:cNvPicPr>
            <a:picLocks noChangeAspect="1"/>
          </p:cNvPicPr>
          <p:nvPr/>
        </p:nvPicPr>
        <p:blipFill>
          <a:blip r:embed="rId2"/>
          <a:stretch>
            <a:fillRect/>
          </a:stretch>
        </p:blipFill>
        <p:spPr>
          <a:xfrm>
            <a:off x="1905000" y="78952"/>
            <a:ext cx="6172199" cy="6702848"/>
          </a:xfrm>
          <a:prstGeom prst="rect">
            <a:avLst/>
          </a:prstGeom>
        </p:spPr>
      </p:pic>
    </p:spTree>
    <p:extLst>
      <p:ext uri="{BB962C8B-B14F-4D97-AF65-F5344CB8AC3E}">
        <p14:creationId xmlns:p14="http://schemas.microsoft.com/office/powerpoint/2010/main" val="629729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icture containing music&#10;&#10;Description generated with very high confidence">
            <a:extLst>
              <a:ext uri="{FF2B5EF4-FFF2-40B4-BE49-F238E27FC236}">
                <a16:creationId xmlns:a16="http://schemas.microsoft.com/office/drawing/2014/main" id="{67FA0787-D02D-4D9B-B03F-10BF81F10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invGray">
          <a:xfrm>
            <a:off x="473074" y="1069658"/>
            <a:ext cx="8178799" cy="511174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7E16145-72D5-46F2-BADC-67FDB953417A}"/>
              </a:ext>
            </a:extLst>
          </p:cNvPr>
          <p:cNvSpPr txBox="1"/>
          <p:nvPr/>
        </p:nvSpPr>
        <p:spPr>
          <a:xfrm>
            <a:off x="609600" y="1676400"/>
            <a:ext cx="1371600" cy="369332"/>
          </a:xfrm>
          <a:prstGeom prst="rect">
            <a:avLst/>
          </a:prstGeom>
          <a:noFill/>
        </p:spPr>
        <p:txBody>
          <a:bodyPr wrap="square" rtlCol="0">
            <a:spAutoFit/>
          </a:bodyPr>
          <a:lstStyle/>
          <a:p>
            <a:r>
              <a:rPr lang="en-US" dirty="0"/>
              <a:t>Normal</a:t>
            </a:r>
          </a:p>
        </p:txBody>
      </p:sp>
      <p:sp>
        <p:nvSpPr>
          <p:cNvPr id="4" name="TextBox 3">
            <a:extLst>
              <a:ext uri="{FF2B5EF4-FFF2-40B4-BE49-F238E27FC236}">
                <a16:creationId xmlns:a16="http://schemas.microsoft.com/office/drawing/2014/main" id="{469439C8-1018-41F4-AAEF-924AFFE3C367}"/>
              </a:ext>
            </a:extLst>
          </p:cNvPr>
          <p:cNvSpPr txBox="1"/>
          <p:nvPr/>
        </p:nvSpPr>
        <p:spPr>
          <a:xfrm>
            <a:off x="2514600" y="1295400"/>
            <a:ext cx="1752600" cy="369332"/>
          </a:xfrm>
          <a:prstGeom prst="rect">
            <a:avLst/>
          </a:prstGeom>
          <a:noFill/>
        </p:spPr>
        <p:txBody>
          <a:bodyPr wrap="square" rtlCol="0">
            <a:spAutoFit/>
          </a:bodyPr>
          <a:lstStyle/>
          <a:p>
            <a:r>
              <a:rPr lang="en-US" dirty="0"/>
              <a:t>Fatty Streak</a:t>
            </a:r>
          </a:p>
        </p:txBody>
      </p:sp>
      <p:sp>
        <p:nvSpPr>
          <p:cNvPr id="5" name="TextBox 4">
            <a:extLst>
              <a:ext uri="{FF2B5EF4-FFF2-40B4-BE49-F238E27FC236}">
                <a16:creationId xmlns:a16="http://schemas.microsoft.com/office/drawing/2014/main" id="{8C35A70A-9220-4C1D-AE32-64792E983E27}"/>
              </a:ext>
            </a:extLst>
          </p:cNvPr>
          <p:cNvSpPr txBox="1"/>
          <p:nvPr/>
        </p:nvSpPr>
        <p:spPr>
          <a:xfrm>
            <a:off x="6781799" y="2362200"/>
            <a:ext cx="1879599" cy="369332"/>
          </a:xfrm>
          <a:prstGeom prst="rect">
            <a:avLst/>
          </a:prstGeom>
          <a:noFill/>
        </p:spPr>
        <p:txBody>
          <a:bodyPr wrap="square" rtlCol="0">
            <a:spAutoFit/>
          </a:bodyPr>
          <a:lstStyle/>
          <a:p>
            <a:r>
              <a:rPr lang="en-US" dirty="0"/>
              <a:t>Lipid-rich plaque</a:t>
            </a:r>
          </a:p>
        </p:txBody>
      </p:sp>
      <p:sp>
        <p:nvSpPr>
          <p:cNvPr id="6" name="TextBox 5">
            <a:extLst>
              <a:ext uri="{FF2B5EF4-FFF2-40B4-BE49-F238E27FC236}">
                <a16:creationId xmlns:a16="http://schemas.microsoft.com/office/drawing/2014/main" id="{7F4663A4-B3FC-4D3C-86E0-47D3D8B19AAB}"/>
              </a:ext>
            </a:extLst>
          </p:cNvPr>
          <p:cNvSpPr txBox="1"/>
          <p:nvPr/>
        </p:nvSpPr>
        <p:spPr>
          <a:xfrm>
            <a:off x="7053200" y="5419010"/>
            <a:ext cx="1219200" cy="369332"/>
          </a:xfrm>
          <a:prstGeom prst="rect">
            <a:avLst/>
          </a:prstGeom>
          <a:noFill/>
        </p:spPr>
        <p:txBody>
          <a:bodyPr wrap="square" rtlCol="0">
            <a:spAutoFit/>
          </a:bodyPr>
          <a:lstStyle/>
          <a:p>
            <a:r>
              <a:rPr lang="en-US" dirty="0"/>
              <a:t>Lipid core</a:t>
            </a:r>
          </a:p>
        </p:txBody>
      </p:sp>
      <p:sp>
        <p:nvSpPr>
          <p:cNvPr id="8" name="TextBox 7">
            <a:extLst>
              <a:ext uri="{FF2B5EF4-FFF2-40B4-BE49-F238E27FC236}">
                <a16:creationId xmlns:a16="http://schemas.microsoft.com/office/drawing/2014/main" id="{030E8C17-2D82-4AF7-A7C1-68136337C7C2}"/>
              </a:ext>
            </a:extLst>
          </p:cNvPr>
          <p:cNvSpPr txBox="1"/>
          <p:nvPr/>
        </p:nvSpPr>
        <p:spPr>
          <a:xfrm>
            <a:off x="5029200" y="4126469"/>
            <a:ext cx="1295400" cy="369332"/>
          </a:xfrm>
          <a:prstGeom prst="rect">
            <a:avLst/>
          </a:prstGeom>
          <a:noFill/>
        </p:spPr>
        <p:txBody>
          <a:bodyPr wrap="square" rtlCol="0">
            <a:spAutoFit/>
          </a:bodyPr>
          <a:lstStyle/>
          <a:p>
            <a:r>
              <a:rPr lang="en-US" dirty="0"/>
              <a:t>Fibrous cap</a:t>
            </a:r>
          </a:p>
        </p:txBody>
      </p:sp>
    </p:spTree>
    <p:extLst>
      <p:ext uri="{BB962C8B-B14F-4D97-AF65-F5344CB8AC3E}">
        <p14:creationId xmlns:p14="http://schemas.microsoft.com/office/powerpoint/2010/main" val="2706415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08F7DC-86B2-4563-9D58-56692978011A}"/>
              </a:ext>
            </a:extLst>
          </p:cNvPr>
          <p:cNvPicPr>
            <a:picLocks noChangeAspect="1"/>
          </p:cNvPicPr>
          <p:nvPr/>
        </p:nvPicPr>
        <p:blipFill rotWithShape="1">
          <a:blip r:embed="rId2">
            <a:extLst>
              <a:ext uri="{28A0092B-C50C-407E-A947-70E740481C1C}">
                <a14:useLocalDpi xmlns:a14="http://schemas.microsoft.com/office/drawing/2010/main" val="0"/>
              </a:ext>
            </a:extLst>
          </a:blip>
          <a:srcRect r="2" b="14"/>
          <a:stretch/>
        </p:blipFill>
        <p:spPr>
          <a:xfrm>
            <a:off x="90488" y="68263"/>
            <a:ext cx="8963025" cy="6721475"/>
          </a:xfrm>
          <a:prstGeom prst="rect">
            <a:avLst/>
          </a:prstGeom>
          <a:noFill/>
        </p:spPr>
      </p:pic>
    </p:spTree>
    <p:extLst>
      <p:ext uri="{BB962C8B-B14F-4D97-AF65-F5344CB8AC3E}">
        <p14:creationId xmlns:p14="http://schemas.microsoft.com/office/powerpoint/2010/main" val="13347623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7069B7-8F11-4ECC-86ED-B27F516D0354}"/>
              </a:ext>
            </a:extLst>
          </p:cNvPr>
          <p:cNvPicPr>
            <a:picLocks noChangeAspect="1"/>
          </p:cNvPicPr>
          <p:nvPr/>
        </p:nvPicPr>
        <p:blipFill>
          <a:blip r:embed="rId2"/>
          <a:stretch>
            <a:fillRect/>
          </a:stretch>
        </p:blipFill>
        <p:spPr>
          <a:xfrm>
            <a:off x="246184" y="152400"/>
            <a:ext cx="8651631" cy="6248400"/>
          </a:xfrm>
          <a:prstGeom prst="rect">
            <a:avLst/>
          </a:prstGeom>
        </p:spPr>
      </p:pic>
    </p:spTree>
    <p:extLst>
      <p:ext uri="{BB962C8B-B14F-4D97-AF65-F5344CB8AC3E}">
        <p14:creationId xmlns:p14="http://schemas.microsoft.com/office/powerpoint/2010/main" val="441180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34"/>
          <p:cNvPicPr>
            <a:picLocks noChangeAspect="1" noChangeArrowheads="1"/>
          </p:cNvPicPr>
          <p:nvPr/>
        </p:nvPicPr>
        <p:blipFill>
          <a:blip r:embed="rId3" cstate="print"/>
          <a:srcRect/>
          <a:stretch>
            <a:fillRect/>
          </a:stretch>
        </p:blipFill>
        <p:spPr bwMode="auto">
          <a:xfrm>
            <a:off x="831850" y="36513"/>
            <a:ext cx="7480300" cy="678497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FattyStreak.png"/>
          <p:cNvPicPr/>
          <p:nvPr/>
        </p:nvPicPr>
        <p:blipFill rotWithShape="1">
          <a:blip r:embed="rId2" cstate="print"/>
          <a:srcRect t="15146"/>
          <a:stretch/>
        </p:blipFill>
        <p:spPr bwMode="auto">
          <a:xfrm>
            <a:off x="20" y="10"/>
            <a:ext cx="9143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a:noFill/>
        </p:spPr>
      </p:pic>
      <p:sp>
        <p:nvSpPr>
          <p:cNvPr id="14"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74529" y="5470492"/>
            <a:ext cx="1371600" cy="13716"/>
          </a:xfrm>
          <a:custGeom>
            <a:avLst/>
            <a:gdLst>
              <a:gd name="connsiteX0" fmla="*/ 0 w 1371600"/>
              <a:gd name="connsiteY0" fmla="*/ 0 h 13716"/>
              <a:gd name="connsiteX1" fmla="*/ 685800 w 1371600"/>
              <a:gd name="connsiteY1" fmla="*/ 0 h 13716"/>
              <a:gd name="connsiteX2" fmla="*/ 1371600 w 1371600"/>
              <a:gd name="connsiteY2" fmla="*/ 0 h 13716"/>
              <a:gd name="connsiteX3" fmla="*/ 1371600 w 1371600"/>
              <a:gd name="connsiteY3" fmla="*/ 13716 h 13716"/>
              <a:gd name="connsiteX4" fmla="*/ 713232 w 1371600"/>
              <a:gd name="connsiteY4" fmla="*/ 13716 h 13716"/>
              <a:gd name="connsiteX5" fmla="*/ 0 w 1371600"/>
              <a:gd name="connsiteY5" fmla="*/ 13716 h 13716"/>
              <a:gd name="connsiteX6" fmla="*/ 0 w 1371600"/>
              <a:gd name="connsiteY6" fmla="*/ 0 h 13716"/>
              <a:gd name="connsiteX0" fmla="*/ 0 w 1371600"/>
              <a:gd name="connsiteY0" fmla="*/ 0 h 13716"/>
              <a:gd name="connsiteX1" fmla="*/ 644652 w 1371600"/>
              <a:gd name="connsiteY1" fmla="*/ 0 h 13716"/>
              <a:gd name="connsiteX2" fmla="*/ 1371600 w 1371600"/>
              <a:gd name="connsiteY2" fmla="*/ 0 h 13716"/>
              <a:gd name="connsiteX3" fmla="*/ 1371600 w 1371600"/>
              <a:gd name="connsiteY3" fmla="*/ 13716 h 13716"/>
              <a:gd name="connsiteX4" fmla="*/ 713232 w 1371600"/>
              <a:gd name="connsiteY4" fmla="*/ 13716 h 13716"/>
              <a:gd name="connsiteX5" fmla="*/ 0 w 1371600"/>
              <a:gd name="connsiteY5" fmla="*/ 13716 h 13716"/>
              <a:gd name="connsiteX6" fmla="*/ 0 w 137160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3716" fill="none" extrusionOk="0">
                <a:moveTo>
                  <a:pt x="0" y="0"/>
                </a:moveTo>
                <a:cubicBezTo>
                  <a:pt x="240249" y="32963"/>
                  <a:pt x="409296" y="-18450"/>
                  <a:pt x="685800" y="0"/>
                </a:cubicBezTo>
                <a:cubicBezTo>
                  <a:pt x="954142" y="211"/>
                  <a:pt x="1166785" y="22353"/>
                  <a:pt x="1371600" y="0"/>
                </a:cubicBezTo>
                <a:cubicBezTo>
                  <a:pt x="1370996" y="3142"/>
                  <a:pt x="1371820" y="8880"/>
                  <a:pt x="1371600" y="13716"/>
                </a:cubicBezTo>
                <a:cubicBezTo>
                  <a:pt x="1106837" y="28424"/>
                  <a:pt x="1032834" y="20364"/>
                  <a:pt x="713232" y="13716"/>
                </a:cubicBezTo>
                <a:cubicBezTo>
                  <a:pt x="399250" y="-7822"/>
                  <a:pt x="277176" y="48782"/>
                  <a:pt x="0" y="13716"/>
                </a:cubicBezTo>
                <a:cubicBezTo>
                  <a:pt x="310" y="7052"/>
                  <a:pt x="119" y="6101"/>
                  <a:pt x="0" y="0"/>
                </a:cubicBezTo>
                <a:close/>
              </a:path>
              <a:path w="1371600" h="13716" stroke="0" extrusionOk="0">
                <a:moveTo>
                  <a:pt x="0" y="0"/>
                </a:moveTo>
                <a:cubicBezTo>
                  <a:pt x="168171" y="-27104"/>
                  <a:pt x="522270" y="7661"/>
                  <a:pt x="644652" y="0"/>
                </a:cubicBezTo>
                <a:cubicBezTo>
                  <a:pt x="812772" y="-55512"/>
                  <a:pt x="1098507" y="70876"/>
                  <a:pt x="1371600" y="0"/>
                </a:cubicBezTo>
                <a:cubicBezTo>
                  <a:pt x="1372276" y="6444"/>
                  <a:pt x="1371882" y="10524"/>
                  <a:pt x="1371600" y="13716"/>
                </a:cubicBezTo>
                <a:cubicBezTo>
                  <a:pt x="1195700" y="-500"/>
                  <a:pt x="896159" y="12360"/>
                  <a:pt x="713232" y="13716"/>
                </a:cubicBezTo>
                <a:cubicBezTo>
                  <a:pt x="556279" y="-18909"/>
                  <a:pt x="248593" y="33389"/>
                  <a:pt x="0" y="13716"/>
                </a:cubicBezTo>
                <a:cubicBezTo>
                  <a:pt x="708" y="8775"/>
                  <a:pt x="205" y="3193"/>
                  <a:pt x="0" y="0"/>
                </a:cubicBezTo>
                <a:close/>
              </a:path>
              <a:path w="1371600" h="13716" fill="none" stroke="0" extrusionOk="0">
                <a:moveTo>
                  <a:pt x="0" y="0"/>
                </a:moveTo>
                <a:cubicBezTo>
                  <a:pt x="244262" y="19623"/>
                  <a:pt x="384306" y="-36563"/>
                  <a:pt x="685800" y="0"/>
                </a:cubicBezTo>
                <a:cubicBezTo>
                  <a:pt x="948860" y="14963"/>
                  <a:pt x="1224146" y="-8100"/>
                  <a:pt x="1371600" y="0"/>
                </a:cubicBezTo>
                <a:cubicBezTo>
                  <a:pt x="1371106" y="3035"/>
                  <a:pt x="1371590" y="7528"/>
                  <a:pt x="1371600" y="13716"/>
                </a:cubicBezTo>
                <a:cubicBezTo>
                  <a:pt x="1096935" y="20595"/>
                  <a:pt x="1028598" y="23761"/>
                  <a:pt x="713232" y="13716"/>
                </a:cubicBezTo>
                <a:cubicBezTo>
                  <a:pt x="397901" y="-1585"/>
                  <a:pt x="274098" y="18066"/>
                  <a:pt x="0" y="13716"/>
                </a:cubicBezTo>
                <a:cubicBezTo>
                  <a:pt x="190" y="7214"/>
                  <a:pt x="-13" y="597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custGeom>
                    <a:avLst/>
                    <a:gdLst>
                      <a:gd name="connsiteX0" fmla="*/ 0 w 1371600"/>
                      <a:gd name="connsiteY0" fmla="*/ 0 h 13716"/>
                      <a:gd name="connsiteX1" fmla="*/ 685800 w 1371600"/>
                      <a:gd name="connsiteY1" fmla="*/ 0 h 13716"/>
                      <a:gd name="connsiteX2" fmla="*/ 1371600 w 1371600"/>
                      <a:gd name="connsiteY2" fmla="*/ 0 h 13716"/>
                      <a:gd name="connsiteX3" fmla="*/ 1371600 w 1371600"/>
                      <a:gd name="connsiteY3" fmla="*/ 13716 h 13716"/>
                      <a:gd name="connsiteX4" fmla="*/ 713232 w 1371600"/>
                      <a:gd name="connsiteY4" fmla="*/ 13716 h 13716"/>
                      <a:gd name="connsiteX5" fmla="*/ 0 w 1371600"/>
                      <a:gd name="connsiteY5" fmla="*/ 13716 h 13716"/>
                      <a:gd name="connsiteX6" fmla="*/ 0 w 137160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3716" fill="none" extrusionOk="0">
                        <a:moveTo>
                          <a:pt x="0" y="0"/>
                        </a:moveTo>
                        <a:cubicBezTo>
                          <a:pt x="247303" y="31625"/>
                          <a:pt x="422310" y="-25629"/>
                          <a:pt x="685800" y="0"/>
                        </a:cubicBezTo>
                        <a:cubicBezTo>
                          <a:pt x="949290" y="25629"/>
                          <a:pt x="1192357" y="6696"/>
                          <a:pt x="1371600" y="0"/>
                        </a:cubicBezTo>
                        <a:cubicBezTo>
                          <a:pt x="1371127" y="2892"/>
                          <a:pt x="1371229" y="8681"/>
                          <a:pt x="1371600" y="13716"/>
                        </a:cubicBezTo>
                        <a:cubicBezTo>
                          <a:pt x="1107995" y="21892"/>
                          <a:pt x="1033361" y="28370"/>
                          <a:pt x="713232" y="13716"/>
                        </a:cubicBezTo>
                        <a:cubicBezTo>
                          <a:pt x="393103" y="-938"/>
                          <a:pt x="289343" y="38649"/>
                          <a:pt x="0" y="13716"/>
                        </a:cubicBezTo>
                        <a:cubicBezTo>
                          <a:pt x="227" y="7219"/>
                          <a:pt x="197" y="5990"/>
                          <a:pt x="0" y="0"/>
                        </a:cubicBezTo>
                        <a:close/>
                      </a:path>
                      <a:path w="1371600" h="13716" stroke="0" extrusionOk="0">
                        <a:moveTo>
                          <a:pt x="0" y="0"/>
                        </a:moveTo>
                        <a:cubicBezTo>
                          <a:pt x="170249" y="-24099"/>
                          <a:pt x="504634" y="14338"/>
                          <a:pt x="644652" y="0"/>
                        </a:cubicBezTo>
                        <a:cubicBezTo>
                          <a:pt x="784670" y="-14338"/>
                          <a:pt x="1087773" y="8679"/>
                          <a:pt x="1371600" y="0"/>
                        </a:cubicBezTo>
                        <a:cubicBezTo>
                          <a:pt x="1372228" y="6235"/>
                          <a:pt x="1371259" y="10206"/>
                          <a:pt x="1371600" y="13716"/>
                        </a:cubicBezTo>
                        <a:cubicBezTo>
                          <a:pt x="1176823" y="-5981"/>
                          <a:pt x="900830" y="5417"/>
                          <a:pt x="713232" y="13716"/>
                        </a:cubicBezTo>
                        <a:cubicBezTo>
                          <a:pt x="525634" y="22015"/>
                          <a:pt x="282837" y="1152"/>
                          <a:pt x="0" y="13716"/>
                        </a:cubicBezTo>
                        <a:cubicBezTo>
                          <a:pt x="596" y="8712"/>
                          <a:pt x="320" y="3422"/>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490720" y="4777739"/>
            <a:ext cx="5173220" cy="1399223"/>
          </a:xfrm>
          <a:prstGeom prst="rect">
            <a:avLst/>
          </a:prstGeom>
        </p:spPr>
        <p:txBody>
          <a:bodyPr vert="horz" lIns="91440" tIns="45720" rIns="91440" bIns="45720" rtlCol="0" anchor="ctr">
            <a:normAutofit/>
          </a:bodyPr>
          <a:lstStyle/>
          <a:p>
            <a:pPr>
              <a:lnSpc>
                <a:spcPct val="90000"/>
              </a:lnSpc>
              <a:spcAft>
                <a:spcPts val="600"/>
              </a:spcAft>
            </a:pPr>
            <a:r>
              <a:rPr lang="en-US" sz="2400" dirty="0">
                <a:solidFill>
                  <a:schemeClr val="tx1"/>
                </a:solidFill>
                <a:latin typeface="+mn-lt"/>
              </a:rPr>
              <a:t>Photograph of the inside of an artery; showing fatty streaks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35"/>
          <p:cNvPicPr>
            <a:picLocks noChangeAspect="1" noChangeArrowheads="1"/>
          </p:cNvPicPr>
          <p:nvPr/>
        </p:nvPicPr>
        <p:blipFill>
          <a:blip r:embed="rId3" cstate="print"/>
          <a:srcRect/>
          <a:stretch>
            <a:fillRect/>
          </a:stretch>
        </p:blipFill>
        <p:spPr bwMode="auto">
          <a:xfrm>
            <a:off x="0" y="392113"/>
            <a:ext cx="9144000" cy="6072187"/>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6" name="Picture 2" descr="D:\flh1\flh130.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39"/>
          <p:cNvPicPr>
            <a:picLocks noChangeAspect="1" noChangeArrowheads="1"/>
          </p:cNvPicPr>
          <p:nvPr/>
        </p:nvPicPr>
        <p:blipFill>
          <a:blip r:embed="rId3" cstate="print"/>
          <a:srcRect/>
          <a:stretch>
            <a:fillRect/>
          </a:stretch>
        </p:blipFill>
        <p:spPr bwMode="auto">
          <a:xfrm>
            <a:off x="0" y="36513"/>
            <a:ext cx="9144000" cy="678497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40"/>
          <p:cNvPicPr>
            <a:picLocks noChangeAspect="1" noChangeArrowheads="1"/>
          </p:cNvPicPr>
          <p:nvPr/>
        </p:nvPicPr>
        <p:blipFill>
          <a:blip r:embed="rId3" cstate="print"/>
          <a:srcRect/>
          <a:stretch>
            <a:fillRect/>
          </a:stretch>
        </p:blipFill>
        <p:spPr bwMode="auto">
          <a:xfrm>
            <a:off x="0" y="342900"/>
            <a:ext cx="9144000" cy="61722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3193EE-F0A0-4285-A028-0E38D726039E}"/>
              </a:ext>
            </a:extLst>
          </p:cNvPr>
          <p:cNvPicPr>
            <a:picLocks noChangeAspect="1"/>
          </p:cNvPicPr>
          <p:nvPr/>
        </p:nvPicPr>
        <p:blipFill>
          <a:blip r:embed="rId2"/>
          <a:stretch>
            <a:fillRect/>
          </a:stretch>
        </p:blipFill>
        <p:spPr>
          <a:xfrm>
            <a:off x="482600" y="1905698"/>
            <a:ext cx="8178799" cy="3046602"/>
          </a:xfrm>
          <a:prstGeom prst="rect">
            <a:avLst/>
          </a:prstGeom>
        </p:spPr>
      </p:pic>
    </p:spTree>
    <p:extLst>
      <p:ext uri="{BB962C8B-B14F-4D97-AF65-F5344CB8AC3E}">
        <p14:creationId xmlns:p14="http://schemas.microsoft.com/office/powerpoint/2010/main" val="3584991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1600200" y="457200"/>
            <a:ext cx="6248400" cy="461665"/>
          </a:xfrm>
          <a:prstGeom prst="rect">
            <a:avLst/>
          </a:prstGeom>
          <a:noFill/>
          <a:ln w="9525">
            <a:noFill/>
            <a:miter lim="800000"/>
            <a:headEnd/>
            <a:tailEnd/>
          </a:ln>
        </p:spPr>
        <p:txBody>
          <a:bodyPr>
            <a:spAutoFit/>
          </a:bodyPr>
          <a:lstStyle/>
          <a:p>
            <a:pPr algn="ctr">
              <a:spcBef>
                <a:spcPct val="50000"/>
              </a:spcBef>
            </a:pPr>
            <a:r>
              <a:rPr lang="en-US" sz="2400" b="1" dirty="0"/>
              <a:t>The Hyperlipoproteinemias</a:t>
            </a:r>
          </a:p>
        </p:txBody>
      </p:sp>
      <p:graphicFrame>
        <p:nvGraphicFramePr>
          <p:cNvPr id="71945" name="Group 265"/>
          <p:cNvGraphicFramePr>
            <a:graphicFrameLocks noGrp="1"/>
          </p:cNvGraphicFramePr>
          <p:nvPr/>
        </p:nvGraphicFramePr>
        <p:xfrm>
          <a:off x="304800" y="1143000"/>
          <a:ext cx="8610600" cy="4748403"/>
        </p:xfrm>
        <a:graphic>
          <a:graphicData uri="http://schemas.openxmlformats.org/drawingml/2006/table">
            <a:tbl>
              <a:tblPr/>
              <a:tblGrid>
                <a:gridCol w="8382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738313">
                  <a:extLst>
                    <a:ext uri="{9D8B030D-6E8A-4147-A177-3AD203B41FA5}">
                      <a16:colId xmlns:a16="http://schemas.microsoft.com/office/drawing/2014/main" val="20003"/>
                    </a:ext>
                  </a:extLst>
                </a:gridCol>
                <a:gridCol w="1385887">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dirty="0">
                        <a:ln>
                          <a:noFill/>
                        </a:ln>
                        <a:solidFill>
                          <a:schemeClr val="tx1"/>
                        </a:solidFill>
                        <a:effectLst/>
                        <a:latin typeface="Times New Roman"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Type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Increased Lipoprotein Class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Increased Lipid Class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Genetic Disorders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Primary Defect</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Secondary</a:t>
                      </a:r>
                      <a:r>
                        <a:rPr kumimoji="0" lang="en-US" sz="1400" b="1" i="0" u="none" strike="noStrike" cap="none" normalizeH="0" baseline="0" dirty="0">
                          <a:ln>
                            <a:noFill/>
                          </a:ln>
                          <a:solidFill>
                            <a:schemeClr val="bg1"/>
                          </a:solidFill>
                          <a:effectLst/>
                          <a:latin typeface="Times New Roman" charset="0"/>
                        </a:rPr>
                        <a:t> Disorders</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dirty="0">
                        <a:ln>
                          <a:noFill/>
                        </a:ln>
                        <a:solidFill>
                          <a:schemeClr val="bg1"/>
                        </a:solidFill>
                        <a:effectLst/>
                        <a:latin typeface="Times New Roman"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00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1</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Chylomicrons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Triglycerides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lipoprotein lipase deficiency</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Deficiency of lipoprotein lipase</a:t>
                      </a:r>
                      <a:endParaRPr kumimoji="0" lang="en-US" sz="1200" b="0" i="0" u="none" strike="noStrike" cap="none" normalizeH="0" baseline="0" dirty="0">
                        <a:ln>
                          <a:noFill/>
                        </a:ln>
                        <a:solidFill>
                          <a:schemeClr val="bg1"/>
                        </a:solidFill>
                        <a:effectLst/>
                        <a:latin typeface="Times New Roman"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SLE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2a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LDL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Cholesterol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hypercholesterolemia (rarely 2b)</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Deficiency of LDL receptor</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Nephrotic syndrome; hyperthyroidism</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2b</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LDL and VLDL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Cholesterol and triglycerides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combined hyperlipidemia (also 2a and 4)</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Deficiency of LDL receptor</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Nephrotic syndrome; diet stress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3</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Remnants (Chylomicrons) and IDL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Triglycerides and Cholesterol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Type 3 hyperlipoproteinemia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Abnormal apoprotein 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Hyperthyroidism</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34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4</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VLDL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Triglycerides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hypertriglyceridemia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Deficiency of lipoprotein lipase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Diabetes mellitus; alcoholism</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858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5</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VLDL and Chylomicrons</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Triglycerides and Cholesterol</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combined hyperlipidemia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Familial apoprotein CII deficiency</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charset="0"/>
                        </a:rPr>
                        <a:t>Alcoholism; diabetes; oral contraceptives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200" b="0" i="0" u="none" strike="noStrike" cap="none" normalizeH="0" baseline="0" dirty="0">
                        <a:ln>
                          <a:noFill/>
                        </a:ln>
                        <a:solidFill>
                          <a:schemeClr val="bg1"/>
                        </a:solidFill>
                        <a:effectLst/>
                        <a:latin typeface="Times New Roman" charset="0"/>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1600200" y="228600"/>
            <a:ext cx="5257800" cy="519113"/>
          </a:xfrm>
          <a:prstGeom prst="rect">
            <a:avLst/>
          </a:prstGeom>
          <a:noFill/>
          <a:ln w="9525">
            <a:noFill/>
            <a:miter lim="800000"/>
            <a:headEnd/>
            <a:tailEnd/>
          </a:ln>
        </p:spPr>
        <p:txBody>
          <a:bodyPr>
            <a:spAutoFit/>
          </a:bodyPr>
          <a:lstStyle/>
          <a:p>
            <a:pPr algn="ctr">
              <a:spcBef>
                <a:spcPct val="50000"/>
              </a:spcBef>
            </a:pPr>
            <a:r>
              <a:rPr lang="en-US" sz="2800"/>
              <a:t>Hypolipoproteinemias</a:t>
            </a:r>
          </a:p>
        </p:txBody>
      </p:sp>
      <p:graphicFrame>
        <p:nvGraphicFramePr>
          <p:cNvPr id="72895" name="Group 191"/>
          <p:cNvGraphicFramePr>
            <a:graphicFrameLocks noGrp="1"/>
          </p:cNvGraphicFramePr>
          <p:nvPr/>
        </p:nvGraphicFramePr>
        <p:xfrm>
          <a:off x="381000" y="1066800"/>
          <a:ext cx="8382000" cy="4607560"/>
        </p:xfrm>
        <a:graphic>
          <a:graphicData uri="http://schemas.openxmlformats.org/drawingml/2006/table">
            <a:tbl>
              <a:tblPr/>
              <a:tblGrid>
                <a:gridCol w="2014904">
                  <a:extLst>
                    <a:ext uri="{9D8B030D-6E8A-4147-A177-3AD203B41FA5}">
                      <a16:colId xmlns:a16="http://schemas.microsoft.com/office/drawing/2014/main" val="20000"/>
                    </a:ext>
                  </a:extLst>
                </a:gridCol>
                <a:gridCol w="2344005">
                  <a:extLst>
                    <a:ext uri="{9D8B030D-6E8A-4147-A177-3AD203B41FA5}">
                      <a16:colId xmlns:a16="http://schemas.microsoft.com/office/drawing/2014/main" val="20001"/>
                    </a:ext>
                  </a:extLst>
                </a:gridCol>
                <a:gridCol w="1927591">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3283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Type </a:t>
                      </a:r>
                    </a:p>
                  </a:txBody>
                  <a:tcPr horzOverflow="overflow">
                    <a:lnL cap="flat">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Characteristics</a:t>
                      </a:r>
                    </a:p>
                  </a:txBody>
                  <a:tcPr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Underlying Cause</a:t>
                      </a:r>
                    </a:p>
                  </a:txBody>
                  <a:tcPr horzOverflow="overflow">
                    <a:lnL>
                      <a:noFill/>
                    </a:lnL>
                    <a:lnR>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charset="0"/>
                        </a:rPr>
                        <a:t>Other Names</a:t>
                      </a:r>
                    </a:p>
                  </a:txBody>
                  <a:tcPr horzOverflow="overflow">
                    <a:lnL>
                      <a:noFill/>
                    </a:lnL>
                    <a:lnR cap="flat">
                      <a:noFill/>
                    </a:lnR>
                    <a:lnT cap="fla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73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A-</a:t>
                      </a:r>
                      <a:r>
                        <a:rPr kumimoji="0" lang="el-GR" sz="1400" b="0" i="0" u="none" strike="noStrike" cap="none" normalizeH="0" baseline="0" dirty="0">
                          <a:ln>
                            <a:noFill/>
                          </a:ln>
                          <a:solidFill>
                            <a:schemeClr val="tx1"/>
                          </a:solidFill>
                          <a:effectLst/>
                          <a:latin typeface="Times New Roman" charset="0"/>
                          <a:cs typeface="Times New Roman" charset="0"/>
                        </a:rPr>
                        <a:t>α</a:t>
                      </a:r>
                      <a:r>
                        <a:rPr kumimoji="0" lang="en-US" sz="1400" b="0" i="0" u="none" strike="noStrike" cap="none" normalizeH="0" baseline="0" dirty="0">
                          <a:ln>
                            <a:noFill/>
                          </a:ln>
                          <a:solidFill>
                            <a:schemeClr val="tx1"/>
                          </a:solidFill>
                          <a:effectLst/>
                          <a:latin typeface="Times New Roman" charset="0"/>
                          <a:cs typeface="Arial" charset="0"/>
                        </a:rPr>
                        <a:t>-</a:t>
                      </a:r>
                      <a:r>
                        <a:rPr kumimoji="0" lang="en-US" sz="1400" b="0" i="0" u="none" strike="noStrike" cap="none" normalizeH="0" baseline="0" dirty="0" err="1">
                          <a:ln>
                            <a:noFill/>
                          </a:ln>
                          <a:solidFill>
                            <a:schemeClr val="tx1"/>
                          </a:solidFill>
                          <a:effectLst/>
                          <a:latin typeface="Times New Roman" charset="0"/>
                          <a:cs typeface="Arial" charset="0"/>
                        </a:rPr>
                        <a:t>Lipoproteinemia</a:t>
                      </a:r>
                      <a:r>
                        <a:rPr kumimoji="0" lang="en-US" sz="1400" b="0" i="0" u="none" strike="noStrike" cap="none" normalizeH="0" baseline="0" dirty="0">
                          <a:ln>
                            <a:noFill/>
                          </a:ln>
                          <a:solidFill>
                            <a:schemeClr val="tx1"/>
                          </a:solidFill>
                          <a:effectLst/>
                          <a:latin typeface="Times New Roman" charset="0"/>
                          <a:cs typeface="Arial" charset="0"/>
                        </a:rPr>
                        <a:t> (Tangeiers Disease)</a:t>
                      </a:r>
                      <a:endParaRPr kumimoji="0" lang="el-GR" sz="1400" b="0" i="0" u="none" strike="noStrike" cap="none" normalizeH="0" baseline="0" dirty="0">
                        <a:ln>
                          <a:noFill/>
                        </a:ln>
                        <a:solidFill>
                          <a:schemeClr val="tx1"/>
                        </a:solidFill>
                        <a:effectLst/>
                        <a:latin typeface="Times New Roman" charset="0"/>
                        <a:cs typeface="Arial" charset="0"/>
                      </a:endParaRPr>
                    </a:p>
                  </a:txBody>
                  <a:tcPr horzOverflow="overflow">
                    <a:lnL cap="flat">
                      <a:noFill/>
                    </a:lnL>
                    <a:lnR>
                      <a:noFill/>
                    </a:lnR>
                    <a:lnT w="12700" cap="flat" cmpd="sng" algn="ctr">
                      <a:solidFill>
                        <a:schemeClr val="bg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Hypercholesterolemia normal to high serum TG, reduced serum HDL; appearance of normal HDL having an apo AI/AII ratio of 1:12 instead of 1:3 in normal case; Plasma Ch and PL greatly reduced</a:t>
                      </a:r>
                    </a:p>
                  </a:txBody>
                  <a:tcPr horzOverflow="overflow">
                    <a:lnL>
                      <a:noFill/>
                    </a:lnL>
                    <a:lnR>
                      <a:noFill/>
                    </a:lnR>
                    <a:lnT w="12700" cap="flat" cmpd="sng" algn="ctr">
                      <a:solidFill>
                        <a:schemeClr val="bg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Increased metabolism of HDL Apo AI Normal rates of synthesis for both apo AI and AII.</a:t>
                      </a:r>
                    </a:p>
                  </a:txBody>
                  <a:tcPr horzOverflow="overflow">
                    <a:lnL>
                      <a:noFill/>
                    </a:lnL>
                    <a:lnR>
                      <a:noFill/>
                    </a:lnR>
                    <a:lnT w="12700" cap="flat" cmpd="sng" algn="ctr">
                      <a:solidFill>
                        <a:schemeClr val="bg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Familial HDL Deficiency, </a:t>
                      </a:r>
                      <a:r>
                        <a:rPr kumimoji="0" lang="el-GR" sz="1400" b="0" i="0" u="none" strike="noStrike" cap="none" normalizeH="0" baseline="0" dirty="0">
                          <a:ln>
                            <a:noFill/>
                          </a:ln>
                          <a:solidFill>
                            <a:schemeClr val="tx1"/>
                          </a:solidFill>
                          <a:effectLst/>
                          <a:latin typeface="Times New Roman" charset="0"/>
                          <a:cs typeface="Times New Roman" charset="0"/>
                        </a:rPr>
                        <a:t>α</a:t>
                      </a:r>
                      <a:r>
                        <a:rPr kumimoji="0" lang="en-US" sz="1400" b="0" i="0" u="none" strike="noStrike" cap="none" normalizeH="0" baseline="0" dirty="0">
                          <a:ln>
                            <a:noFill/>
                          </a:ln>
                          <a:solidFill>
                            <a:schemeClr val="tx1"/>
                          </a:solidFill>
                          <a:effectLst/>
                          <a:latin typeface="Times New Roman" charset="0"/>
                          <a:cs typeface="Arial" charset="0"/>
                        </a:rPr>
                        <a:t>-lipoprotein deficiency.</a:t>
                      </a:r>
                    </a:p>
                  </a:txBody>
                  <a:tcPr horzOverflow="overflow">
                    <a:lnL>
                      <a:noFill/>
                    </a:lnL>
                    <a:lnR cap="flat">
                      <a:noFill/>
                    </a:lnR>
                    <a:lnT w="12700" cap="flat" cmpd="sng" algn="ctr">
                      <a:solidFill>
                        <a:schemeClr val="bg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1477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A-</a:t>
                      </a:r>
                      <a:r>
                        <a:rPr kumimoji="0" lang="el-GR" sz="1400" b="0" i="0" u="none" strike="noStrike" cap="none" normalizeH="0" baseline="0" dirty="0">
                          <a:ln>
                            <a:noFill/>
                          </a:ln>
                          <a:solidFill>
                            <a:schemeClr val="tx1"/>
                          </a:solidFill>
                          <a:effectLst/>
                          <a:latin typeface="Times New Roman" charset="0"/>
                          <a:cs typeface="Times New Roman" charset="0"/>
                        </a:rPr>
                        <a:t>β</a:t>
                      </a:r>
                      <a:r>
                        <a:rPr kumimoji="0" lang="en-US" sz="1400" b="0" i="0" u="none" strike="noStrike" cap="none" normalizeH="0" baseline="0" dirty="0">
                          <a:ln>
                            <a:noFill/>
                          </a:ln>
                          <a:solidFill>
                            <a:schemeClr val="tx1"/>
                          </a:solidFill>
                          <a:effectLst/>
                          <a:latin typeface="Times New Roman" charset="0"/>
                          <a:cs typeface="Times New Roman" charset="0"/>
                        </a:rPr>
                        <a:t>-</a:t>
                      </a:r>
                      <a:r>
                        <a:rPr kumimoji="0" lang="en-US" sz="1400" b="0" i="0" u="none" strike="noStrike" cap="none" normalizeH="0" baseline="0" dirty="0" err="1">
                          <a:ln>
                            <a:noFill/>
                          </a:ln>
                          <a:solidFill>
                            <a:schemeClr val="tx1"/>
                          </a:solidFill>
                          <a:effectLst/>
                          <a:latin typeface="Times New Roman" charset="0"/>
                          <a:cs typeface="Times New Roman" charset="0"/>
                        </a:rPr>
                        <a:t>Lipoproteinemi</a:t>
                      </a:r>
                      <a:r>
                        <a:rPr kumimoji="0" lang="en-US" sz="1400" b="0" i="0" u="none" strike="noStrike" cap="none" normalizeH="0" baseline="0" dirty="0" err="1">
                          <a:ln>
                            <a:noFill/>
                          </a:ln>
                          <a:solidFill>
                            <a:schemeClr val="bg1"/>
                          </a:solidFill>
                          <a:effectLst/>
                          <a:latin typeface="Times New Roman" charset="0"/>
                          <a:cs typeface="Times New Roman" charset="0"/>
                        </a:rPr>
                        <a:t>a</a:t>
                      </a:r>
                      <a:endParaRPr kumimoji="0" lang="el-GR" sz="1400" b="0" i="0" u="none" strike="noStrike" cap="none" normalizeH="0" baseline="0" dirty="0">
                        <a:ln>
                          <a:noFill/>
                        </a:ln>
                        <a:solidFill>
                          <a:schemeClr val="bg1"/>
                        </a:solidFill>
                        <a:effectLst/>
                        <a:latin typeface="Times New Roman" charset="0"/>
                        <a:cs typeface="Times New Roman"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Lipoproteins that contain apo B (LDL, VLDL, chylomicron) are low; erythrocytes appear thorny and distorted, and there is malabsorption of fat.</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Genetic defect where apo B synthesis is shut off.</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Acanthocytosia, Bassen-Kornzweig Syndrome</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109443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Hypo- </a:t>
                      </a:r>
                      <a:r>
                        <a:rPr kumimoji="0" lang="el-GR" sz="1400" b="0" i="0" u="none" strike="noStrike" cap="none" normalizeH="0" baseline="0" dirty="0">
                          <a:ln>
                            <a:noFill/>
                          </a:ln>
                          <a:solidFill>
                            <a:schemeClr val="tx1"/>
                          </a:solidFill>
                          <a:effectLst/>
                          <a:latin typeface="Times New Roman" charset="0"/>
                          <a:cs typeface="Times New Roman" charset="0"/>
                        </a:rPr>
                        <a:t>β</a:t>
                      </a:r>
                      <a:r>
                        <a:rPr kumimoji="0" lang="en-US" sz="1400" b="0" i="0" u="none" strike="noStrike" cap="none" normalizeH="0" baseline="0" dirty="0">
                          <a:ln>
                            <a:noFill/>
                          </a:ln>
                          <a:solidFill>
                            <a:schemeClr val="tx1"/>
                          </a:solidFill>
                          <a:effectLst/>
                          <a:latin typeface="Times New Roman" charset="0"/>
                          <a:cs typeface="Times New Roman" charset="0"/>
                        </a:rPr>
                        <a:t>-</a:t>
                      </a:r>
                      <a:r>
                        <a:rPr kumimoji="0" lang="en-US" sz="1400" b="0" i="0" u="none" strike="noStrike" cap="none" normalizeH="0" baseline="0" dirty="0" err="1">
                          <a:ln>
                            <a:noFill/>
                          </a:ln>
                          <a:solidFill>
                            <a:schemeClr val="tx1"/>
                          </a:solidFill>
                          <a:effectLst/>
                          <a:latin typeface="Times New Roman" charset="0"/>
                          <a:cs typeface="Times New Roman" charset="0"/>
                        </a:rPr>
                        <a:t>Lipoproteinemia</a:t>
                      </a:r>
                      <a:endParaRPr kumimoji="0" lang="en-US" sz="1400" b="0" i="0" u="none" strike="noStrike" cap="none" normalizeH="0" baseline="0" dirty="0">
                        <a:ln>
                          <a:noFill/>
                        </a:ln>
                        <a:solidFill>
                          <a:schemeClr val="tx1"/>
                        </a:solidFill>
                        <a:effectLst/>
                        <a:latin typeface="Times New Roman" charset="0"/>
                        <a:cs typeface="Times New Roman" charset="0"/>
                      </a:endParaRPr>
                    </a:p>
                  </a:txBody>
                  <a:tcPr horzOverflow="overflow">
                    <a:lnL cap="flat">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LDL levels are low but not absent, HDL are normal and VLDL are mildly lowered.</a:t>
                      </a:r>
                    </a:p>
                  </a:txBody>
                  <a:tcPr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charset="0"/>
                        </a:rPr>
                        <a:t>LDL Levels are 10-20% of normal</a:t>
                      </a:r>
                    </a:p>
                  </a:txBody>
                  <a:tcPr horzOverflow="overflow">
                    <a:lnL>
                      <a:noFill/>
                    </a:lnL>
                    <a:lnR>
                      <a:noFill/>
                    </a:lnR>
                    <a:lnT>
                      <a:noFill/>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charset="0"/>
                      </a:endParaRPr>
                    </a:p>
                  </a:txBody>
                  <a:tcPr horzOverflow="overflow">
                    <a:lnL>
                      <a:noFill/>
                    </a:lnL>
                    <a:lnR cap="flat">
                      <a:noFill/>
                    </a:lnR>
                    <a:lnT>
                      <a:noFill/>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9174" name="Text Box 141"/>
          <p:cNvSpPr txBox="1">
            <a:spLocks noChangeArrowheads="1"/>
          </p:cNvSpPr>
          <p:nvPr/>
        </p:nvSpPr>
        <p:spPr bwMode="auto">
          <a:xfrm>
            <a:off x="685800" y="5867400"/>
            <a:ext cx="6629400" cy="307777"/>
          </a:xfrm>
          <a:prstGeom prst="rect">
            <a:avLst/>
          </a:prstGeom>
          <a:noFill/>
          <a:ln w="9525">
            <a:noFill/>
            <a:miter lim="800000"/>
            <a:headEnd/>
            <a:tailEnd/>
          </a:ln>
        </p:spPr>
        <p:txBody>
          <a:bodyPr>
            <a:spAutoFit/>
          </a:bodyPr>
          <a:lstStyle/>
          <a:p>
            <a:pPr>
              <a:spcBef>
                <a:spcPct val="50000"/>
              </a:spcBef>
            </a:pPr>
            <a:r>
              <a:rPr lang="en-US" sz="1400" dirty="0"/>
              <a:t>Apo A (A-I) use an activator of LCAT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50"/>
          <p:cNvPicPr>
            <a:picLocks noChangeAspect="1" noChangeArrowheads="1"/>
          </p:cNvPicPr>
          <p:nvPr/>
        </p:nvPicPr>
        <p:blipFill>
          <a:blip r:embed="rId3" cstate="print"/>
          <a:srcRect/>
          <a:stretch>
            <a:fillRect/>
          </a:stretch>
        </p:blipFill>
        <p:spPr bwMode="auto">
          <a:xfrm>
            <a:off x="0" y="411163"/>
            <a:ext cx="9144000" cy="603567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51"/>
          <p:cNvPicPr>
            <a:picLocks noChangeAspect="1" noChangeArrowheads="1"/>
          </p:cNvPicPr>
          <p:nvPr/>
        </p:nvPicPr>
        <p:blipFill>
          <a:blip r:embed="rId3" cstate="print"/>
          <a:srcRect/>
          <a:stretch>
            <a:fillRect/>
          </a:stretch>
        </p:blipFill>
        <p:spPr bwMode="auto">
          <a:xfrm>
            <a:off x="0" y="433388"/>
            <a:ext cx="9144000" cy="5989637"/>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52"/>
          <p:cNvPicPr>
            <a:picLocks noChangeAspect="1" noChangeArrowheads="1"/>
          </p:cNvPicPr>
          <p:nvPr/>
        </p:nvPicPr>
        <p:blipFill>
          <a:blip r:embed="rId3" cstate="print"/>
          <a:srcRect/>
          <a:stretch>
            <a:fillRect/>
          </a:stretch>
        </p:blipFill>
        <p:spPr bwMode="auto">
          <a:xfrm>
            <a:off x="228600" y="0"/>
            <a:ext cx="8713787" cy="68580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1026" descr="56"/>
          <p:cNvPicPr>
            <a:picLocks noChangeAspect="1" noChangeArrowheads="1"/>
          </p:cNvPicPr>
          <p:nvPr/>
        </p:nvPicPr>
        <p:blipFill>
          <a:blip r:embed="rId3" cstate="print"/>
          <a:srcRect/>
          <a:stretch>
            <a:fillRect/>
          </a:stretch>
        </p:blipFill>
        <p:spPr bwMode="auto">
          <a:xfrm>
            <a:off x="428625" y="0"/>
            <a:ext cx="8285163"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Default Design">
  <a:themeElements>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liff">
  <a:themeElements>
    <a:clrScheme name="Cliff 5">
      <a:dk1>
        <a:srgbClr val="009999"/>
      </a:dk1>
      <a:lt1>
        <a:srgbClr val="EAEAEA"/>
      </a:lt1>
      <a:dk2>
        <a:srgbClr val="006666"/>
      </a:dk2>
      <a:lt2>
        <a:srgbClr val="FFFFCC"/>
      </a:lt2>
      <a:accent1>
        <a:srgbClr val="339966"/>
      </a:accent1>
      <a:accent2>
        <a:srgbClr val="5E855B"/>
      </a:accent2>
      <a:accent3>
        <a:srgbClr val="AAB8B8"/>
      </a:accent3>
      <a:accent4>
        <a:srgbClr val="C8C8C8"/>
      </a:accent4>
      <a:accent5>
        <a:srgbClr val="ADCAB8"/>
      </a:accent5>
      <a:accent6>
        <a:srgbClr val="547852"/>
      </a:accent6>
      <a:hlink>
        <a:srgbClr val="EEC85E"/>
      </a:hlink>
      <a:folHlink>
        <a:srgbClr val="AA8456"/>
      </a:folHlink>
    </a:clrScheme>
    <a:fontScheme name="Cliff">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8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80" charset="0"/>
          </a:defRPr>
        </a:defPPr>
      </a:lstStyle>
    </a:lnDef>
  </a:objectDefaults>
  <a:extraClrSchemeLst>
    <a:extraClrScheme>
      <a:clrScheme name="Cliff 1">
        <a:dk1>
          <a:srgbClr val="5B5B49"/>
        </a:dk1>
        <a:lt1>
          <a:srgbClr val="DDDDDD"/>
        </a:lt1>
        <a:dk2>
          <a:srgbClr val="2B2A00"/>
        </a:dk2>
        <a:lt2>
          <a:srgbClr val="E0DFBE"/>
        </a:lt2>
        <a:accent1>
          <a:srgbClr val="878543"/>
        </a:accent1>
        <a:accent2>
          <a:srgbClr val="716E00"/>
        </a:accent2>
        <a:accent3>
          <a:srgbClr val="ACACAA"/>
        </a:accent3>
        <a:accent4>
          <a:srgbClr val="BDBDBD"/>
        </a:accent4>
        <a:accent5>
          <a:srgbClr val="C3C2B0"/>
        </a:accent5>
        <a:accent6>
          <a:srgbClr val="666300"/>
        </a:accent6>
        <a:hlink>
          <a:srgbClr val="CC9900"/>
        </a:hlink>
        <a:folHlink>
          <a:srgbClr val="996600"/>
        </a:folHlink>
      </a:clrScheme>
      <a:clrMap bg1="dk2" tx1="lt1" bg2="dk1" tx2="lt2" accent1="accent1" accent2="accent2" accent3="accent3" accent4="accent4" accent5="accent5" accent6="accent6" hlink="hlink" folHlink="folHlink"/>
    </a:extraClrScheme>
    <a:extraClrScheme>
      <a:clrScheme name="Cliff 2">
        <a:dk1>
          <a:srgbClr val="746354"/>
        </a:dk1>
        <a:lt1>
          <a:srgbClr val="FFFFFF"/>
        </a:lt1>
        <a:dk2>
          <a:srgbClr val="523E26"/>
        </a:dk2>
        <a:lt2>
          <a:srgbClr val="E1DFAF"/>
        </a:lt2>
        <a:accent1>
          <a:srgbClr val="CC9900"/>
        </a:accent1>
        <a:accent2>
          <a:srgbClr val="669900"/>
        </a:accent2>
        <a:accent3>
          <a:srgbClr val="B3AFAC"/>
        </a:accent3>
        <a:accent4>
          <a:srgbClr val="DADADA"/>
        </a:accent4>
        <a:accent5>
          <a:srgbClr val="E2CAAA"/>
        </a:accent5>
        <a:accent6>
          <a:srgbClr val="5C8A00"/>
        </a:accent6>
        <a:hlink>
          <a:srgbClr val="CCCC00"/>
        </a:hlink>
        <a:folHlink>
          <a:srgbClr val="AC7934"/>
        </a:folHlink>
      </a:clrScheme>
      <a:clrMap bg1="dk2" tx1="lt1" bg2="dk1" tx2="lt2" accent1="accent1" accent2="accent2" accent3="accent3" accent4="accent4" accent5="accent5" accent6="accent6" hlink="hlink" folHlink="folHlink"/>
    </a:extraClrScheme>
    <a:extraClrScheme>
      <a:clrScheme name="Cliff 3">
        <a:dk1>
          <a:srgbClr val="667B5B"/>
        </a:dk1>
        <a:lt1>
          <a:srgbClr val="E6E6DA"/>
        </a:lt1>
        <a:dk2>
          <a:srgbClr val="295200"/>
        </a:dk2>
        <a:lt2>
          <a:srgbClr val="F3F2D9"/>
        </a:lt2>
        <a:accent1>
          <a:srgbClr val="808000"/>
        </a:accent1>
        <a:accent2>
          <a:srgbClr val="838D75"/>
        </a:accent2>
        <a:accent3>
          <a:srgbClr val="ACB3AA"/>
        </a:accent3>
        <a:accent4>
          <a:srgbClr val="C4C4BA"/>
        </a:accent4>
        <a:accent5>
          <a:srgbClr val="C0C0AA"/>
        </a:accent5>
        <a:accent6>
          <a:srgbClr val="767F69"/>
        </a:accent6>
        <a:hlink>
          <a:srgbClr val="33CC33"/>
        </a:hlink>
        <a:folHlink>
          <a:srgbClr val="339966"/>
        </a:folHlink>
      </a:clrScheme>
      <a:clrMap bg1="dk2" tx1="lt1" bg2="dk1" tx2="lt2" accent1="accent1" accent2="accent2" accent3="accent3" accent4="accent4" accent5="accent5" accent6="accent6" hlink="hlink" folHlink="folHlink"/>
    </a:extraClrScheme>
    <a:extraClrScheme>
      <a:clrScheme name="Cliff 4">
        <a:dk1>
          <a:srgbClr val="86615A"/>
        </a:dk1>
        <a:lt1>
          <a:srgbClr val="FFFFFF"/>
        </a:lt1>
        <a:dk2>
          <a:srgbClr val="633427"/>
        </a:dk2>
        <a:lt2>
          <a:srgbClr val="E9DDCD"/>
        </a:lt2>
        <a:accent1>
          <a:srgbClr val="A34545"/>
        </a:accent1>
        <a:accent2>
          <a:srgbClr val="C86400"/>
        </a:accent2>
        <a:accent3>
          <a:srgbClr val="B7AEAC"/>
        </a:accent3>
        <a:accent4>
          <a:srgbClr val="DADADA"/>
        </a:accent4>
        <a:accent5>
          <a:srgbClr val="CEB0B0"/>
        </a:accent5>
        <a:accent6>
          <a:srgbClr val="B55A00"/>
        </a:accent6>
        <a:hlink>
          <a:srgbClr val="ECAE00"/>
        </a:hlink>
        <a:folHlink>
          <a:srgbClr val="BAA88A"/>
        </a:folHlink>
      </a:clrScheme>
      <a:clrMap bg1="dk2" tx1="lt1" bg2="dk1" tx2="lt2" accent1="accent1" accent2="accent2" accent3="accent3" accent4="accent4" accent5="accent5" accent6="accent6" hlink="hlink" folHlink="folHlink"/>
    </a:extraClrScheme>
    <a:extraClrScheme>
      <a:clrScheme name="Cliff 5">
        <a:dk1>
          <a:srgbClr val="009999"/>
        </a:dk1>
        <a:lt1>
          <a:srgbClr val="EAEAEA"/>
        </a:lt1>
        <a:dk2>
          <a:srgbClr val="006666"/>
        </a:dk2>
        <a:lt2>
          <a:srgbClr val="FFFFCC"/>
        </a:lt2>
        <a:accent1>
          <a:srgbClr val="339966"/>
        </a:accent1>
        <a:accent2>
          <a:srgbClr val="5E855B"/>
        </a:accent2>
        <a:accent3>
          <a:srgbClr val="AAB8B8"/>
        </a:accent3>
        <a:accent4>
          <a:srgbClr val="C8C8C8"/>
        </a:accent4>
        <a:accent5>
          <a:srgbClr val="ADCAB8"/>
        </a:accent5>
        <a:accent6>
          <a:srgbClr val="547852"/>
        </a:accent6>
        <a:hlink>
          <a:srgbClr val="EEC85E"/>
        </a:hlink>
        <a:folHlink>
          <a:srgbClr val="AA8456"/>
        </a:folHlink>
      </a:clrScheme>
      <a:clrMap bg1="dk2" tx1="lt1" bg2="dk1" tx2="lt2" accent1="accent1" accent2="accent2" accent3="accent3" accent4="accent4" accent5="accent5" accent6="accent6" hlink="hlink" folHlink="folHlink"/>
    </a:extraClrScheme>
    <a:extraClrScheme>
      <a:clrScheme name="Cliff 6">
        <a:dk1>
          <a:srgbClr val="B8A47C"/>
        </a:dk1>
        <a:lt1>
          <a:srgbClr val="FFFFFF"/>
        </a:lt1>
        <a:dk2>
          <a:srgbClr val="A68A58"/>
        </a:dk2>
        <a:lt2>
          <a:srgbClr val="DAD79C"/>
        </a:lt2>
        <a:accent1>
          <a:srgbClr val="816B35"/>
        </a:accent1>
        <a:accent2>
          <a:srgbClr val="FFCC00"/>
        </a:accent2>
        <a:accent3>
          <a:srgbClr val="D0C4B4"/>
        </a:accent3>
        <a:accent4>
          <a:srgbClr val="DADADA"/>
        </a:accent4>
        <a:accent5>
          <a:srgbClr val="C1BAAE"/>
        </a:accent5>
        <a:accent6>
          <a:srgbClr val="E7B900"/>
        </a:accent6>
        <a:hlink>
          <a:srgbClr val="0066CC"/>
        </a:hlink>
        <a:folHlink>
          <a:srgbClr val="009900"/>
        </a:folHlink>
      </a:clrScheme>
      <a:clrMap bg1="dk2" tx1="lt1" bg2="dk1" tx2="lt2" accent1="accent1" accent2="accent2" accent3="accent3" accent4="accent4" accent5="accent5" accent6="accent6" hlink="hlink" folHlink="folHlink"/>
    </a:extraClrScheme>
    <a:extraClrScheme>
      <a:clrScheme name="Cliff 7">
        <a:dk1>
          <a:srgbClr val="336699"/>
        </a:dk1>
        <a:lt1>
          <a:srgbClr val="F8F8F8"/>
        </a:lt1>
        <a:dk2>
          <a:srgbClr val="003366"/>
        </a:dk2>
        <a:lt2>
          <a:srgbClr val="D1DDD4"/>
        </a:lt2>
        <a:accent1>
          <a:srgbClr val="3399FF"/>
        </a:accent1>
        <a:accent2>
          <a:srgbClr val="006699"/>
        </a:accent2>
        <a:accent3>
          <a:srgbClr val="AAADB8"/>
        </a:accent3>
        <a:accent4>
          <a:srgbClr val="D4D4D4"/>
        </a:accent4>
        <a:accent5>
          <a:srgbClr val="ADCAFF"/>
        </a:accent5>
        <a:accent6>
          <a:srgbClr val="005C8A"/>
        </a:accent6>
        <a:hlink>
          <a:srgbClr val="86C0CE"/>
        </a:hlink>
        <a:folHlink>
          <a:srgbClr val="0080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Default Design">
  <a:themeElements>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rgbClr val="FFFFFF"/>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34604</TotalTime>
  <Words>2065</Words>
  <Application>Microsoft Office PowerPoint</Application>
  <PresentationFormat>On-screen Show (4:3)</PresentationFormat>
  <Paragraphs>359</Paragraphs>
  <Slides>57</Slides>
  <Notes>31</Notes>
  <HiddenSlides>0</HiddenSlides>
  <MMClips>0</MMClips>
  <ScaleCrop>false</ScaleCrop>
  <HeadingPairs>
    <vt:vector size="8" baseType="variant">
      <vt:variant>
        <vt:lpstr>Fonts Used</vt:lpstr>
      </vt:variant>
      <vt:variant>
        <vt:i4>11</vt:i4>
      </vt:variant>
      <vt:variant>
        <vt:lpstr>Theme</vt:lpstr>
      </vt:variant>
      <vt:variant>
        <vt:i4>6</vt:i4>
      </vt:variant>
      <vt:variant>
        <vt:lpstr>Embedded OLE Servers</vt:lpstr>
      </vt:variant>
      <vt:variant>
        <vt:i4>1</vt:i4>
      </vt:variant>
      <vt:variant>
        <vt:lpstr>Slide Titles</vt:lpstr>
      </vt:variant>
      <vt:variant>
        <vt:i4>57</vt:i4>
      </vt:variant>
    </vt:vector>
  </HeadingPairs>
  <TitlesOfParts>
    <vt:vector size="75" baseType="lpstr">
      <vt:lpstr>MS PGothic</vt:lpstr>
      <vt:lpstr>Arial</vt:lpstr>
      <vt:lpstr>Calibri</vt:lpstr>
      <vt:lpstr>Calibri Light</vt:lpstr>
      <vt:lpstr>Lucida Grande</vt:lpstr>
      <vt:lpstr>Merriweather</vt:lpstr>
      <vt:lpstr>Open Sans</vt:lpstr>
      <vt:lpstr>Symbol</vt:lpstr>
      <vt:lpstr>Times New Roman</vt:lpstr>
      <vt:lpstr>Verdana</vt:lpstr>
      <vt:lpstr>Wingdings</vt:lpstr>
      <vt:lpstr>Default Design</vt:lpstr>
      <vt:lpstr>Cliff</vt:lpstr>
      <vt:lpstr>2_Office Theme</vt:lpstr>
      <vt:lpstr>3_Default Design</vt:lpstr>
      <vt:lpstr>5_Default Design</vt:lpstr>
      <vt:lpstr>1_Office Theme</vt:lpstr>
      <vt:lpstr>Microsoft Excel Chart</vt:lpstr>
      <vt:lpstr>Cardiovascular Pathology Atherosclerosis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Deaths From Cardiovascular Diseases, Percent by Subgroup, U.S.</vt:lpstr>
      <vt:lpstr>PowerPoint Presentation</vt:lpstr>
      <vt:lpstr>PowerPoint Presentation</vt:lpstr>
      <vt:lpstr>PowerPoint Presentation</vt:lpstr>
      <vt:lpstr>C- REACTIVE PROTEIN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Lipoprotein/Lipid Parameter Function</vt:lpstr>
      <vt:lpstr>PowerPoint Presentation</vt:lpstr>
      <vt:lpstr>PowerPoint Presentation</vt:lpstr>
      <vt:lpstr>Benefit Beyond LDL Lowering: The Metabolic Syndrome as a Secondary Target of Therapy</vt:lpstr>
      <vt:lpstr>PowerPoint Presentation</vt:lpstr>
      <vt:lpstr>PowerPoint Presentation</vt:lpstr>
      <vt:lpstr> Diagnostic Tests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Cardiovascular Pathology Atherosclerosis</dc:title>
  <dc:creator>Harris-Hooker, Sandra</dc:creator>
  <cp:lastModifiedBy>Harris-Hooker, Sandra</cp:lastModifiedBy>
  <cp:revision>22</cp:revision>
  <cp:lastPrinted>2023-11-03T22:18:08Z</cp:lastPrinted>
  <dcterms:created xsi:type="dcterms:W3CDTF">2020-11-02T05:16:22Z</dcterms:created>
  <dcterms:modified xsi:type="dcterms:W3CDTF">2024-11-05T00:38:20Z</dcterms:modified>
</cp:coreProperties>
</file>